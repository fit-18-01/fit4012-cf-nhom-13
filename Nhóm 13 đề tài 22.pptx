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5" d="100"/>
          <a:sy n="85"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72918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Kính chào cô và các bạn. Nhóm em xin trình bày đề tài 22: Ứng dụng Triple DES và AES để bảo vệ thông tin nhạy cảm trong cơ sở dữ liệu.
Trong đề tài này, nhóm em xây dựng một hệ thống lưu trữ thông tin người dùng. Các trường quan trọng như CCCD/CMND, số bảo hiểm xã hội, số tài khoản ngân hàng và địa chỉ sẽ được mã hóa trước khi lưu vào cơ sở dữ liệu.
Mục tiêu chính là nếu database bị lộ, người tấn công vẫn không đọc được dữ liệu thật nếu không có khóa giải mã.</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Trong thực tế, các hệ thống như ngân hàng, trường học, bệnh viện hoặc thương mại điện tử đều lưu nhiều dữ liệu cá nhân.
Nếu các thông tin như CCCD, số tài khoản hoặc địa chỉ bị lộ, người dùng có thể bị đánh cắp danh tính hoặc gặp rủi ro tài chính.
Vì vậy, hướng giải quyết của nhóm là mã hóa dữ liệu nhạy cảm trước khi lưu vào cơ sở dữ liệu.</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Nếu lưu dữ liệu ở dạng rõ, khi database bị truy cập trái phép thì dữ liệu sẽ bị đọc ngay. Không chỉ hacker, mà cả người nội bộ có quyền database cũng có thể xem thông tin nhạy cảm.
Mục tiêu của hệ thống là giải quyết vấn đề này bằng cách mã hóa dữ liệu trước khi lưu, chỉ giải mã khi người dùng hợp lệ hoặc admin được xác minh. Bên cạnh đó, mọi hành động truy cập hoặc thay đổi dữ liệu nhạy cảm đều được ghi log.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Trong hệ thống, họ tên có thể lưu ở dạng rõ để thuận tiện quản lý.
Nhưng CCCD/CMND, số bảo hiểm xã hội, số tài khoản ngân hàng và địa chỉ là dữ liệu nhạy cảm nên cần mã hóa.
Theo yêu cầu đề tài, CCCD/CMND dùng Triple DES; số BHXH, số tài khoản và địa chỉ dùng AES-256.</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Mã hóa là quá trình biến đổi dữ liệu gốc thành dữ liệu không thể đọc được nếu không có khóa.
Dữ liệu gốc gọi là plaintext. Dữ liệu sau mã hóa gọi là ciphertext. Khóa mã hóa là thông tin bí mật dùng để mã hóa và giải mã.
Ví dụ số CCCD ban đầu là 012345678901. Sau mã hóa, database chỉ thấy một chuỗi khó hiểu. Khi cần hiển thị, hệ thống dùng khóa đúng để giải mã.</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AES và Triple DES đều là mã hóa khóa đối xứng. Nghĩa là cùng một khóa được dùng cho cả mã hóa và giải mã.
Ưu điểm là tốc độ nhanh, rất phù hợp để mã hóa dữ liệu trong database. Nhược điểm là khóa phải được bảo vệ cẩn thận. Nếu khóa bị lộ, dữ liệu mã hóa có thể bị giải mã.</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AES là viết tắt của Advanced Encryption Standard. Đây là thuật toán mã hóa khóa đối xứng rất phổ biến trong hệ thống hiện đại.
Theo NIST FIPS 197, AES hỗ trợ khóa 128, 192 và 256 bit, với kích thước khối 128 bit. Trong đề tài này nhóm dùng AES-256 để tăng độ an toàn.
AES-256 được dùng cho số bảo hiểm xã hội, số tài khoản và địa chỉ vì những dữ liệu này cần độ an toàn cao và có thể được truy xuất thường xuyên.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Triple DES là thuật toán được phát triển dựa trên DES. Thay vì thực hiện DES một lần, Triple DES thực hiện ba lần để tăng độ an toàn.
Tuy nhiên, hiện nay Triple DES không còn là lựa chọn tối ưu cho hệ thống mới. NIST đã rút tài liệu SP 800-67 Rev.2 về Triple DES/TDEA từ ngày 01/01/2024.
Trong bài này, nhóm dùng Triple DES cho CCCD/CMND theo yêu cầu đề tài và để mô phỏng tình huống cần tương thích với hệ thống cũ.</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 AES-256 và Triple DES đều là mã hóa khóa đối xứng. Tuy nhiên AES hiện đại hơn, nhanh hơn và phù hợp với hệ thống mới.
Triple DES có ưu điểm là từng được dùng trong hệ thống cũ nên còn giá trị khi cần tương thích, nhưng trong thực tế hiện nay nên ưu tiên AES.
Vì vậy, trong bài tập lớn, nhóm dùng AES-256 cho các dữ liệu cần hiệu năng và độ an toàn cao; còn Triple DES dùng cho CCCD/CMND theo yêu cầu đề tài.</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Việc chọn thuật toán không phải ngẫu nhiên. CCCD/CMND được mã hóa bằng Triple DES theo yêu cầu đề tài và để minh họa khả năng tương thích với hệ thống cũ.
Còn số bảo hiểm xã hội, số tài khoản ngân hàng và địa chỉ được mã hóa bằng AES-256 vì AES có hiệu năng tốt, độ an toàn cao và phù hợp với hệ thống hiện đại.</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Hệ thống gồm bốn thành phần: người dùng, giao diện, server xử lý và database.
Người dùng thao tác trên giao diện. Server xử lý xác thực, mã hóa trước khi lưu và giải mã khi cần hiển thị. Database chỉ lưu bản mã và log, không lưu dữ liệu nhạy cảm ở dạng rõ.
Phần quan trọng nhất là server vì server kiểm soát cả khóa mã hóa và quyền truy cập dữ liệu.</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Cơ sở dữ liệu có hai bảng chính.
Bảng users lưu thông tin người dùng. Mật khẩu lưu dạng hash. Các trường nhạy cảm như CCCD, BHXH, số tài khoản và địa chỉ đều được lưu ở dạng mã hóa.
Bảng logs ghi lại các hành động quan trọng như xem dữ liệu nhạy cảm, sửa thông tin hoặc xóa thông tin. Điều này giúp hệ thống truy vết khi có sự cố.</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Khi người dùng đăng ký, hệ thống nhận thông tin từ form. Sau đó server xử lý bảo mật trước khi lưu.
Mật khẩu được băm, không mã hóa hai chiều. CCCD/CMND được mã hóa bằng Triple DES. Số bảo hiểm xã hội, số tài khoản ngân hàng và địa chỉ được mã hóa bằng AES-256.
Sau bước này, database chỉ lưu dữ liệu đã mã hóa, không lưu dữ liệu nhạy cảm gốc.</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này minh họa rõ nhất giá trị của mã hóa.
Người dùng nhập dữ liệu thật như CCCD, số bảo hiểm và số tài khoản. Nhưng khi lưu vào database, các giá trị nhạy cảm đã trở thành bản mã.
Nếu hacker chỉ lấy được database, họ sẽ không đọc được các thông tin này nếu không có khóa giải mã.</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Khi người dùng đăng nhập, hệ thống không giải mã dữ liệu ngay cho mọi trường hợp. Đầu tiên hệ thống phải kiểm tra username và password.
Nếu hợp lệ, server lấy dữ liệu mã hóa từ database, dùng khóa tương ứng để giải mã và chỉ hiển thị cho đúng người dùng đang đăng nhập.
Người dùng không được xem thông tin của người khác.</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Khi người dùng sửa thông tin, dữ liệu mới cũng phải được mã hóa lại trước khi cập nhật vào database. Ví dụ đổi số tài khoản thì số tài khoản mới sẽ được mã hóa bằng AES-256 rồi mới lưu.
Khi xóa thông tin, hệ thống kiểm tra quyền trước rồi mới xóa hoặc đánh dấu đã xóa. Cả hành động sửa và xóa đều phải ghi log.</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Khóa mã hóa là phần cực kỳ quan trọng. Nếu dữ liệu đã mã hóa nhưng khóa bị lộ thì dữ liệu vẫn có thể bị giải mã.
Trong bài tập lớn, nhóm có thể dùng khóa tĩnh để dễ demo. Tuy nhiên khi trình bày cần nói rõ rằng trong hệ thống thực tế, khóa không nên viết trực tiếp trong code và không nên lưu chung với database.
Khóa nên được lưu ở biến môi trường, file cấu hình được bảo vệ hoặc hệ thống quản lý khóa.</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Admin có giao diện riêng để quản lý người dùng. Tuy nhiên, admin không được xem dữ liệu nhạy cảm mặc định.
Khi mở danh sách người dùng, hệ thống chỉ hiển thị thông tin cơ bản hoặc dữ liệu đã che như 012******901.
Khi admin muốn xem chi tiết, hệ thống phải yêu cầu nhập lại mật khẩu admin để xác minh.</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Cơ chế xác minh admin tạo thêm một lớp bảo vệ. Trong thực tế, admin có thể đăng nhập rồi rời khỏi máy tính, hoặc tài khoản admin bị người khác dùng tạm thời.
Nếu hệ thống cho xem dữ liệu nhạy cảm ngay thì rất nguy hiểm. Vì vậy, khi admin bấm xem chi tiết, hệ thống yêu cầu nhập lại mật khẩu. Nếu đúng mới giải mã, nếu sai thì từ chối.</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Ghi log là một phần quan trọng của bảo mật. Nếu chỉ mã hóa dữ liệu mà không ghi log, khi xảy ra sự cố sẽ khó biết ai đã truy cập hoặc thay đổi dữ liệu.
Log cần lưu thông tin ai thực hiện, thời gian, hành động, đối tượng bị tác động và trường dữ liệu liên quan.
OWASP cũng khuyến nghị ghi nhận các sự kiện liên quan đến truy cập dữ liệu nhạy cảm và hoạt động mã hóa như sử dụng hoặc thay đổi khóa.</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Khi demo, nhóm nên làm theo kịch bản này. Đầu tiên đăng ký tài khoản và nhập dữ liệu cá nhân. Sau đó mở database cho cô thấy các trường nhạy cảm đều đã được mã hóa.
Tiếp theo đăng nhập người dùng để xem thông tin đã giải mã. Cuối cùng vào trang admin, xác minh lại mật khẩu khi xem chi tiết và kiểm tra bảng log.
Điểm quan trọng nhất là chứng minh dữ liệu không lưu thô trong database.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Hệ thống có ưu điểm là dữ liệu nhạy cảm không lưu dạng rõ, giảm rủi ro khi database bị lộ. Ngoài ra, có phân quyền người dùng và admin, đồng thời có ghi log để truy vết.
Tuy nhiên, hệ thống vẫn có hạn chế. Quan trọng nhất là phải bảo vệ khóa mã hóa. Nếu khóa bị lộ, dữ liệu có thể bị giải mã. Ngoài ra, Triple DES là thuật toán cũ nên trong thực tế nên ưu tiên AES cho hệ thống mới.</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 bài tập lớn này, nhóm em đã hiểu rõ hơn vai trò của mã hóa trong bảo vệ dữ liệu.
Thay vì lưu trực tiếp dữ liệu nhạy cảm vào database, hệ thống mã hóa trước khi lưu. AES-256 được dùng cho dữ liệu cần hiệu năng và độ an toàn cao, còn Triple DES dùng theo yêu cầu đề tài và minh họa trường hợp tương thích hệ thống cũ.
Bên cạnh mã hóa, hệ thống còn có xác minh admin và ghi log để kiểm soát truy cập. Phần trình bày của nhóm em đến đây là kết thúc. Nhóm em xin cảm ơn cô và các bạn đã lắng nghe.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này là phần tài liệu tham khảo. Khi cô hỏi nguồn, nhóm có thể nói: phần AES dựa theo NIST FIPS 197; phần Triple DES dựa theo thông báo của NIST về việc rút SP 800-67 Rev.2; phần ghi log tham khảo OWASP Logging Cheat Sheet.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626"/>
        </a:solidFill>
        <a:effectLst/>
      </p:bgPr>
    </p:bg>
    <p:spTree>
      <p:nvGrpSpPr>
        <p:cNvPr id="1" name=""/>
        <p:cNvGrpSpPr/>
        <p:nvPr/>
      </p:nvGrpSpPr>
      <p:grpSpPr>
        <a:xfrm>
          <a:off x="0" y="0"/>
          <a:ext cx="0" cy="0"/>
          <a:chOff x="0" y="0"/>
          <a:chExt cx="0" cy="0"/>
        </a:xfrm>
      </p:grpSpPr>
      <p:pic>
        <p:nvPicPr>
          <p:cNvPr id="2" name="Image 0" descr="/mnt/data/a_wide_dark_blue_tech_themed_digital_background_s_batch_1.png"/>
          <p:cNvPicPr>
            <a:picLocks noChangeAspect="1"/>
          </p:cNvPicPr>
          <p:nvPr/>
        </p:nvPicPr>
        <p:blipFill>
          <a:blip r:embed="rId3"/>
          <a:srcRect t="25" b="25"/>
          <a:stretch/>
        </p:blipFill>
        <p:spPr>
          <a:xfrm>
            <a:off x="0" y="0"/>
            <a:ext cx="12191695" cy="6858000"/>
          </a:xfrm>
          <a:prstGeom prst="rect">
            <a:avLst/>
          </a:prstGeom>
        </p:spPr>
      </p:pic>
      <p:sp>
        <p:nvSpPr>
          <p:cNvPr id="3" name="Shape 0"/>
          <p:cNvSpPr/>
          <p:nvPr/>
        </p:nvSpPr>
        <p:spPr>
          <a:xfrm>
            <a:off x="0" y="0"/>
            <a:ext cx="6400800" cy="6858000"/>
          </a:xfrm>
          <a:prstGeom prst="rect">
            <a:avLst/>
          </a:prstGeom>
          <a:solidFill>
            <a:srgbClr val="03111F">
              <a:alpha val="88000"/>
            </a:srgbClr>
          </a:solidFill>
          <a:ln w="12700">
            <a:solidFill>
              <a:srgbClr val="333333">
                <a:alpha val="0"/>
              </a:srgbClr>
            </a:solidFill>
            <a:prstDash val="solid"/>
          </a:ln>
        </p:spPr>
      </p:sp>
      <p:sp>
        <p:nvSpPr>
          <p:cNvPr id="4" name="Text 1"/>
          <p:cNvSpPr/>
          <p:nvPr/>
        </p:nvSpPr>
        <p:spPr>
          <a:xfrm>
            <a:off x="640080" y="502920"/>
            <a:ext cx="4160520" cy="329184"/>
          </a:xfrm>
          <a:prstGeom prst="rect">
            <a:avLst/>
          </a:prstGeom>
          <a:solidFill>
            <a:srgbClr val="2EE6E6"/>
          </a:solidFill>
          <a:ln>
            <a:solidFill>
              <a:srgbClr val="2EE6E6">
                <a:alpha val="0"/>
              </a:srgbClr>
            </a:solidFill>
          </a:ln>
        </p:spPr>
        <p:txBody>
          <a:bodyPr wrap="square" lIns="381" tIns="381" rIns="381" bIns="381" rtlCol="0" anchor="ctr">
            <a:normAutofit/>
          </a:bodyPr>
          <a:lstStyle/>
          <a:p>
            <a:pPr marL="0" indent="0" algn="ctr">
              <a:buNone/>
            </a:pPr>
            <a:r>
              <a:rPr lang="en-US" sz="1050" b="1" dirty="0">
                <a:solidFill>
                  <a:srgbClr val="071626"/>
                </a:solidFill>
              </a:rPr>
              <a:t>BÀI TẬP LỚN · NHẬP MÔN AN TOÀN BẢO MẬT THÔNG TIN</a:t>
            </a:r>
            <a:endParaRPr lang="en-US" sz="1050" dirty="0"/>
          </a:p>
        </p:txBody>
      </p:sp>
      <p:sp>
        <p:nvSpPr>
          <p:cNvPr id="5" name="Text 2"/>
          <p:cNvSpPr/>
          <p:nvPr/>
        </p:nvSpPr>
        <p:spPr>
          <a:xfrm>
            <a:off x="658368" y="1234440"/>
            <a:ext cx="5532120" cy="658368"/>
          </a:xfrm>
          <a:prstGeom prst="rect">
            <a:avLst/>
          </a:prstGeom>
          <a:noFill/>
          <a:ln/>
        </p:spPr>
        <p:txBody>
          <a:bodyPr wrap="square" lIns="254" tIns="254" rIns="254" bIns="254" rtlCol="0" anchor="ctr">
            <a:normAutofit/>
          </a:bodyPr>
          <a:lstStyle/>
          <a:p>
            <a:pPr marL="0" indent="0">
              <a:buNone/>
            </a:pPr>
            <a:r>
              <a:rPr lang="en-US" sz="3200" b="1" dirty="0">
                <a:solidFill>
                  <a:srgbClr val="F6FAFF"/>
                </a:solidFill>
                <a:latin typeface="Aptos Display" pitchFamily="34" charset="0"/>
                <a:ea typeface="Aptos Display" pitchFamily="34" charset="-122"/>
                <a:cs typeface="Aptos Display" pitchFamily="34" charset="-120"/>
              </a:rPr>
              <a:t>Ứng dụng Triple DES và AES</a:t>
            </a:r>
            <a:endParaRPr lang="en-US" sz="3200" dirty="0"/>
          </a:p>
        </p:txBody>
      </p:sp>
      <p:sp>
        <p:nvSpPr>
          <p:cNvPr id="6" name="Text 3"/>
          <p:cNvSpPr/>
          <p:nvPr/>
        </p:nvSpPr>
        <p:spPr>
          <a:xfrm>
            <a:off x="658368" y="1965960"/>
            <a:ext cx="5349240" cy="749808"/>
          </a:xfrm>
          <a:prstGeom prst="rect">
            <a:avLst/>
          </a:prstGeom>
          <a:noFill/>
          <a:ln/>
        </p:spPr>
        <p:txBody>
          <a:bodyPr wrap="square" lIns="254" tIns="254" rIns="254" bIns="254" rtlCol="0" anchor="ctr">
            <a:normAutofit/>
          </a:bodyPr>
          <a:lstStyle/>
          <a:p>
            <a:pPr marL="0" indent="0">
              <a:buNone/>
            </a:pPr>
            <a:r>
              <a:rPr lang="en-US" sz="2300" b="1" dirty="0">
                <a:solidFill>
                  <a:srgbClr val="5CC8FF"/>
                </a:solidFill>
              </a:rPr>
              <a:t>để bảo vệ thông tin nhạy cảm trong cơ sở dữ liệu</a:t>
            </a:r>
            <a:endParaRPr lang="en-US" sz="2300" dirty="0"/>
          </a:p>
        </p:txBody>
      </p:sp>
      <p:sp>
        <p:nvSpPr>
          <p:cNvPr id="7" name="Text 4"/>
          <p:cNvSpPr/>
          <p:nvPr/>
        </p:nvSpPr>
        <p:spPr>
          <a:xfrm>
            <a:off x="685800" y="2907791"/>
            <a:ext cx="4297680" cy="1234441"/>
          </a:xfrm>
          <a:prstGeom prst="rect">
            <a:avLst/>
          </a:prstGeom>
          <a:noFill/>
          <a:ln/>
        </p:spPr>
        <p:txBody>
          <a:bodyPr wrap="square" lIns="254" tIns="254" rIns="254" bIns="254" rtlCol="0" anchor="ctr"/>
          <a:lstStyle/>
          <a:p>
            <a:pPr marL="0" indent="0">
              <a:buNone/>
            </a:pPr>
            <a:r>
              <a:rPr lang="en-US" dirty="0" err="1">
                <a:solidFill>
                  <a:srgbClr val="B8C7D9"/>
                </a:solidFill>
              </a:rPr>
              <a:t>Đề</a:t>
            </a:r>
            <a:r>
              <a:rPr lang="en-US" dirty="0">
                <a:solidFill>
                  <a:srgbClr val="B8C7D9"/>
                </a:solidFill>
              </a:rPr>
              <a:t> </a:t>
            </a:r>
            <a:r>
              <a:rPr lang="en-US" dirty="0" err="1">
                <a:solidFill>
                  <a:srgbClr val="B8C7D9"/>
                </a:solidFill>
              </a:rPr>
              <a:t>tài</a:t>
            </a:r>
            <a:r>
              <a:rPr lang="en-US" dirty="0">
                <a:solidFill>
                  <a:srgbClr val="B8C7D9"/>
                </a:solidFill>
              </a:rPr>
              <a:t> 22 · </a:t>
            </a:r>
            <a:r>
              <a:rPr lang="en-US" dirty="0" err="1">
                <a:solidFill>
                  <a:srgbClr val="B8C7D9"/>
                </a:solidFill>
              </a:rPr>
              <a:t>Nhóm</a:t>
            </a:r>
            <a:r>
              <a:rPr lang="en-US" dirty="0">
                <a:solidFill>
                  <a:srgbClr val="B8C7D9"/>
                </a:solidFill>
              </a:rPr>
              <a:t> 4 </a:t>
            </a:r>
            <a:r>
              <a:rPr lang="en-US" dirty="0" err="1">
                <a:solidFill>
                  <a:srgbClr val="B8C7D9"/>
                </a:solidFill>
              </a:rPr>
              <a:t>thành</a:t>
            </a:r>
            <a:r>
              <a:rPr lang="en-US" dirty="0">
                <a:solidFill>
                  <a:srgbClr val="B8C7D9"/>
                </a:solidFill>
              </a:rPr>
              <a:t> </a:t>
            </a:r>
            <a:r>
              <a:rPr lang="en-US" dirty="0" err="1">
                <a:solidFill>
                  <a:srgbClr val="B8C7D9"/>
                </a:solidFill>
              </a:rPr>
              <a:t>viên</a:t>
            </a:r>
            <a:br>
              <a:rPr lang="en-US" dirty="0">
                <a:solidFill>
                  <a:srgbClr val="B8C7D9"/>
                </a:solidFill>
              </a:rPr>
            </a:br>
            <a:r>
              <a:rPr lang="en-US" dirty="0">
                <a:solidFill>
                  <a:srgbClr val="B8C7D9"/>
                </a:solidFill>
              </a:rPr>
              <a:t>Nguyễn Minh Đức</a:t>
            </a:r>
            <a:br>
              <a:rPr lang="en-US" dirty="0">
                <a:solidFill>
                  <a:srgbClr val="B8C7D9"/>
                </a:solidFill>
              </a:rPr>
            </a:br>
            <a:r>
              <a:rPr lang="en-US" dirty="0">
                <a:solidFill>
                  <a:srgbClr val="B8C7D9"/>
                </a:solidFill>
              </a:rPr>
              <a:t>Nguyễn Anh Đức</a:t>
            </a:r>
          </a:p>
          <a:p>
            <a:pPr marL="0" indent="0">
              <a:buNone/>
            </a:pPr>
            <a:r>
              <a:rPr lang="en-US" dirty="0" err="1">
                <a:solidFill>
                  <a:srgbClr val="B8C7D9"/>
                </a:solidFill>
              </a:rPr>
              <a:t>Dư</a:t>
            </a:r>
            <a:r>
              <a:rPr lang="en-US" dirty="0">
                <a:solidFill>
                  <a:srgbClr val="B8C7D9"/>
                </a:solidFill>
              </a:rPr>
              <a:t> Quốc Việt</a:t>
            </a:r>
          </a:p>
          <a:p>
            <a:pPr marL="0" indent="0">
              <a:buNone/>
            </a:pPr>
            <a:r>
              <a:rPr lang="en-US" dirty="0">
                <a:solidFill>
                  <a:srgbClr val="B8C7D9"/>
                </a:solidFill>
              </a:rPr>
              <a:t>Lưu Phương Thảo</a:t>
            </a:r>
            <a:endParaRPr lang="en-US" dirty="0"/>
          </a:p>
        </p:txBody>
      </p:sp>
      <p:sp>
        <p:nvSpPr>
          <p:cNvPr id="8" name="Text 5"/>
          <p:cNvSpPr/>
          <p:nvPr/>
        </p:nvSpPr>
        <p:spPr>
          <a:xfrm>
            <a:off x="685800" y="4297680"/>
            <a:ext cx="5212080" cy="685800"/>
          </a:xfrm>
          <a:prstGeom prst="rect">
            <a:avLst/>
          </a:prstGeom>
          <a:noFill/>
          <a:ln/>
        </p:spPr>
        <p:txBody>
          <a:bodyPr wrap="square" lIns="254" tIns="254" rIns="254" bIns="254" rtlCol="0" anchor="ctr">
            <a:normAutofit/>
          </a:bodyPr>
          <a:lstStyle/>
          <a:p>
            <a:pPr marL="0" indent="0">
              <a:buNone/>
            </a:pPr>
            <a:r>
              <a:rPr lang="en-US" sz="1700" b="1" dirty="0">
                <a:solidFill>
                  <a:srgbClr val="F6FAFF"/>
                </a:solidFill>
              </a:rPr>
              <a:t>Mục tiêu: dữ liệu nhạy cảm không được lưu thô trong database, chỉ giải mã khi có quyền hợp lệ.</a:t>
            </a:r>
            <a:endParaRPr lang="en-US" sz="1700" dirty="0"/>
          </a:p>
        </p:txBody>
      </p:sp>
      <p:sp>
        <p:nvSpPr>
          <p:cNvPr id="9" name="Text 6"/>
          <p:cNvSpPr/>
          <p:nvPr/>
        </p:nvSpPr>
        <p:spPr>
          <a:xfrm>
            <a:off x="685800" y="5989320"/>
            <a:ext cx="4754880" cy="274320"/>
          </a:xfrm>
          <a:prstGeom prst="rect">
            <a:avLst/>
          </a:prstGeom>
          <a:noFill/>
          <a:ln/>
        </p:spPr>
        <p:txBody>
          <a:bodyPr wrap="square" lIns="254" tIns="254" rIns="254" bIns="254" rtlCol="0" anchor="ctr"/>
          <a:lstStyle/>
          <a:p>
            <a:pPr marL="0" indent="0">
              <a:buNone/>
            </a:pPr>
            <a:r>
              <a:rPr lang="en-US" sz="1150" dirty="0">
                <a:solidFill>
                  <a:srgbClr val="B8C7D9"/>
                </a:solidFill>
              </a:rPr>
              <a:t>Tên </a:t>
            </a:r>
            <a:r>
              <a:rPr lang="en-US" sz="1150" dirty="0" err="1">
                <a:solidFill>
                  <a:srgbClr val="B8C7D9"/>
                </a:solidFill>
              </a:rPr>
              <a:t>nhóm</a:t>
            </a:r>
            <a:r>
              <a:rPr lang="en-US" sz="1150" dirty="0">
                <a:solidFill>
                  <a:srgbClr val="B8C7D9"/>
                </a:solidFill>
              </a:rPr>
              <a:t>: 13  ·  Giảng </a:t>
            </a:r>
            <a:r>
              <a:rPr lang="en-US" sz="1150" dirty="0" err="1">
                <a:solidFill>
                  <a:srgbClr val="B8C7D9"/>
                </a:solidFill>
              </a:rPr>
              <a:t>viên</a:t>
            </a:r>
            <a:r>
              <a:rPr lang="en-US" sz="1150" dirty="0">
                <a:solidFill>
                  <a:srgbClr val="B8C7D9"/>
                </a:solidFill>
              </a:rPr>
              <a:t>: Lê Thị Thùy Trang</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071626"/>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2EE6E6">
              <a:alpha val="90000"/>
            </a:srgbClr>
          </a:solidFill>
          <a:ln w="12700">
            <a:solidFill>
              <a:srgbClr val="2EE6E6">
                <a:alpha val="0"/>
              </a:srgbClr>
            </a:solidFill>
            <a:prstDash val="solid"/>
          </a:ln>
        </p:spPr>
      </p:sp>
      <p:sp>
        <p:nvSpPr>
          <p:cNvPr id="3" name="Shape 1"/>
          <p:cNvSpPr/>
          <p:nvPr/>
        </p:nvSpPr>
        <p:spPr>
          <a:xfrm>
            <a:off x="0" y="6748272"/>
            <a:ext cx="12191695" cy="109728"/>
          </a:xfrm>
          <a:prstGeom prst="rect">
            <a:avLst/>
          </a:prstGeom>
          <a:solidFill>
            <a:srgbClr val="2EE6E6">
              <a:alpha val="70000"/>
            </a:srgbClr>
          </a:solidFill>
          <a:ln w="12700">
            <a:solidFill>
              <a:srgbClr val="2EE6E6">
                <a:alpha val="0"/>
              </a:srgbClr>
            </a:solidFill>
            <a:prstDash val="solid"/>
          </a:ln>
        </p:spPr>
      </p:sp>
      <p:sp>
        <p:nvSpPr>
          <p:cNvPr id="4" name="Text 2"/>
          <p:cNvSpPr/>
          <p:nvPr/>
        </p:nvSpPr>
        <p:spPr>
          <a:xfrm>
            <a:off x="502920" y="320040"/>
            <a:ext cx="8778240" cy="420624"/>
          </a:xfrm>
          <a:prstGeom prst="rect">
            <a:avLst/>
          </a:prstGeom>
          <a:noFill/>
          <a:ln/>
        </p:spPr>
        <p:txBody>
          <a:bodyPr wrap="square" lIns="254" tIns="254" rIns="254" bIns="254" rtlCol="0" anchor="ctr">
            <a:normAutofit/>
          </a:bodyPr>
          <a:lstStyle/>
          <a:p>
            <a:pPr marL="0" indent="0">
              <a:buNone/>
            </a:pPr>
            <a:r>
              <a:rPr lang="en-US" sz="2500" b="1" dirty="0">
                <a:solidFill>
                  <a:srgbClr val="F6FAFF"/>
                </a:solidFill>
                <a:latin typeface="Aptos Display" pitchFamily="34" charset="0"/>
                <a:ea typeface="Aptos Display" pitchFamily="34" charset="-122"/>
                <a:cs typeface="Aptos Display" pitchFamily="34" charset="-120"/>
              </a:rPr>
              <a:t>Bối cảnh thực tế: dữ liệu cá nhân có giá trị cao</a:t>
            </a:r>
            <a:endParaRPr lang="en-US" sz="2500" dirty="0"/>
          </a:p>
        </p:txBody>
      </p:sp>
      <p:sp>
        <p:nvSpPr>
          <p:cNvPr id="5" name="Text 3"/>
          <p:cNvSpPr/>
          <p:nvPr/>
        </p:nvSpPr>
        <p:spPr>
          <a:xfrm>
            <a:off x="530352" y="795528"/>
            <a:ext cx="8046720" cy="219456"/>
          </a:xfrm>
          <a:prstGeom prst="rect">
            <a:avLst/>
          </a:prstGeom>
          <a:noFill/>
          <a:ln/>
        </p:spPr>
        <p:txBody>
          <a:bodyPr wrap="square" lIns="127" tIns="127" rIns="127" bIns="127" rtlCol="0" anchor="ctr">
            <a:normAutofit/>
          </a:bodyPr>
          <a:lstStyle/>
          <a:p>
            <a:pPr marL="0" indent="0">
              <a:buNone/>
            </a:pPr>
            <a:r>
              <a:rPr lang="en-US" sz="1400" dirty="0">
                <a:solidFill>
                  <a:srgbClr val="B8C7D9"/>
                </a:solidFill>
              </a:rPr>
              <a:t>Database thường chứa nhiều dữ liệu có thể bị lạm dụng nếu bị lộ.</a:t>
            </a:r>
            <a:endParaRPr lang="en-US" sz="1400" dirty="0"/>
          </a:p>
        </p:txBody>
      </p:sp>
      <p:sp>
        <p:nvSpPr>
          <p:cNvPr id="6" name="Text 4"/>
          <p:cNvSpPr/>
          <p:nvPr/>
        </p:nvSpPr>
        <p:spPr>
          <a:xfrm>
            <a:off x="502920" y="6528816"/>
            <a:ext cx="6583680" cy="164592"/>
          </a:xfrm>
          <a:prstGeom prst="rect">
            <a:avLst/>
          </a:prstGeom>
          <a:noFill/>
          <a:ln/>
        </p:spPr>
        <p:txBody>
          <a:bodyPr wrap="square" lIns="0" tIns="0" rIns="0" bIns="0" rtlCol="0" anchor="ctr">
            <a:normAutofit/>
          </a:bodyPr>
          <a:lstStyle/>
          <a:p>
            <a:pPr marL="0" indent="0">
              <a:buNone/>
            </a:pPr>
            <a:r>
              <a:rPr lang="en-US" sz="750" dirty="0">
                <a:solidFill>
                  <a:srgbClr val="B8C7D9"/>
                </a:solidFill>
              </a:rPr>
              <a:t>Đề tài 22 · Triple DES &amp; AES · 03</a:t>
            </a:r>
            <a:endParaRPr lang="en-US" sz="750" dirty="0"/>
          </a:p>
        </p:txBody>
      </p:sp>
      <p:sp>
        <p:nvSpPr>
          <p:cNvPr id="7" name="Text 5"/>
          <p:cNvSpPr/>
          <p:nvPr/>
        </p:nvSpPr>
        <p:spPr>
          <a:xfrm>
            <a:off x="731520" y="1280160"/>
            <a:ext cx="3429000" cy="4389120"/>
          </a:xfrm>
          <a:prstGeom prst="rect">
            <a:avLst/>
          </a:prstGeom>
          <a:solidFill>
            <a:srgbClr val="102B46"/>
          </a:solidFill>
          <a:ln>
            <a:solidFill>
              <a:srgbClr val="2A6F9A">
                <a:alpha val="75000"/>
              </a:srgbClr>
            </a:solidFill>
          </a:ln>
        </p:spPr>
        <p:txBody>
          <a:bodyPr wrap="square" lIns="1905" tIns="1905" rIns="1905" bIns="1905" rtlCol="0" anchor="ctr">
            <a:normAutofit/>
          </a:bodyPr>
          <a:lstStyle/>
          <a:p>
            <a:pPr marL="0" indent="0">
              <a:buNone/>
            </a:pPr>
            <a:r>
              <a:rPr lang="en-US" sz="2000" b="1" dirty="0">
                <a:solidFill>
                  <a:srgbClr val="2EE6E6"/>
                </a:solidFill>
                <a:latin typeface="Aptos" pitchFamily="34" charset="0"/>
                <a:ea typeface="Aptos" pitchFamily="34" charset="-122"/>
                <a:cs typeface="Aptos" pitchFamily="34" charset="-120"/>
              </a:rPr>
              <a:t>Dữ liệu hệ thống thường lưu
</a:t>
            </a:r>
            <a:r>
              <a:rPr lang="en-US" sz="2000" dirty="0">
                <a:solidFill>
                  <a:srgbClr val="B8C7D9"/>
                </a:solidFill>
                <a:latin typeface="Aptos" pitchFamily="34" charset="0"/>
                <a:ea typeface="Aptos" pitchFamily="34" charset="-122"/>
                <a:cs typeface="Aptos" pitchFamily="34" charset="-120"/>
              </a:rPr>
              <a:t>• CCCD/CMND</a:t>
            </a:r>
            <a:endParaRPr lang="en-US" sz="2000" dirty="0"/>
          </a:p>
          <a:p>
            <a:pPr marL="0" indent="0">
              <a:buNone/>
            </a:pPr>
            <a:r>
              <a:rPr lang="en-US" sz="2000" dirty="0">
                <a:solidFill>
                  <a:srgbClr val="B8C7D9"/>
                </a:solidFill>
                <a:latin typeface="Aptos" pitchFamily="34" charset="0"/>
                <a:ea typeface="Aptos" pitchFamily="34" charset="-122"/>
                <a:cs typeface="Aptos" pitchFamily="34" charset="-120"/>
              </a:rPr>
              <a:t>• Số bảo hiểm xã hội</a:t>
            </a:r>
            <a:endParaRPr lang="en-US" sz="2000" dirty="0"/>
          </a:p>
          <a:p>
            <a:pPr marL="0" indent="0">
              <a:buNone/>
            </a:pPr>
            <a:r>
              <a:rPr lang="en-US" sz="2000" dirty="0">
                <a:solidFill>
                  <a:srgbClr val="B8C7D9"/>
                </a:solidFill>
                <a:latin typeface="Aptos" pitchFamily="34" charset="0"/>
                <a:ea typeface="Aptos" pitchFamily="34" charset="-122"/>
                <a:cs typeface="Aptos" pitchFamily="34" charset="-120"/>
              </a:rPr>
              <a:t>• Số tài khoản ngân hàng</a:t>
            </a:r>
            <a:endParaRPr lang="en-US" sz="2000" dirty="0"/>
          </a:p>
          <a:p>
            <a:pPr marL="0" indent="0">
              <a:buNone/>
            </a:pPr>
            <a:r>
              <a:rPr lang="en-US" sz="2000" dirty="0">
                <a:solidFill>
                  <a:srgbClr val="B8C7D9"/>
                </a:solidFill>
                <a:latin typeface="Aptos" pitchFamily="34" charset="0"/>
                <a:ea typeface="Aptos" pitchFamily="34" charset="-122"/>
                <a:cs typeface="Aptos" pitchFamily="34" charset="-120"/>
              </a:rPr>
              <a:t>• Địa chỉ</a:t>
            </a:r>
            <a:endParaRPr lang="en-US" sz="2000" dirty="0"/>
          </a:p>
          <a:p>
            <a:pPr marL="0" indent="0">
              <a:buNone/>
            </a:pPr>
            <a:r>
              <a:rPr lang="en-US" sz="2000" dirty="0">
                <a:solidFill>
                  <a:srgbClr val="B8C7D9"/>
                </a:solidFill>
                <a:latin typeface="Aptos" pitchFamily="34" charset="0"/>
                <a:ea typeface="Aptos" pitchFamily="34" charset="-122"/>
                <a:cs typeface="Aptos" pitchFamily="34" charset="-120"/>
              </a:rPr>
              <a:t>• Tài khoản đăng nhập</a:t>
            </a:r>
            <a:endParaRPr lang="en-US" sz="2000" dirty="0"/>
          </a:p>
        </p:txBody>
      </p:sp>
      <p:sp>
        <p:nvSpPr>
          <p:cNvPr id="8" name="Text 6"/>
          <p:cNvSpPr/>
          <p:nvPr/>
        </p:nvSpPr>
        <p:spPr>
          <a:xfrm>
            <a:off x="4526280" y="1280160"/>
            <a:ext cx="3429000" cy="4389120"/>
          </a:xfrm>
          <a:prstGeom prst="rect">
            <a:avLst/>
          </a:prstGeom>
          <a:solidFill>
            <a:srgbClr val="102B46"/>
          </a:solidFill>
          <a:ln>
            <a:solidFill>
              <a:srgbClr val="2A6F9A">
                <a:alpha val="75000"/>
              </a:srgbClr>
            </a:solidFill>
          </a:ln>
        </p:spPr>
        <p:txBody>
          <a:bodyPr wrap="square" lIns="1905" tIns="1905" rIns="1905" bIns="1905" rtlCol="0" anchor="ctr">
            <a:normAutofit/>
          </a:bodyPr>
          <a:lstStyle/>
          <a:p>
            <a:pPr marL="0" indent="0">
              <a:buNone/>
            </a:pPr>
            <a:r>
              <a:rPr lang="en-US" sz="2000" b="1" dirty="0">
                <a:solidFill>
                  <a:srgbClr val="FFB347"/>
                </a:solidFill>
                <a:latin typeface="Aptos" pitchFamily="34" charset="0"/>
                <a:ea typeface="Aptos" pitchFamily="34" charset="-122"/>
                <a:cs typeface="Aptos" pitchFamily="34" charset="-120"/>
              </a:rPr>
              <a:t>Rủi ro khi bị lộ
</a:t>
            </a:r>
            <a:r>
              <a:rPr lang="en-US" sz="2000" dirty="0">
                <a:solidFill>
                  <a:srgbClr val="B8C7D9"/>
                </a:solidFill>
                <a:latin typeface="Aptos" pitchFamily="34" charset="0"/>
                <a:ea typeface="Aptos" pitchFamily="34" charset="-122"/>
                <a:cs typeface="Aptos" pitchFamily="34" charset="-120"/>
              </a:rPr>
              <a:t>• Đánh cắp danh tính</a:t>
            </a:r>
            <a:endParaRPr lang="en-US" sz="2000" dirty="0"/>
          </a:p>
          <a:p>
            <a:pPr marL="0" indent="0">
              <a:buNone/>
            </a:pPr>
            <a:r>
              <a:rPr lang="en-US" sz="2000" dirty="0">
                <a:solidFill>
                  <a:srgbClr val="B8C7D9"/>
                </a:solidFill>
                <a:latin typeface="Aptos" pitchFamily="34" charset="0"/>
                <a:ea typeface="Aptos" pitchFamily="34" charset="-122"/>
                <a:cs typeface="Aptos" pitchFamily="34" charset="-120"/>
              </a:rPr>
              <a:t>• Lừa đảo tài chính</a:t>
            </a:r>
            <a:endParaRPr lang="en-US" sz="2000" dirty="0"/>
          </a:p>
          <a:p>
            <a:pPr marL="0" indent="0">
              <a:buNone/>
            </a:pPr>
            <a:r>
              <a:rPr lang="en-US" sz="2000" dirty="0">
                <a:solidFill>
                  <a:srgbClr val="B8C7D9"/>
                </a:solidFill>
                <a:latin typeface="Aptos" pitchFamily="34" charset="0"/>
                <a:ea typeface="Aptos" pitchFamily="34" charset="-122"/>
                <a:cs typeface="Aptos" pitchFamily="34" charset="-120"/>
              </a:rPr>
              <a:t>• Mất uy tín hệ thống</a:t>
            </a:r>
            <a:endParaRPr lang="en-US" sz="2000" dirty="0"/>
          </a:p>
          <a:p>
            <a:pPr marL="0" indent="0">
              <a:buNone/>
            </a:pPr>
            <a:r>
              <a:rPr lang="en-US" sz="2000" dirty="0">
                <a:solidFill>
                  <a:srgbClr val="B8C7D9"/>
                </a:solidFill>
                <a:latin typeface="Aptos" pitchFamily="34" charset="0"/>
                <a:ea typeface="Aptos" pitchFamily="34" charset="-122"/>
                <a:cs typeface="Aptos" pitchFamily="34" charset="-120"/>
              </a:rPr>
              <a:t>• Vi phạm quyền riêng tư</a:t>
            </a:r>
            <a:endParaRPr lang="en-US" sz="2000" dirty="0"/>
          </a:p>
          <a:p>
            <a:pPr marL="0" indent="0">
              <a:buNone/>
            </a:pPr>
            <a:r>
              <a:rPr lang="en-US" sz="2000" dirty="0">
                <a:solidFill>
                  <a:srgbClr val="B8C7D9"/>
                </a:solidFill>
                <a:latin typeface="Aptos" pitchFamily="34" charset="0"/>
                <a:ea typeface="Aptos" pitchFamily="34" charset="-122"/>
                <a:cs typeface="Aptos" pitchFamily="34" charset="-120"/>
              </a:rPr>
              <a:t>• Khó kiểm soát nội bộ</a:t>
            </a:r>
            <a:endParaRPr lang="en-US" sz="2000" dirty="0"/>
          </a:p>
        </p:txBody>
      </p:sp>
      <p:sp>
        <p:nvSpPr>
          <p:cNvPr id="9" name="Text 7"/>
          <p:cNvSpPr/>
          <p:nvPr/>
        </p:nvSpPr>
        <p:spPr>
          <a:xfrm>
            <a:off x="8321040" y="1280160"/>
            <a:ext cx="3063240" cy="4389120"/>
          </a:xfrm>
          <a:prstGeom prst="rect">
            <a:avLst/>
          </a:prstGeom>
          <a:solidFill>
            <a:srgbClr val="102B46"/>
          </a:solidFill>
          <a:ln>
            <a:solidFill>
              <a:srgbClr val="2A6F9A">
                <a:alpha val="75000"/>
              </a:srgbClr>
            </a:solidFill>
          </a:ln>
        </p:spPr>
        <p:txBody>
          <a:bodyPr wrap="square" lIns="1905" tIns="1905" rIns="1905" bIns="1905" rtlCol="0" anchor="ctr">
            <a:normAutofit/>
          </a:bodyPr>
          <a:lstStyle/>
          <a:p>
            <a:pPr marL="0" indent="0">
              <a:buNone/>
            </a:pPr>
            <a:r>
              <a:rPr lang="en-US" sz="2000" b="1" dirty="0">
                <a:solidFill>
                  <a:srgbClr val="63D471"/>
                </a:solidFill>
                <a:latin typeface="Aptos" pitchFamily="34" charset="0"/>
                <a:ea typeface="Aptos" pitchFamily="34" charset="-122"/>
                <a:cs typeface="Aptos" pitchFamily="34" charset="-120"/>
              </a:rPr>
              <a:t>Hướng giải quyết
</a:t>
            </a:r>
            <a:r>
              <a:rPr lang="en-US" sz="2000" dirty="0">
                <a:solidFill>
                  <a:srgbClr val="B8C7D9"/>
                </a:solidFill>
                <a:latin typeface="Aptos" pitchFamily="34" charset="0"/>
                <a:ea typeface="Aptos" pitchFamily="34" charset="-122"/>
                <a:cs typeface="Aptos" pitchFamily="34" charset="-120"/>
              </a:rPr>
              <a:t>Không lưu dữ liệu nhạy cảm ở dạng rõ.</a:t>
            </a:r>
            <a:endParaRPr lang="en-US" sz="2000" dirty="0"/>
          </a:p>
          <a:p>
            <a:pPr marL="0" indent="0">
              <a:buNone/>
            </a:pPr>
            <a:endParaRPr lang="en-US" sz="2000" dirty="0"/>
          </a:p>
          <a:p>
            <a:pPr marL="0" indent="0">
              <a:buNone/>
            </a:pPr>
            <a:r>
              <a:rPr lang="en-US" sz="2000" dirty="0">
                <a:solidFill>
                  <a:srgbClr val="B8C7D9"/>
                </a:solidFill>
                <a:latin typeface="Aptos" pitchFamily="34" charset="0"/>
                <a:ea typeface="Aptos" pitchFamily="34" charset="-122"/>
                <a:cs typeface="Aptos" pitchFamily="34" charset="-120"/>
              </a:rPr>
              <a:t>Mã hóa trước khi lưu và chỉ giải mã khi người dùng hợp lệ.</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071626"/>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2EE6E6">
              <a:alpha val="90000"/>
            </a:srgbClr>
          </a:solidFill>
          <a:ln w="12700">
            <a:solidFill>
              <a:srgbClr val="2EE6E6">
                <a:alpha val="0"/>
              </a:srgbClr>
            </a:solidFill>
            <a:prstDash val="solid"/>
          </a:ln>
        </p:spPr>
      </p:sp>
      <p:sp>
        <p:nvSpPr>
          <p:cNvPr id="3" name="Shape 1"/>
          <p:cNvSpPr/>
          <p:nvPr/>
        </p:nvSpPr>
        <p:spPr>
          <a:xfrm>
            <a:off x="0" y="6748272"/>
            <a:ext cx="12191695" cy="109728"/>
          </a:xfrm>
          <a:prstGeom prst="rect">
            <a:avLst/>
          </a:prstGeom>
          <a:solidFill>
            <a:srgbClr val="2EE6E6">
              <a:alpha val="70000"/>
            </a:srgbClr>
          </a:solidFill>
          <a:ln w="12700">
            <a:solidFill>
              <a:srgbClr val="2EE6E6">
                <a:alpha val="0"/>
              </a:srgbClr>
            </a:solidFill>
            <a:prstDash val="solid"/>
          </a:ln>
        </p:spPr>
      </p:sp>
      <p:sp>
        <p:nvSpPr>
          <p:cNvPr id="4" name="Text 2"/>
          <p:cNvSpPr/>
          <p:nvPr/>
        </p:nvSpPr>
        <p:spPr>
          <a:xfrm>
            <a:off x="502920" y="320040"/>
            <a:ext cx="8778240" cy="420624"/>
          </a:xfrm>
          <a:prstGeom prst="rect">
            <a:avLst/>
          </a:prstGeom>
          <a:noFill/>
          <a:ln/>
        </p:spPr>
        <p:txBody>
          <a:bodyPr wrap="square" lIns="254" tIns="254" rIns="254" bIns="254" rtlCol="0" anchor="ctr">
            <a:normAutofit/>
          </a:bodyPr>
          <a:lstStyle/>
          <a:p>
            <a:pPr marL="0" indent="0">
              <a:buNone/>
            </a:pPr>
            <a:r>
              <a:rPr lang="en-US" sz="2500" b="1" dirty="0">
                <a:solidFill>
                  <a:srgbClr val="F6FAFF"/>
                </a:solidFill>
                <a:latin typeface="Aptos Display" pitchFamily="34" charset="0"/>
                <a:ea typeface="Aptos Display" pitchFamily="34" charset="-122"/>
                <a:cs typeface="Aptos Display" pitchFamily="34" charset="-120"/>
              </a:rPr>
              <a:t>Vấn đề đặt ra và mục tiêu hệ thống</a:t>
            </a:r>
            <a:endParaRPr lang="en-US" sz="2500" dirty="0"/>
          </a:p>
        </p:txBody>
      </p:sp>
      <p:sp>
        <p:nvSpPr>
          <p:cNvPr id="5" name="Text 3"/>
          <p:cNvSpPr/>
          <p:nvPr/>
        </p:nvSpPr>
        <p:spPr>
          <a:xfrm>
            <a:off x="577327" y="786384"/>
            <a:ext cx="8046720" cy="219456"/>
          </a:xfrm>
          <a:prstGeom prst="rect">
            <a:avLst/>
          </a:prstGeom>
          <a:noFill/>
          <a:ln/>
        </p:spPr>
        <p:txBody>
          <a:bodyPr wrap="square" lIns="127" tIns="127" rIns="127" bIns="127" rtlCol="0" anchor="ctr">
            <a:normAutofit/>
          </a:bodyPr>
          <a:lstStyle/>
          <a:p>
            <a:pPr marL="0" indent="0">
              <a:buNone/>
            </a:pPr>
            <a:r>
              <a:rPr lang="en-US" sz="1400" dirty="0">
                <a:solidFill>
                  <a:srgbClr val="B8C7D9"/>
                </a:solidFill>
              </a:rPr>
              <a:t>Câu hỏi chính: database bị lộ thì dữ liệu nhạy cảm có còn an toàn không?</a:t>
            </a:r>
            <a:endParaRPr lang="en-US" sz="1400" dirty="0"/>
          </a:p>
        </p:txBody>
      </p:sp>
      <p:sp>
        <p:nvSpPr>
          <p:cNvPr id="6" name="Text 4"/>
          <p:cNvSpPr/>
          <p:nvPr/>
        </p:nvSpPr>
        <p:spPr>
          <a:xfrm>
            <a:off x="502920" y="6528816"/>
            <a:ext cx="6583680" cy="164592"/>
          </a:xfrm>
          <a:prstGeom prst="rect">
            <a:avLst/>
          </a:prstGeom>
          <a:noFill/>
          <a:ln/>
        </p:spPr>
        <p:txBody>
          <a:bodyPr wrap="square" lIns="0" tIns="0" rIns="0" bIns="0" rtlCol="0" anchor="ctr">
            <a:normAutofit/>
          </a:bodyPr>
          <a:lstStyle/>
          <a:p>
            <a:pPr marL="0" indent="0">
              <a:buNone/>
            </a:pPr>
            <a:r>
              <a:rPr lang="en-US" sz="750" dirty="0">
                <a:solidFill>
                  <a:srgbClr val="B8C7D9"/>
                </a:solidFill>
              </a:rPr>
              <a:t>Đề tài 22 · Triple DES &amp; AES · 04</a:t>
            </a:r>
            <a:endParaRPr lang="en-US" sz="750" dirty="0"/>
          </a:p>
        </p:txBody>
      </p:sp>
      <p:sp>
        <p:nvSpPr>
          <p:cNvPr id="7" name="Text 5"/>
          <p:cNvSpPr/>
          <p:nvPr/>
        </p:nvSpPr>
        <p:spPr>
          <a:xfrm>
            <a:off x="731520" y="1920240"/>
            <a:ext cx="2926080" cy="228600"/>
          </a:xfrm>
          <a:prstGeom prst="rect">
            <a:avLst/>
          </a:prstGeom>
          <a:noFill/>
          <a:ln/>
        </p:spPr>
        <p:txBody>
          <a:bodyPr wrap="square" lIns="254" tIns="254" rIns="254" bIns="254" rtlCol="0" anchor="ctr">
            <a:noAutofit/>
          </a:bodyPr>
          <a:lstStyle/>
          <a:p>
            <a:pPr marL="0" indent="0">
              <a:buNone/>
            </a:pPr>
            <a:r>
              <a:rPr lang="en-US" sz="4000" b="1" dirty="0">
                <a:solidFill>
                  <a:srgbClr val="FFB347"/>
                </a:solidFill>
              </a:rPr>
              <a:t>VẤN ĐỀ NẾU LƯU THÔ</a:t>
            </a:r>
            <a:endParaRPr lang="en-US" sz="4000" dirty="0"/>
          </a:p>
        </p:txBody>
      </p:sp>
      <p:sp>
        <p:nvSpPr>
          <p:cNvPr id="8" name="Text 6"/>
          <p:cNvSpPr/>
          <p:nvPr/>
        </p:nvSpPr>
        <p:spPr>
          <a:xfrm>
            <a:off x="777240" y="2176272"/>
            <a:ext cx="4846320" cy="1965960"/>
          </a:xfrm>
          <a:prstGeom prst="rect">
            <a:avLst/>
          </a:prstGeom>
          <a:noFill/>
          <a:ln/>
        </p:spPr>
        <p:txBody>
          <a:bodyPr wrap="square" lIns="635" tIns="635" rIns="635" bIns="635" rtlCol="0" anchor="ctr">
            <a:normAutofit/>
          </a:bodyPr>
          <a:lstStyle/>
          <a:p>
            <a:r>
              <a:rPr lang="en-US" sz="1400" dirty="0">
                <a:solidFill>
                  <a:srgbClr val="F6FAFF"/>
                </a:solidFill>
              </a:rPr>
              <a:t>Hacker đọc được trực tiếp dữ liệu.</a:t>
            </a:r>
            <a:endParaRPr lang="en-US" sz="1400" dirty="0"/>
          </a:p>
          <a:p>
            <a:r>
              <a:rPr lang="en-US" sz="1400" dirty="0">
                <a:solidFill>
                  <a:srgbClr val="F6FAFF"/>
                </a:solidFill>
              </a:rPr>
              <a:t>Admin nội bộ có thể xem quá nhiều.</a:t>
            </a:r>
            <a:endParaRPr lang="en-US" sz="1400" dirty="0"/>
          </a:p>
          <a:p>
            <a:r>
              <a:rPr lang="en-US" sz="1400" dirty="0">
                <a:solidFill>
                  <a:srgbClr val="F6FAFF"/>
                </a:solidFill>
              </a:rPr>
              <a:t>Không biết ai đã truy cập dữ liệu.</a:t>
            </a:r>
            <a:endParaRPr lang="en-US" sz="1400" dirty="0"/>
          </a:p>
          <a:p>
            <a:r>
              <a:rPr lang="en-US" sz="1400" dirty="0">
                <a:solidFill>
                  <a:srgbClr val="F6FAFF"/>
                </a:solidFill>
              </a:rPr>
              <a:t>Khó truy vết khi xảy ra sự cố.</a:t>
            </a:r>
            <a:endParaRPr lang="en-US" sz="1400" dirty="0"/>
          </a:p>
        </p:txBody>
      </p:sp>
      <p:sp>
        <p:nvSpPr>
          <p:cNvPr id="9" name="Text 7"/>
          <p:cNvSpPr/>
          <p:nvPr/>
        </p:nvSpPr>
        <p:spPr>
          <a:xfrm>
            <a:off x="6103172" y="1792224"/>
            <a:ext cx="2926080" cy="228600"/>
          </a:xfrm>
          <a:prstGeom prst="rect">
            <a:avLst/>
          </a:prstGeom>
          <a:noFill/>
          <a:ln/>
        </p:spPr>
        <p:txBody>
          <a:bodyPr wrap="square" lIns="254" tIns="254" rIns="254" bIns="254" rtlCol="0" anchor="ctr">
            <a:noAutofit/>
          </a:bodyPr>
          <a:lstStyle/>
          <a:p>
            <a:pPr marL="0" indent="0">
              <a:buNone/>
            </a:pPr>
            <a:r>
              <a:rPr lang="en-US" sz="4400" b="1" dirty="0">
                <a:solidFill>
                  <a:srgbClr val="2EE6E6"/>
                </a:solidFill>
              </a:rPr>
              <a:t>MỤC TIÊU ĐỀ TÀI</a:t>
            </a:r>
            <a:endParaRPr lang="en-US" sz="4400" dirty="0"/>
          </a:p>
        </p:txBody>
      </p:sp>
      <p:sp>
        <p:nvSpPr>
          <p:cNvPr id="10" name="Text 8"/>
          <p:cNvSpPr/>
          <p:nvPr/>
        </p:nvSpPr>
        <p:spPr>
          <a:xfrm>
            <a:off x="6111240" y="1961388"/>
            <a:ext cx="5303520" cy="2331720"/>
          </a:xfrm>
          <a:prstGeom prst="rect">
            <a:avLst/>
          </a:prstGeom>
          <a:noFill/>
          <a:ln/>
        </p:spPr>
        <p:txBody>
          <a:bodyPr wrap="square" lIns="635" tIns="635" rIns="635" bIns="635" rtlCol="0" anchor="ctr">
            <a:normAutofit/>
          </a:bodyPr>
          <a:lstStyle/>
          <a:p>
            <a:r>
              <a:rPr lang="en-US" sz="1320" dirty="0">
                <a:solidFill>
                  <a:srgbClr val="F6FAFF"/>
                </a:solidFill>
              </a:rPr>
              <a:t>Mã hóa CCCD/CMND bằng Triple DES.</a:t>
            </a:r>
            <a:endParaRPr lang="en-US" sz="1320" dirty="0"/>
          </a:p>
          <a:p>
            <a:r>
              <a:rPr lang="en-US" sz="1320" dirty="0">
                <a:solidFill>
                  <a:srgbClr val="F6FAFF"/>
                </a:solidFill>
              </a:rPr>
              <a:t>Mã hóa BHXH, số tài khoản, địa chỉ bằng AES-256.</a:t>
            </a:r>
            <a:endParaRPr lang="en-US" sz="1320" dirty="0"/>
          </a:p>
          <a:p>
            <a:r>
              <a:rPr lang="en-US" sz="1320" dirty="0">
                <a:solidFill>
                  <a:srgbClr val="F6FAFF"/>
                </a:solidFill>
              </a:rPr>
              <a:t>Không lưu dữ liệu nhạy cảm dạng rõ.</a:t>
            </a:r>
            <a:endParaRPr lang="en-US" sz="1320" dirty="0"/>
          </a:p>
          <a:p>
            <a:r>
              <a:rPr lang="en-US" sz="1320" dirty="0">
                <a:solidFill>
                  <a:srgbClr val="F6FAFF"/>
                </a:solidFill>
              </a:rPr>
              <a:t>Admin muốn xem phải xác minh lại.</a:t>
            </a:r>
            <a:endParaRPr lang="en-US" sz="1320" dirty="0"/>
          </a:p>
          <a:p>
            <a:r>
              <a:rPr lang="en-US" sz="1320" dirty="0">
                <a:solidFill>
                  <a:srgbClr val="F6FAFF"/>
                </a:solidFill>
              </a:rPr>
              <a:t>Ghi log khi xem, sửa, xóa dữ liệu.</a:t>
            </a:r>
            <a:endParaRPr lang="en-US" sz="1320" dirty="0"/>
          </a:p>
        </p:txBody>
      </p:sp>
      <p:sp>
        <p:nvSpPr>
          <p:cNvPr id="11" name="Text 9"/>
          <p:cNvSpPr/>
          <p:nvPr/>
        </p:nvSpPr>
        <p:spPr>
          <a:xfrm>
            <a:off x="577327" y="4430896"/>
            <a:ext cx="10149840" cy="868680"/>
          </a:xfrm>
          <a:prstGeom prst="rect">
            <a:avLst/>
          </a:prstGeom>
          <a:solidFill>
            <a:srgbClr val="102B46"/>
          </a:solidFill>
          <a:ln>
            <a:solidFill>
              <a:srgbClr val="2A6F9A">
                <a:alpha val="75000"/>
              </a:srgbClr>
            </a:solidFill>
          </a:ln>
        </p:spPr>
        <p:txBody>
          <a:bodyPr wrap="square" lIns="1905" tIns="1905" rIns="1905" bIns="1905" rtlCol="0" anchor="ctr">
            <a:normAutofit/>
          </a:bodyPr>
          <a:lstStyle/>
          <a:p>
            <a:pPr marL="0" indent="0">
              <a:buNone/>
            </a:pPr>
            <a:r>
              <a:rPr lang="en-US" sz="1500" b="1" dirty="0">
                <a:solidFill>
                  <a:srgbClr val="2EE6E6"/>
                </a:solidFill>
                <a:latin typeface="Aptos" pitchFamily="34" charset="0"/>
                <a:ea typeface="Aptos" pitchFamily="34" charset="-122"/>
                <a:cs typeface="Aptos" pitchFamily="34" charset="-120"/>
              </a:rPr>
              <a:t>Thông điệp chính
</a:t>
            </a:r>
            <a:r>
              <a:rPr lang="en-US" sz="1500" dirty="0">
                <a:solidFill>
                  <a:srgbClr val="B8C7D9"/>
                </a:solidFill>
                <a:latin typeface="Aptos" pitchFamily="34" charset="0"/>
                <a:ea typeface="Aptos" pitchFamily="34" charset="-122"/>
                <a:cs typeface="Aptos" pitchFamily="34" charset="-120"/>
              </a:rPr>
              <a:t>Bảo mật dữ liệu không chỉ là phân quyền giao diện, mà còn phải bảo vệ dữ liệu ngay trong cơ sở dữ liệu.</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071626"/>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2EE6E6">
              <a:alpha val="90000"/>
            </a:srgbClr>
          </a:solidFill>
          <a:ln w="12700">
            <a:solidFill>
              <a:srgbClr val="2EE6E6">
                <a:alpha val="0"/>
              </a:srgbClr>
            </a:solidFill>
            <a:prstDash val="solid"/>
          </a:ln>
        </p:spPr>
      </p:sp>
      <p:sp>
        <p:nvSpPr>
          <p:cNvPr id="3" name="Shape 1"/>
          <p:cNvSpPr/>
          <p:nvPr/>
        </p:nvSpPr>
        <p:spPr>
          <a:xfrm>
            <a:off x="0" y="6748272"/>
            <a:ext cx="12191695" cy="109728"/>
          </a:xfrm>
          <a:prstGeom prst="rect">
            <a:avLst/>
          </a:prstGeom>
          <a:solidFill>
            <a:srgbClr val="2EE6E6">
              <a:alpha val="70000"/>
            </a:srgbClr>
          </a:solidFill>
          <a:ln w="12700">
            <a:solidFill>
              <a:srgbClr val="2EE6E6">
                <a:alpha val="0"/>
              </a:srgbClr>
            </a:solidFill>
            <a:prstDash val="solid"/>
          </a:ln>
        </p:spPr>
      </p:sp>
      <p:sp>
        <p:nvSpPr>
          <p:cNvPr id="4" name="Text 2"/>
          <p:cNvSpPr/>
          <p:nvPr/>
        </p:nvSpPr>
        <p:spPr>
          <a:xfrm>
            <a:off x="502920" y="320040"/>
            <a:ext cx="8778240" cy="420624"/>
          </a:xfrm>
          <a:prstGeom prst="rect">
            <a:avLst/>
          </a:prstGeom>
          <a:noFill/>
          <a:ln/>
        </p:spPr>
        <p:txBody>
          <a:bodyPr wrap="square" lIns="254" tIns="254" rIns="254" bIns="254" rtlCol="0" anchor="ctr">
            <a:normAutofit/>
          </a:bodyPr>
          <a:lstStyle/>
          <a:p>
            <a:pPr marL="0" indent="0">
              <a:buNone/>
            </a:pPr>
            <a:r>
              <a:rPr lang="en-US" sz="2500" b="1" dirty="0">
                <a:solidFill>
                  <a:srgbClr val="F6FAFF"/>
                </a:solidFill>
                <a:latin typeface="Aptos Display" pitchFamily="34" charset="0"/>
                <a:ea typeface="Aptos Display" pitchFamily="34" charset="-122"/>
                <a:cs typeface="Aptos Display" pitchFamily="34" charset="-120"/>
              </a:rPr>
              <a:t>Phân loại dữ liệu trong hệ thống</a:t>
            </a:r>
            <a:endParaRPr lang="en-US" sz="2500" dirty="0"/>
          </a:p>
        </p:txBody>
      </p:sp>
      <p:sp>
        <p:nvSpPr>
          <p:cNvPr id="5" name="Text 3"/>
          <p:cNvSpPr/>
          <p:nvPr/>
        </p:nvSpPr>
        <p:spPr>
          <a:xfrm>
            <a:off x="530352" y="795528"/>
            <a:ext cx="8046720" cy="219456"/>
          </a:xfrm>
          <a:prstGeom prst="rect">
            <a:avLst/>
          </a:prstGeom>
          <a:noFill/>
          <a:ln/>
        </p:spPr>
        <p:txBody>
          <a:bodyPr wrap="square" lIns="127" tIns="127" rIns="127" bIns="127" rtlCol="0" anchor="ctr">
            <a:normAutofit/>
          </a:bodyPr>
          <a:lstStyle/>
          <a:p>
            <a:pPr marL="0" indent="0">
              <a:buNone/>
            </a:pPr>
            <a:r>
              <a:rPr lang="en-US" sz="950" dirty="0">
                <a:solidFill>
                  <a:srgbClr val="B8C7D9"/>
                </a:solidFill>
              </a:rPr>
              <a:t>Không phải dữ liệu nào cũng cần xử lý giống nhau.</a:t>
            </a:r>
            <a:endParaRPr lang="en-US" sz="950" dirty="0"/>
          </a:p>
        </p:txBody>
      </p:sp>
      <p:sp>
        <p:nvSpPr>
          <p:cNvPr id="6" name="Text 4"/>
          <p:cNvSpPr/>
          <p:nvPr/>
        </p:nvSpPr>
        <p:spPr>
          <a:xfrm>
            <a:off x="502920" y="6528816"/>
            <a:ext cx="6583680" cy="164592"/>
          </a:xfrm>
          <a:prstGeom prst="rect">
            <a:avLst/>
          </a:prstGeom>
          <a:noFill/>
          <a:ln/>
        </p:spPr>
        <p:txBody>
          <a:bodyPr wrap="square" lIns="0" tIns="0" rIns="0" bIns="0" rtlCol="0" anchor="ctr">
            <a:normAutofit/>
          </a:bodyPr>
          <a:lstStyle/>
          <a:p>
            <a:pPr marL="0" indent="0">
              <a:buNone/>
            </a:pPr>
            <a:r>
              <a:rPr lang="en-US" sz="750" dirty="0">
                <a:solidFill>
                  <a:srgbClr val="B8C7D9"/>
                </a:solidFill>
              </a:rPr>
              <a:t>Đề tài 22 · Triple DES &amp; AES · 05</a:t>
            </a:r>
            <a:endParaRPr lang="en-US" sz="750" dirty="0"/>
          </a:p>
        </p:txBody>
      </p:sp>
      <p:sp>
        <p:nvSpPr>
          <p:cNvPr id="7" name="Text 5"/>
          <p:cNvSpPr/>
          <p:nvPr/>
        </p:nvSpPr>
        <p:spPr>
          <a:xfrm>
            <a:off x="875538" y="1332738"/>
            <a:ext cx="3491484" cy="633984"/>
          </a:xfrm>
          <a:prstGeom prst="rect">
            <a:avLst/>
          </a:prstGeom>
          <a:solidFill>
            <a:srgbClr val="0E3354"/>
          </a:solidFill>
          <a:ln>
            <a:solidFill>
              <a:srgbClr val="315B7B">
                <a:alpha val="75000"/>
              </a:srgbClr>
            </a:solidFill>
          </a:ln>
        </p:spPr>
        <p:txBody>
          <a:bodyPr wrap="square" lIns="699" tIns="699" rIns="699" bIns="699" rtlCol="0" anchor="ctr">
            <a:normAutofit/>
          </a:bodyPr>
          <a:lstStyle/>
          <a:p>
            <a:pPr marL="0" indent="0">
              <a:buNone/>
            </a:pPr>
            <a:r>
              <a:rPr lang="en-US" sz="1250" b="1" dirty="0">
                <a:solidFill>
                  <a:srgbClr val="2EE6E6"/>
                </a:solidFill>
                <a:latin typeface="Aptos" pitchFamily="34" charset="0"/>
                <a:ea typeface="Aptos" pitchFamily="34" charset="-122"/>
                <a:cs typeface="Aptos" pitchFamily="34" charset="-120"/>
              </a:rPr>
              <a:t>Trường dữ liệu</a:t>
            </a:r>
            <a:endParaRPr lang="en-US" sz="1250" dirty="0"/>
          </a:p>
        </p:txBody>
      </p:sp>
      <p:sp>
        <p:nvSpPr>
          <p:cNvPr id="8" name="Text 6"/>
          <p:cNvSpPr/>
          <p:nvPr/>
        </p:nvSpPr>
        <p:spPr>
          <a:xfrm>
            <a:off x="4380738" y="1332738"/>
            <a:ext cx="3491484" cy="633984"/>
          </a:xfrm>
          <a:prstGeom prst="rect">
            <a:avLst/>
          </a:prstGeom>
          <a:solidFill>
            <a:srgbClr val="0E3354"/>
          </a:solidFill>
          <a:ln>
            <a:solidFill>
              <a:srgbClr val="315B7B">
                <a:alpha val="75000"/>
              </a:srgbClr>
            </a:solidFill>
          </a:ln>
        </p:spPr>
        <p:txBody>
          <a:bodyPr wrap="square" lIns="699" tIns="699" rIns="699" bIns="699" rtlCol="0" anchor="ctr">
            <a:normAutofit/>
          </a:bodyPr>
          <a:lstStyle/>
          <a:p>
            <a:pPr marL="0" indent="0">
              <a:buNone/>
            </a:pPr>
            <a:r>
              <a:rPr lang="en-US" sz="1250" b="1" dirty="0">
                <a:solidFill>
                  <a:srgbClr val="2EE6E6"/>
                </a:solidFill>
                <a:latin typeface="Aptos" pitchFamily="34" charset="0"/>
                <a:ea typeface="Aptos" pitchFamily="34" charset="-122"/>
                <a:cs typeface="Aptos" pitchFamily="34" charset="-120"/>
              </a:rPr>
              <a:t>Mức độ nhạy cảm</a:t>
            </a:r>
            <a:endParaRPr lang="en-US" sz="1250" dirty="0"/>
          </a:p>
        </p:txBody>
      </p:sp>
      <p:sp>
        <p:nvSpPr>
          <p:cNvPr id="9" name="Text 7"/>
          <p:cNvSpPr/>
          <p:nvPr/>
        </p:nvSpPr>
        <p:spPr>
          <a:xfrm>
            <a:off x="7885938" y="1332738"/>
            <a:ext cx="3491484" cy="633984"/>
          </a:xfrm>
          <a:prstGeom prst="rect">
            <a:avLst/>
          </a:prstGeom>
          <a:solidFill>
            <a:srgbClr val="0E3354"/>
          </a:solidFill>
          <a:ln>
            <a:solidFill>
              <a:srgbClr val="315B7B">
                <a:alpha val="75000"/>
              </a:srgbClr>
            </a:solidFill>
          </a:ln>
        </p:spPr>
        <p:txBody>
          <a:bodyPr wrap="square" lIns="699" tIns="699" rIns="699" bIns="699" rtlCol="0" anchor="ctr">
            <a:normAutofit/>
          </a:bodyPr>
          <a:lstStyle/>
          <a:p>
            <a:pPr marL="0" indent="0">
              <a:buNone/>
            </a:pPr>
            <a:r>
              <a:rPr lang="en-US" sz="1250" b="1" dirty="0">
                <a:solidFill>
                  <a:srgbClr val="2EE6E6"/>
                </a:solidFill>
                <a:latin typeface="Aptos" pitchFamily="34" charset="0"/>
                <a:ea typeface="Aptos" pitchFamily="34" charset="-122"/>
                <a:cs typeface="Aptos" pitchFamily="34" charset="-120"/>
              </a:rPr>
              <a:t>Cách xử lý</a:t>
            </a:r>
            <a:endParaRPr lang="en-US" sz="1250" dirty="0"/>
          </a:p>
        </p:txBody>
      </p:sp>
      <p:sp>
        <p:nvSpPr>
          <p:cNvPr id="10" name="Text 8"/>
          <p:cNvSpPr/>
          <p:nvPr/>
        </p:nvSpPr>
        <p:spPr>
          <a:xfrm>
            <a:off x="875538" y="1980438"/>
            <a:ext cx="3491484" cy="633984"/>
          </a:xfrm>
          <a:prstGeom prst="rect">
            <a:avLst/>
          </a:prstGeom>
          <a:solidFill>
            <a:srgbClr val="102B46"/>
          </a:solidFill>
          <a:ln>
            <a:solidFill>
              <a:srgbClr val="315B7B">
                <a:alpha val="75000"/>
              </a:srgbClr>
            </a:solidFill>
          </a:ln>
        </p:spPr>
        <p:txBody>
          <a:bodyPr wrap="square" lIns="699" tIns="699" rIns="699" bIns="699" rtlCol="0" anchor="ctr">
            <a:normAutofit/>
          </a:bodyPr>
          <a:lstStyle/>
          <a:p>
            <a:pPr marL="0" indent="0">
              <a:buNone/>
            </a:pPr>
            <a:r>
              <a:rPr lang="en-US" sz="1250" dirty="0">
                <a:solidFill>
                  <a:srgbClr val="F6FAFF"/>
                </a:solidFill>
                <a:latin typeface="Aptos" pitchFamily="34" charset="0"/>
                <a:ea typeface="Aptos" pitchFamily="34" charset="-122"/>
                <a:cs typeface="Aptos" pitchFamily="34" charset="-120"/>
              </a:rPr>
              <a:t>Họ tên</a:t>
            </a:r>
            <a:endParaRPr lang="en-US" sz="1250" dirty="0"/>
          </a:p>
        </p:txBody>
      </p:sp>
      <p:sp>
        <p:nvSpPr>
          <p:cNvPr id="11" name="Text 9"/>
          <p:cNvSpPr/>
          <p:nvPr/>
        </p:nvSpPr>
        <p:spPr>
          <a:xfrm>
            <a:off x="4380738" y="1980438"/>
            <a:ext cx="3491484" cy="633984"/>
          </a:xfrm>
          <a:prstGeom prst="rect">
            <a:avLst/>
          </a:prstGeom>
          <a:solidFill>
            <a:srgbClr val="102B46"/>
          </a:solidFill>
          <a:ln>
            <a:solidFill>
              <a:srgbClr val="315B7B">
                <a:alpha val="75000"/>
              </a:srgbClr>
            </a:solidFill>
          </a:ln>
        </p:spPr>
        <p:txBody>
          <a:bodyPr wrap="square" lIns="699" tIns="699" rIns="699" bIns="699" rtlCol="0" anchor="ctr">
            <a:normAutofit/>
          </a:bodyPr>
          <a:lstStyle/>
          <a:p>
            <a:pPr marL="0" indent="0">
              <a:buNone/>
            </a:pPr>
            <a:r>
              <a:rPr lang="en-US" sz="1250" dirty="0">
                <a:solidFill>
                  <a:srgbClr val="F6FAFF"/>
                </a:solidFill>
                <a:latin typeface="Aptos" pitchFamily="34" charset="0"/>
                <a:ea typeface="Aptos" pitchFamily="34" charset="-122"/>
                <a:cs typeface="Aptos" pitchFamily="34" charset="-120"/>
              </a:rPr>
              <a:t>Bình thường</a:t>
            </a:r>
            <a:endParaRPr lang="en-US" sz="1250" dirty="0"/>
          </a:p>
        </p:txBody>
      </p:sp>
      <p:sp>
        <p:nvSpPr>
          <p:cNvPr id="12" name="Text 10"/>
          <p:cNvSpPr/>
          <p:nvPr/>
        </p:nvSpPr>
        <p:spPr>
          <a:xfrm>
            <a:off x="7885938" y="1980438"/>
            <a:ext cx="3491484" cy="633984"/>
          </a:xfrm>
          <a:prstGeom prst="rect">
            <a:avLst/>
          </a:prstGeom>
          <a:solidFill>
            <a:srgbClr val="102B46"/>
          </a:solidFill>
          <a:ln>
            <a:solidFill>
              <a:srgbClr val="315B7B">
                <a:alpha val="75000"/>
              </a:srgbClr>
            </a:solidFill>
          </a:ln>
        </p:spPr>
        <p:txBody>
          <a:bodyPr wrap="square" lIns="699" tIns="699" rIns="699" bIns="699" rtlCol="0" anchor="ctr">
            <a:normAutofit/>
          </a:bodyPr>
          <a:lstStyle/>
          <a:p>
            <a:pPr marL="0" indent="0">
              <a:buNone/>
            </a:pPr>
            <a:r>
              <a:rPr lang="en-US" sz="1250" dirty="0">
                <a:solidFill>
                  <a:srgbClr val="F6FAFF"/>
                </a:solidFill>
                <a:latin typeface="Aptos" pitchFamily="34" charset="0"/>
                <a:ea typeface="Aptos" pitchFamily="34" charset="-122"/>
                <a:cs typeface="Aptos" pitchFamily="34" charset="-120"/>
              </a:rPr>
              <a:t>Có thể lưu rõ</a:t>
            </a:r>
            <a:endParaRPr lang="en-US" sz="1250" dirty="0"/>
          </a:p>
        </p:txBody>
      </p:sp>
      <p:sp>
        <p:nvSpPr>
          <p:cNvPr id="13" name="Text 11"/>
          <p:cNvSpPr/>
          <p:nvPr/>
        </p:nvSpPr>
        <p:spPr>
          <a:xfrm>
            <a:off x="875538" y="2628138"/>
            <a:ext cx="3491484" cy="633984"/>
          </a:xfrm>
          <a:prstGeom prst="rect">
            <a:avLst/>
          </a:prstGeom>
          <a:solidFill>
            <a:srgbClr val="0E2843"/>
          </a:solidFill>
          <a:ln>
            <a:solidFill>
              <a:srgbClr val="315B7B">
                <a:alpha val="75000"/>
              </a:srgbClr>
            </a:solidFill>
          </a:ln>
        </p:spPr>
        <p:txBody>
          <a:bodyPr wrap="square" lIns="699" tIns="699" rIns="699" bIns="699" rtlCol="0" anchor="ctr">
            <a:normAutofit/>
          </a:bodyPr>
          <a:lstStyle/>
          <a:p>
            <a:pPr marL="0" indent="0">
              <a:buNone/>
            </a:pPr>
            <a:r>
              <a:rPr lang="en-US" sz="1250" dirty="0">
                <a:solidFill>
                  <a:srgbClr val="F6FAFF"/>
                </a:solidFill>
                <a:latin typeface="Aptos" pitchFamily="34" charset="0"/>
                <a:ea typeface="Aptos" pitchFamily="34" charset="-122"/>
                <a:cs typeface="Aptos" pitchFamily="34" charset="-120"/>
              </a:rPr>
              <a:t>CCCD/CMND</a:t>
            </a:r>
            <a:endParaRPr lang="en-US" sz="1250" dirty="0"/>
          </a:p>
        </p:txBody>
      </p:sp>
      <p:sp>
        <p:nvSpPr>
          <p:cNvPr id="14" name="Text 12"/>
          <p:cNvSpPr/>
          <p:nvPr/>
        </p:nvSpPr>
        <p:spPr>
          <a:xfrm>
            <a:off x="4380738" y="2628138"/>
            <a:ext cx="3491484" cy="633984"/>
          </a:xfrm>
          <a:prstGeom prst="rect">
            <a:avLst/>
          </a:prstGeom>
          <a:solidFill>
            <a:srgbClr val="0E2843"/>
          </a:solidFill>
          <a:ln>
            <a:solidFill>
              <a:srgbClr val="315B7B">
                <a:alpha val="75000"/>
              </a:srgbClr>
            </a:solidFill>
          </a:ln>
        </p:spPr>
        <p:txBody>
          <a:bodyPr wrap="square" lIns="699" tIns="699" rIns="699" bIns="699" rtlCol="0" anchor="ctr">
            <a:normAutofit/>
          </a:bodyPr>
          <a:lstStyle/>
          <a:p>
            <a:pPr marL="0" indent="0">
              <a:buNone/>
            </a:pPr>
            <a:r>
              <a:rPr lang="en-US" sz="1250" dirty="0">
                <a:solidFill>
                  <a:srgbClr val="F6FAFF"/>
                </a:solidFill>
                <a:latin typeface="Aptos" pitchFamily="34" charset="0"/>
                <a:ea typeface="Aptos" pitchFamily="34" charset="-122"/>
                <a:cs typeface="Aptos" pitchFamily="34" charset="-120"/>
              </a:rPr>
              <a:t>Rất nhạy cảm</a:t>
            </a:r>
            <a:endParaRPr lang="en-US" sz="1250" dirty="0"/>
          </a:p>
        </p:txBody>
      </p:sp>
      <p:sp>
        <p:nvSpPr>
          <p:cNvPr id="15" name="Text 13"/>
          <p:cNvSpPr/>
          <p:nvPr/>
        </p:nvSpPr>
        <p:spPr>
          <a:xfrm>
            <a:off x="7885938" y="2628138"/>
            <a:ext cx="3491484" cy="633984"/>
          </a:xfrm>
          <a:prstGeom prst="rect">
            <a:avLst/>
          </a:prstGeom>
          <a:solidFill>
            <a:srgbClr val="0E2843"/>
          </a:solidFill>
          <a:ln>
            <a:solidFill>
              <a:srgbClr val="315B7B">
                <a:alpha val="75000"/>
              </a:srgbClr>
            </a:solidFill>
          </a:ln>
        </p:spPr>
        <p:txBody>
          <a:bodyPr wrap="square" lIns="699" tIns="699" rIns="699" bIns="699" rtlCol="0" anchor="ctr">
            <a:normAutofit/>
          </a:bodyPr>
          <a:lstStyle/>
          <a:p>
            <a:pPr marL="0" indent="0">
              <a:buNone/>
            </a:pPr>
            <a:r>
              <a:rPr lang="en-US" sz="1250" dirty="0">
                <a:solidFill>
                  <a:srgbClr val="F6FAFF"/>
                </a:solidFill>
                <a:latin typeface="Aptos" pitchFamily="34" charset="0"/>
                <a:ea typeface="Aptos" pitchFamily="34" charset="-122"/>
                <a:cs typeface="Aptos" pitchFamily="34" charset="-120"/>
              </a:rPr>
              <a:t>Mã hóa Triple DES</a:t>
            </a:r>
            <a:endParaRPr lang="en-US" sz="1250" dirty="0"/>
          </a:p>
        </p:txBody>
      </p:sp>
      <p:sp>
        <p:nvSpPr>
          <p:cNvPr id="16" name="Text 14"/>
          <p:cNvSpPr/>
          <p:nvPr/>
        </p:nvSpPr>
        <p:spPr>
          <a:xfrm>
            <a:off x="875538" y="3275838"/>
            <a:ext cx="3491484" cy="633984"/>
          </a:xfrm>
          <a:prstGeom prst="rect">
            <a:avLst/>
          </a:prstGeom>
          <a:solidFill>
            <a:srgbClr val="102B46"/>
          </a:solidFill>
          <a:ln>
            <a:solidFill>
              <a:srgbClr val="315B7B">
                <a:alpha val="75000"/>
              </a:srgbClr>
            </a:solidFill>
          </a:ln>
        </p:spPr>
        <p:txBody>
          <a:bodyPr wrap="square" lIns="699" tIns="699" rIns="699" bIns="699" rtlCol="0" anchor="ctr">
            <a:normAutofit/>
          </a:bodyPr>
          <a:lstStyle/>
          <a:p>
            <a:pPr marL="0" indent="0">
              <a:buNone/>
            </a:pPr>
            <a:r>
              <a:rPr lang="en-US" sz="1250" dirty="0">
                <a:solidFill>
                  <a:srgbClr val="F6FAFF"/>
                </a:solidFill>
                <a:latin typeface="Aptos" pitchFamily="34" charset="0"/>
                <a:ea typeface="Aptos" pitchFamily="34" charset="-122"/>
                <a:cs typeface="Aptos" pitchFamily="34" charset="-120"/>
              </a:rPr>
              <a:t>Số BHXH</a:t>
            </a:r>
            <a:endParaRPr lang="en-US" sz="1250" dirty="0"/>
          </a:p>
        </p:txBody>
      </p:sp>
      <p:sp>
        <p:nvSpPr>
          <p:cNvPr id="17" name="Text 15"/>
          <p:cNvSpPr/>
          <p:nvPr/>
        </p:nvSpPr>
        <p:spPr>
          <a:xfrm>
            <a:off x="4380738" y="3275838"/>
            <a:ext cx="3491484" cy="633984"/>
          </a:xfrm>
          <a:prstGeom prst="rect">
            <a:avLst/>
          </a:prstGeom>
          <a:solidFill>
            <a:srgbClr val="102B46"/>
          </a:solidFill>
          <a:ln>
            <a:solidFill>
              <a:srgbClr val="315B7B">
                <a:alpha val="75000"/>
              </a:srgbClr>
            </a:solidFill>
          </a:ln>
        </p:spPr>
        <p:txBody>
          <a:bodyPr wrap="square" lIns="699" tIns="699" rIns="699" bIns="699" rtlCol="0" anchor="ctr">
            <a:normAutofit/>
          </a:bodyPr>
          <a:lstStyle/>
          <a:p>
            <a:pPr marL="0" indent="0">
              <a:buNone/>
            </a:pPr>
            <a:r>
              <a:rPr lang="en-US" sz="1250" dirty="0">
                <a:solidFill>
                  <a:srgbClr val="F6FAFF"/>
                </a:solidFill>
                <a:latin typeface="Aptos" pitchFamily="34" charset="0"/>
                <a:ea typeface="Aptos" pitchFamily="34" charset="-122"/>
                <a:cs typeface="Aptos" pitchFamily="34" charset="-120"/>
              </a:rPr>
              <a:t>Rất nhạy cảm</a:t>
            </a:r>
            <a:endParaRPr lang="en-US" sz="1250" dirty="0"/>
          </a:p>
        </p:txBody>
      </p:sp>
      <p:sp>
        <p:nvSpPr>
          <p:cNvPr id="18" name="Text 16"/>
          <p:cNvSpPr/>
          <p:nvPr/>
        </p:nvSpPr>
        <p:spPr>
          <a:xfrm>
            <a:off x="7885938" y="3275838"/>
            <a:ext cx="3491484" cy="633984"/>
          </a:xfrm>
          <a:prstGeom prst="rect">
            <a:avLst/>
          </a:prstGeom>
          <a:solidFill>
            <a:srgbClr val="102B46"/>
          </a:solidFill>
          <a:ln>
            <a:solidFill>
              <a:srgbClr val="315B7B">
                <a:alpha val="75000"/>
              </a:srgbClr>
            </a:solidFill>
          </a:ln>
        </p:spPr>
        <p:txBody>
          <a:bodyPr wrap="square" lIns="699" tIns="699" rIns="699" bIns="699" rtlCol="0" anchor="ctr">
            <a:normAutofit/>
          </a:bodyPr>
          <a:lstStyle/>
          <a:p>
            <a:pPr marL="0" indent="0">
              <a:buNone/>
            </a:pPr>
            <a:r>
              <a:rPr lang="en-US" sz="1250" dirty="0">
                <a:solidFill>
                  <a:srgbClr val="F6FAFF"/>
                </a:solidFill>
                <a:latin typeface="Aptos" pitchFamily="34" charset="0"/>
                <a:ea typeface="Aptos" pitchFamily="34" charset="-122"/>
                <a:cs typeface="Aptos" pitchFamily="34" charset="-120"/>
              </a:rPr>
              <a:t>Mã hóa AES-256</a:t>
            </a:r>
            <a:endParaRPr lang="en-US" sz="1250" dirty="0"/>
          </a:p>
        </p:txBody>
      </p:sp>
      <p:sp>
        <p:nvSpPr>
          <p:cNvPr id="19" name="Text 17"/>
          <p:cNvSpPr/>
          <p:nvPr/>
        </p:nvSpPr>
        <p:spPr>
          <a:xfrm>
            <a:off x="875538" y="3923538"/>
            <a:ext cx="3491484" cy="633984"/>
          </a:xfrm>
          <a:prstGeom prst="rect">
            <a:avLst/>
          </a:prstGeom>
          <a:solidFill>
            <a:srgbClr val="0E2843"/>
          </a:solidFill>
          <a:ln>
            <a:solidFill>
              <a:srgbClr val="315B7B">
                <a:alpha val="75000"/>
              </a:srgbClr>
            </a:solidFill>
          </a:ln>
        </p:spPr>
        <p:txBody>
          <a:bodyPr wrap="square" lIns="699" tIns="699" rIns="699" bIns="699" rtlCol="0" anchor="ctr">
            <a:normAutofit/>
          </a:bodyPr>
          <a:lstStyle/>
          <a:p>
            <a:pPr marL="0" indent="0">
              <a:buNone/>
            </a:pPr>
            <a:r>
              <a:rPr lang="en-US" sz="1250" dirty="0">
                <a:solidFill>
                  <a:srgbClr val="F6FAFF"/>
                </a:solidFill>
                <a:latin typeface="Aptos" pitchFamily="34" charset="0"/>
                <a:ea typeface="Aptos" pitchFamily="34" charset="-122"/>
                <a:cs typeface="Aptos" pitchFamily="34" charset="-120"/>
              </a:rPr>
              <a:t>Số tài khoản</a:t>
            </a:r>
            <a:endParaRPr lang="en-US" sz="1250" dirty="0"/>
          </a:p>
        </p:txBody>
      </p:sp>
      <p:sp>
        <p:nvSpPr>
          <p:cNvPr id="20" name="Text 18"/>
          <p:cNvSpPr/>
          <p:nvPr/>
        </p:nvSpPr>
        <p:spPr>
          <a:xfrm>
            <a:off x="4380738" y="3923538"/>
            <a:ext cx="3491484" cy="633984"/>
          </a:xfrm>
          <a:prstGeom prst="rect">
            <a:avLst/>
          </a:prstGeom>
          <a:solidFill>
            <a:srgbClr val="0E2843"/>
          </a:solidFill>
          <a:ln>
            <a:solidFill>
              <a:srgbClr val="315B7B">
                <a:alpha val="75000"/>
              </a:srgbClr>
            </a:solidFill>
          </a:ln>
        </p:spPr>
        <p:txBody>
          <a:bodyPr wrap="square" lIns="699" tIns="699" rIns="699" bIns="699" rtlCol="0" anchor="ctr">
            <a:normAutofit/>
          </a:bodyPr>
          <a:lstStyle/>
          <a:p>
            <a:pPr marL="0" indent="0">
              <a:buNone/>
            </a:pPr>
            <a:r>
              <a:rPr lang="en-US" sz="1250" dirty="0">
                <a:solidFill>
                  <a:srgbClr val="F6FAFF"/>
                </a:solidFill>
                <a:latin typeface="Aptos" pitchFamily="34" charset="0"/>
                <a:ea typeface="Aptos" pitchFamily="34" charset="-122"/>
                <a:cs typeface="Aptos" pitchFamily="34" charset="-120"/>
              </a:rPr>
              <a:t>Rất nhạy cảm</a:t>
            </a:r>
            <a:endParaRPr lang="en-US" sz="1250" dirty="0"/>
          </a:p>
        </p:txBody>
      </p:sp>
      <p:sp>
        <p:nvSpPr>
          <p:cNvPr id="21" name="Text 19"/>
          <p:cNvSpPr/>
          <p:nvPr/>
        </p:nvSpPr>
        <p:spPr>
          <a:xfrm>
            <a:off x="7885938" y="3923538"/>
            <a:ext cx="3491484" cy="633984"/>
          </a:xfrm>
          <a:prstGeom prst="rect">
            <a:avLst/>
          </a:prstGeom>
          <a:solidFill>
            <a:srgbClr val="0E2843"/>
          </a:solidFill>
          <a:ln>
            <a:solidFill>
              <a:srgbClr val="315B7B">
                <a:alpha val="75000"/>
              </a:srgbClr>
            </a:solidFill>
          </a:ln>
        </p:spPr>
        <p:txBody>
          <a:bodyPr wrap="square" lIns="699" tIns="699" rIns="699" bIns="699" rtlCol="0" anchor="ctr">
            <a:normAutofit/>
          </a:bodyPr>
          <a:lstStyle/>
          <a:p>
            <a:pPr marL="0" indent="0">
              <a:buNone/>
            </a:pPr>
            <a:r>
              <a:rPr lang="en-US" sz="1250" dirty="0">
                <a:solidFill>
                  <a:srgbClr val="F6FAFF"/>
                </a:solidFill>
                <a:latin typeface="Aptos" pitchFamily="34" charset="0"/>
                <a:ea typeface="Aptos" pitchFamily="34" charset="-122"/>
                <a:cs typeface="Aptos" pitchFamily="34" charset="-120"/>
              </a:rPr>
              <a:t>Mã hóa AES-256</a:t>
            </a:r>
            <a:endParaRPr lang="en-US" sz="1250" dirty="0"/>
          </a:p>
        </p:txBody>
      </p:sp>
      <p:sp>
        <p:nvSpPr>
          <p:cNvPr id="22" name="Text 20"/>
          <p:cNvSpPr/>
          <p:nvPr/>
        </p:nvSpPr>
        <p:spPr>
          <a:xfrm>
            <a:off x="875538" y="4571238"/>
            <a:ext cx="3491484" cy="633984"/>
          </a:xfrm>
          <a:prstGeom prst="rect">
            <a:avLst/>
          </a:prstGeom>
          <a:solidFill>
            <a:srgbClr val="102B46"/>
          </a:solidFill>
          <a:ln>
            <a:solidFill>
              <a:srgbClr val="315B7B">
                <a:alpha val="75000"/>
              </a:srgbClr>
            </a:solidFill>
          </a:ln>
        </p:spPr>
        <p:txBody>
          <a:bodyPr wrap="square" lIns="699" tIns="699" rIns="699" bIns="699" rtlCol="0" anchor="ctr">
            <a:normAutofit/>
          </a:bodyPr>
          <a:lstStyle/>
          <a:p>
            <a:pPr marL="0" indent="0">
              <a:buNone/>
            </a:pPr>
            <a:r>
              <a:rPr lang="en-US" sz="1250" dirty="0">
                <a:solidFill>
                  <a:srgbClr val="F6FAFF"/>
                </a:solidFill>
                <a:latin typeface="Aptos" pitchFamily="34" charset="0"/>
                <a:ea typeface="Aptos" pitchFamily="34" charset="-122"/>
                <a:cs typeface="Aptos" pitchFamily="34" charset="-120"/>
              </a:rPr>
              <a:t>Địa chỉ</a:t>
            </a:r>
            <a:endParaRPr lang="en-US" sz="1250" dirty="0"/>
          </a:p>
        </p:txBody>
      </p:sp>
      <p:sp>
        <p:nvSpPr>
          <p:cNvPr id="23" name="Text 21"/>
          <p:cNvSpPr/>
          <p:nvPr/>
        </p:nvSpPr>
        <p:spPr>
          <a:xfrm>
            <a:off x="4380738" y="4571238"/>
            <a:ext cx="3491484" cy="633984"/>
          </a:xfrm>
          <a:prstGeom prst="rect">
            <a:avLst/>
          </a:prstGeom>
          <a:solidFill>
            <a:srgbClr val="102B46"/>
          </a:solidFill>
          <a:ln>
            <a:solidFill>
              <a:srgbClr val="315B7B">
                <a:alpha val="75000"/>
              </a:srgbClr>
            </a:solidFill>
          </a:ln>
        </p:spPr>
        <p:txBody>
          <a:bodyPr wrap="square" lIns="699" tIns="699" rIns="699" bIns="699" rtlCol="0" anchor="ctr">
            <a:normAutofit/>
          </a:bodyPr>
          <a:lstStyle/>
          <a:p>
            <a:pPr marL="0" indent="0">
              <a:buNone/>
            </a:pPr>
            <a:r>
              <a:rPr lang="en-US" sz="1250" dirty="0">
                <a:solidFill>
                  <a:srgbClr val="F6FAFF"/>
                </a:solidFill>
                <a:latin typeface="Aptos" pitchFamily="34" charset="0"/>
                <a:ea typeface="Aptos" pitchFamily="34" charset="-122"/>
                <a:cs typeface="Aptos" pitchFamily="34" charset="-120"/>
              </a:rPr>
              <a:t>Nhạy cảm</a:t>
            </a:r>
            <a:endParaRPr lang="en-US" sz="1250" dirty="0"/>
          </a:p>
        </p:txBody>
      </p:sp>
      <p:sp>
        <p:nvSpPr>
          <p:cNvPr id="24" name="Text 22"/>
          <p:cNvSpPr/>
          <p:nvPr/>
        </p:nvSpPr>
        <p:spPr>
          <a:xfrm>
            <a:off x="7885938" y="4571238"/>
            <a:ext cx="3491484" cy="633984"/>
          </a:xfrm>
          <a:prstGeom prst="rect">
            <a:avLst/>
          </a:prstGeom>
          <a:solidFill>
            <a:srgbClr val="102B46"/>
          </a:solidFill>
          <a:ln>
            <a:solidFill>
              <a:srgbClr val="315B7B">
                <a:alpha val="75000"/>
              </a:srgbClr>
            </a:solidFill>
          </a:ln>
        </p:spPr>
        <p:txBody>
          <a:bodyPr wrap="square" lIns="699" tIns="699" rIns="699" bIns="699" rtlCol="0" anchor="ctr">
            <a:normAutofit/>
          </a:bodyPr>
          <a:lstStyle/>
          <a:p>
            <a:pPr marL="0" indent="0">
              <a:buNone/>
            </a:pPr>
            <a:r>
              <a:rPr lang="en-US" sz="1250" dirty="0">
                <a:solidFill>
                  <a:srgbClr val="F6FAFF"/>
                </a:solidFill>
                <a:latin typeface="Aptos" pitchFamily="34" charset="0"/>
                <a:ea typeface="Aptos" pitchFamily="34" charset="-122"/>
                <a:cs typeface="Aptos" pitchFamily="34" charset="-120"/>
              </a:rPr>
              <a:t>Mã hóa AES-256</a:t>
            </a:r>
            <a:endParaRPr lang="en-US" sz="1250" dirty="0"/>
          </a:p>
        </p:txBody>
      </p:sp>
      <p:sp>
        <p:nvSpPr>
          <p:cNvPr id="25" name="Text 23"/>
          <p:cNvSpPr/>
          <p:nvPr/>
        </p:nvSpPr>
        <p:spPr>
          <a:xfrm>
            <a:off x="1005840" y="5486400"/>
            <a:ext cx="10149840" cy="502920"/>
          </a:xfrm>
          <a:prstGeom prst="rect">
            <a:avLst/>
          </a:prstGeom>
          <a:solidFill>
            <a:srgbClr val="102B46"/>
          </a:solidFill>
          <a:ln>
            <a:solidFill>
              <a:srgbClr val="2A6F9A">
                <a:alpha val="75000"/>
              </a:srgbClr>
            </a:solidFill>
          </a:ln>
        </p:spPr>
        <p:txBody>
          <a:bodyPr wrap="square" lIns="1905" tIns="1905" rIns="1905" bIns="1905" rtlCol="0" anchor="ctr">
            <a:normAutofit/>
          </a:bodyPr>
          <a:lstStyle/>
          <a:p>
            <a:pPr marL="0" indent="0">
              <a:buNone/>
            </a:pPr>
            <a:r>
              <a:rPr lang="en-US" sz="1300" b="1" dirty="0">
                <a:solidFill>
                  <a:srgbClr val="FFB347"/>
                </a:solidFill>
                <a:latin typeface="Aptos" pitchFamily="34" charset="0"/>
                <a:ea typeface="Aptos" pitchFamily="34" charset="-122"/>
                <a:cs typeface="Aptos" pitchFamily="34" charset="-120"/>
              </a:rPr>
              <a:t>Nguyên tắc
</a:t>
            </a:r>
            <a:r>
              <a:rPr lang="en-US" sz="1250" dirty="0">
                <a:solidFill>
                  <a:srgbClr val="B8C7D9"/>
                </a:solidFill>
                <a:latin typeface="Aptos" pitchFamily="34" charset="0"/>
                <a:ea typeface="Aptos" pitchFamily="34" charset="-122"/>
                <a:cs typeface="Aptos" pitchFamily="34" charset="-120"/>
              </a:rPr>
              <a:t>Dữ liệu càng nhạy cảm thì càng cần mã hóa trước khi lưu vào database.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071626"/>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2EE6E6">
              <a:alpha val="90000"/>
            </a:srgbClr>
          </a:solidFill>
          <a:ln w="12700">
            <a:solidFill>
              <a:srgbClr val="2EE6E6">
                <a:alpha val="0"/>
              </a:srgbClr>
            </a:solidFill>
            <a:prstDash val="solid"/>
          </a:ln>
        </p:spPr>
      </p:sp>
      <p:sp>
        <p:nvSpPr>
          <p:cNvPr id="3" name="Shape 1"/>
          <p:cNvSpPr/>
          <p:nvPr/>
        </p:nvSpPr>
        <p:spPr>
          <a:xfrm>
            <a:off x="0" y="6748272"/>
            <a:ext cx="12191695" cy="109728"/>
          </a:xfrm>
          <a:prstGeom prst="rect">
            <a:avLst/>
          </a:prstGeom>
          <a:solidFill>
            <a:srgbClr val="2EE6E6">
              <a:alpha val="70000"/>
            </a:srgbClr>
          </a:solidFill>
          <a:ln w="12700">
            <a:solidFill>
              <a:srgbClr val="2EE6E6">
                <a:alpha val="0"/>
              </a:srgbClr>
            </a:solidFill>
            <a:prstDash val="solid"/>
          </a:ln>
        </p:spPr>
      </p:sp>
      <p:sp>
        <p:nvSpPr>
          <p:cNvPr id="4" name="Text 2"/>
          <p:cNvSpPr/>
          <p:nvPr/>
        </p:nvSpPr>
        <p:spPr>
          <a:xfrm>
            <a:off x="502920" y="320040"/>
            <a:ext cx="8778240" cy="420624"/>
          </a:xfrm>
          <a:prstGeom prst="rect">
            <a:avLst/>
          </a:prstGeom>
          <a:noFill/>
          <a:ln/>
        </p:spPr>
        <p:txBody>
          <a:bodyPr wrap="square" lIns="254" tIns="254" rIns="254" bIns="254" rtlCol="0" anchor="ctr">
            <a:normAutofit/>
          </a:bodyPr>
          <a:lstStyle/>
          <a:p>
            <a:pPr marL="0" indent="0">
              <a:buNone/>
            </a:pPr>
            <a:r>
              <a:rPr lang="en-US" sz="2500" b="1" dirty="0">
                <a:solidFill>
                  <a:srgbClr val="F6FAFF"/>
                </a:solidFill>
                <a:latin typeface="Aptos Display" pitchFamily="34" charset="0"/>
                <a:ea typeface="Aptos Display" pitchFamily="34" charset="-122"/>
                <a:cs typeface="Aptos Display" pitchFamily="34" charset="-120"/>
              </a:rPr>
              <a:t>Khái niệm mã hóa dữ liệu</a:t>
            </a:r>
            <a:endParaRPr lang="en-US" sz="2500" dirty="0"/>
          </a:p>
        </p:txBody>
      </p:sp>
      <p:sp>
        <p:nvSpPr>
          <p:cNvPr id="5" name="Text 3"/>
          <p:cNvSpPr/>
          <p:nvPr/>
        </p:nvSpPr>
        <p:spPr>
          <a:xfrm>
            <a:off x="530352" y="795528"/>
            <a:ext cx="8046720" cy="219456"/>
          </a:xfrm>
          <a:prstGeom prst="rect">
            <a:avLst/>
          </a:prstGeom>
          <a:noFill/>
          <a:ln/>
        </p:spPr>
        <p:txBody>
          <a:bodyPr wrap="square" lIns="127" tIns="127" rIns="127" bIns="127" rtlCol="0" anchor="ctr">
            <a:normAutofit/>
          </a:bodyPr>
          <a:lstStyle/>
          <a:p>
            <a:pPr marL="0" indent="0">
              <a:buNone/>
            </a:pPr>
            <a:r>
              <a:rPr lang="en-US" sz="950" dirty="0">
                <a:solidFill>
                  <a:srgbClr val="B8C7D9"/>
                </a:solidFill>
              </a:rPr>
              <a:t>Mã hóa biến dữ liệu đọc được thành dữ liệu không đọc được nếu không có khóa.</a:t>
            </a:r>
            <a:endParaRPr lang="en-US" sz="950" dirty="0"/>
          </a:p>
        </p:txBody>
      </p:sp>
      <p:sp>
        <p:nvSpPr>
          <p:cNvPr id="6" name="Text 4"/>
          <p:cNvSpPr/>
          <p:nvPr/>
        </p:nvSpPr>
        <p:spPr>
          <a:xfrm>
            <a:off x="502920" y="6528816"/>
            <a:ext cx="6583680" cy="164592"/>
          </a:xfrm>
          <a:prstGeom prst="rect">
            <a:avLst/>
          </a:prstGeom>
          <a:noFill/>
          <a:ln/>
        </p:spPr>
        <p:txBody>
          <a:bodyPr wrap="square" lIns="0" tIns="0" rIns="0" bIns="0" rtlCol="0" anchor="ctr">
            <a:normAutofit/>
          </a:bodyPr>
          <a:lstStyle/>
          <a:p>
            <a:pPr marL="0" indent="0">
              <a:buNone/>
            </a:pPr>
            <a:r>
              <a:rPr lang="en-US" sz="750" dirty="0">
                <a:solidFill>
                  <a:srgbClr val="B8C7D9"/>
                </a:solidFill>
              </a:rPr>
              <a:t>Đề tài 22 · Triple DES &amp; AES · 06</a:t>
            </a:r>
            <a:endParaRPr lang="en-US" sz="750" dirty="0"/>
          </a:p>
        </p:txBody>
      </p:sp>
      <p:pic>
        <p:nvPicPr>
          <p:cNvPr id="7" name="Image 0" descr="/mnt/data/a_clean_futuristic_vector_style_infographic_illus_batch_2.png"/>
          <p:cNvPicPr>
            <a:picLocks noChangeAspect="1"/>
          </p:cNvPicPr>
          <p:nvPr/>
        </p:nvPicPr>
        <p:blipFill>
          <a:blip r:embed="rId3"/>
          <a:srcRect t="27413" b="27413"/>
          <a:stretch/>
        </p:blipFill>
        <p:spPr>
          <a:xfrm>
            <a:off x="731520" y="1143000"/>
            <a:ext cx="10789920" cy="2743200"/>
          </a:xfrm>
          <a:prstGeom prst="rect">
            <a:avLst/>
          </a:prstGeom>
        </p:spPr>
      </p:pic>
      <p:sp>
        <p:nvSpPr>
          <p:cNvPr id="8" name="Text 5"/>
          <p:cNvSpPr/>
          <p:nvPr/>
        </p:nvSpPr>
        <p:spPr>
          <a:xfrm>
            <a:off x="731520" y="4434840"/>
            <a:ext cx="3429000" cy="777240"/>
          </a:xfrm>
          <a:prstGeom prst="rect">
            <a:avLst/>
          </a:prstGeom>
          <a:solidFill>
            <a:srgbClr val="102B46"/>
          </a:solidFill>
          <a:ln>
            <a:solidFill>
              <a:srgbClr val="2A6F9A">
                <a:alpha val="75000"/>
              </a:srgbClr>
            </a:solidFill>
          </a:ln>
        </p:spPr>
        <p:txBody>
          <a:bodyPr wrap="square" lIns="1905" tIns="1905" rIns="1905" bIns="1905" rtlCol="0" anchor="ctr">
            <a:normAutofit/>
          </a:bodyPr>
          <a:lstStyle/>
          <a:p>
            <a:pPr marL="0" indent="0">
              <a:buNone/>
            </a:pPr>
            <a:r>
              <a:rPr lang="en-US" sz="1400" b="1" dirty="0">
                <a:solidFill>
                  <a:srgbClr val="2EE6E6"/>
                </a:solidFill>
                <a:latin typeface="Aptos" pitchFamily="34" charset="0"/>
                <a:ea typeface="Aptos" pitchFamily="34" charset="-122"/>
                <a:cs typeface="Aptos" pitchFamily="34" charset="-120"/>
              </a:rPr>
              <a:t> Plaintext
 </a:t>
            </a:r>
            <a:r>
              <a:rPr lang="en-US" sz="1150" dirty="0" err="1">
                <a:solidFill>
                  <a:srgbClr val="B8C7D9"/>
                </a:solidFill>
                <a:latin typeface="Aptos" pitchFamily="34" charset="0"/>
                <a:ea typeface="Aptos" pitchFamily="34" charset="-122"/>
                <a:cs typeface="Aptos" pitchFamily="34" charset="-120"/>
              </a:rPr>
              <a:t>Dữ</a:t>
            </a:r>
            <a:r>
              <a:rPr lang="en-US" sz="1150" dirty="0">
                <a:solidFill>
                  <a:srgbClr val="B8C7D9"/>
                </a:solidFill>
                <a:latin typeface="Aptos" pitchFamily="34" charset="0"/>
                <a:ea typeface="Aptos" pitchFamily="34" charset="-122"/>
                <a:cs typeface="Aptos" pitchFamily="34" charset="-120"/>
              </a:rPr>
              <a:t> liệu gốc, ví dụ: 012345678901</a:t>
            </a:r>
            <a:endParaRPr lang="en-US" sz="1400" dirty="0"/>
          </a:p>
        </p:txBody>
      </p:sp>
      <p:sp>
        <p:nvSpPr>
          <p:cNvPr id="9" name="Text 6"/>
          <p:cNvSpPr/>
          <p:nvPr/>
        </p:nvSpPr>
        <p:spPr>
          <a:xfrm>
            <a:off x="4572000" y="4434840"/>
            <a:ext cx="3429000" cy="777240"/>
          </a:xfrm>
          <a:prstGeom prst="rect">
            <a:avLst/>
          </a:prstGeom>
          <a:solidFill>
            <a:srgbClr val="102B46"/>
          </a:solidFill>
          <a:ln>
            <a:solidFill>
              <a:srgbClr val="2A6F9A">
                <a:alpha val="75000"/>
              </a:srgbClr>
            </a:solidFill>
          </a:ln>
        </p:spPr>
        <p:txBody>
          <a:bodyPr wrap="square" lIns="1905" tIns="1905" rIns="1905" bIns="1905" rtlCol="0" anchor="ctr">
            <a:normAutofit/>
          </a:bodyPr>
          <a:lstStyle/>
          <a:p>
            <a:pPr marL="0" indent="0">
              <a:buNone/>
            </a:pPr>
            <a:r>
              <a:rPr lang="en-US" sz="1400" b="1" dirty="0">
                <a:solidFill>
                  <a:srgbClr val="FFB347"/>
                </a:solidFill>
                <a:latin typeface="Aptos" pitchFamily="34" charset="0"/>
                <a:ea typeface="Aptos" pitchFamily="34" charset="-122"/>
                <a:cs typeface="Aptos" pitchFamily="34" charset="-120"/>
              </a:rPr>
              <a:t> Ciphertext
 </a:t>
            </a:r>
            <a:r>
              <a:rPr lang="en-US" sz="1150" dirty="0" err="1">
                <a:solidFill>
                  <a:srgbClr val="B8C7D9"/>
                </a:solidFill>
                <a:latin typeface="Aptos" pitchFamily="34" charset="0"/>
                <a:ea typeface="Aptos" pitchFamily="34" charset="-122"/>
                <a:cs typeface="Aptos" pitchFamily="34" charset="-120"/>
              </a:rPr>
              <a:t>Dữ</a:t>
            </a:r>
            <a:r>
              <a:rPr lang="en-US" sz="1150" dirty="0">
                <a:solidFill>
                  <a:srgbClr val="B8C7D9"/>
                </a:solidFill>
                <a:latin typeface="Aptos" pitchFamily="34" charset="0"/>
                <a:ea typeface="Aptos" pitchFamily="34" charset="-122"/>
                <a:cs typeface="Aptos" pitchFamily="34" charset="-120"/>
              </a:rPr>
              <a:t> liệu sau mã hóa, ví dụ: a8F3x...</a:t>
            </a:r>
            <a:endParaRPr lang="en-US" sz="1400" dirty="0"/>
          </a:p>
        </p:txBody>
      </p:sp>
      <p:sp>
        <p:nvSpPr>
          <p:cNvPr id="10" name="Text 7"/>
          <p:cNvSpPr/>
          <p:nvPr/>
        </p:nvSpPr>
        <p:spPr>
          <a:xfrm>
            <a:off x="8412480" y="4434840"/>
            <a:ext cx="3429000" cy="777240"/>
          </a:xfrm>
          <a:prstGeom prst="rect">
            <a:avLst/>
          </a:prstGeom>
          <a:solidFill>
            <a:srgbClr val="102B46"/>
          </a:solidFill>
          <a:ln>
            <a:solidFill>
              <a:srgbClr val="2A6F9A">
                <a:alpha val="75000"/>
              </a:srgbClr>
            </a:solidFill>
          </a:ln>
        </p:spPr>
        <p:txBody>
          <a:bodyPr wrap="square" lIns="1905" tIns="1905" rIns="1905" bIns="1905" rtlCol="0" anchor="ctr">
            <a:normAutofit/>
          </a:bodyPr>
          <a:lstStyle/>
          <a:p>
            <a:pPr marL="0" indent="0">
              <a:buNone/>
            </a:pPr>
            <a:r>
              <a:rPr lang="en-US" sz="1400" b="1" dirty="0">
                <a:solidFill>
                  <a:srgbClr val="63D471"/>
                </a:solidFill>
                <a:latin typeface="Aptos" pitchFamily="34" charset="0"/>
                <a:ea typeface="Aptos" pitchFamily="34" charset="-122"/>
                <a:cs typeface="Aptos" pitchFamily="34" charset="-120"/>
              </a:rPr>
              <a:t> Key
 </a:t>
            </a:r>
            <a:r>
              <a:rPr lang="en-US" sz="1150" dirty="0" err="1">
                <a:solidFill>
                  <a:srgbClr val="B8C7D9"/>
                </a:solidFill>
                <a:latin typeface="Aptos" pitchFamily="34" charset="0"/>
                <a:ea typeface="Aptos" pitchFamily="34" charset="-122"/>
                <a:cs typeface="Aptos" pitchFamily="34" charset="-120"/>
              </a:rPr>
              <a:t>Khóa</a:t>
            </a:r>
            <a:r>
              <a:rPr lang="en-US" sz="1150" dirty="0">
                <a:solidFill>
                  <a:srgbClr val="B8C7D9"/>
                </a:solidFill>
                <a:latin typeface="Aptos" pitchFamily="34" charset="0"/>
                <a:ea typeface="Aptos" pitchFamily="34" charset="-122"/>
                <a:cs typeface="Aptos" pitchFamily="34" charset="-120"/>
              </a:rPr>
              <a:t> dùng để mã hóa và giải mã</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071626"/>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2EE6E6">
              <a:alpha val="90000"/>
            </a:srgbClr>
          </a:solidFill>
          <a:ln w="12700">
            <a:solidFill>
              <a:srgbClr val="2EE6E6">
                <a:alpha val="0"/>
              </a:srgbClr>
            </a:solidFill>
            <a:prstDash val="solid"/>
          </a:ln>
        </p:spPr>
      </p:sp>
      <p:sp>
        <p:nvSpPr>
          <p:cNvPr id="3" name="Shape 1"/>
          <p:cNvSpPr/>
          <p:nvPr/>
        </p:nvSpPr>
        <p:spPr>
          <a:xfrm>
            <a:off x="0" y="6748272"/>
            <a:ext cx="12191695" cy="109728"/>
          </a:xfrm>
          <a:prstGeom prst="rect">
            <a:avLst/>
          </a:prstGeom>
          <a:solidFill>
            <a:srgbClr val="2EE6E6">
              <a:alpha val="70000"/>
            </a:srgbClr>
          </a:solidFill>
          <a:ln w="12700">
            <a:solidFill>
              <a:srgbClr val="2EE6E6">
                <a:alpha val="0"/>
              </a:srgbClr>
            </a:solidFill>
            <a:prstDash val="solid"/>
          </a:ln>
        </p:spPr>
      </p:sp>
      <p:sp>
        <p:nvSpPr>
          <p:cNvPr id="4" name="Text 2"/>
          <p:cNvSpPr/>
          <p:nvPr/>
        </p:nvSpPr>
        <p:spPr>
          <a:xfrm>
            <a:off x="502920" y="320040"/>
            <a:ext cx="8778240" cy="420624"/>
          </a:xfrm>
          <a:prstGeom prst="rect">
            <a:avLst/>
          </a:prstGeom>
          <a:noFill/>
          <a:ln/>
        </p:spPr>
        <p:txBody>
          <a:bodyPr wrap="square" lIns="254" tIns="254" rIns="254" bIns="254" rtlCol="0" anchor="ctr">
            <a:normAutofit/>
          </a:bodyPr>
          <a:lstStyle/>
          <a:p>
            <a:pPr marL="0" indent="0">
              <a:buNone/>
            </a:pPr>
            <a:r>
              <a:rPr lang="en-US" sz="2500" b="1" dirty="0">
                <a:solidFill>
                  <a:srgbClr val="F6FAFF"/>
                </a:solidFill>
                <a:latin typeface="Aptos Display" pitchFamily="34" charset="0"/>
                <a:ea typeface="Aptos Display" pitchFamily="34" charset="-122"/>
                <a:cs typeface="Aptos Display" pitchFamily="34" charset="-120"/>
              </a:rPr>
              <a:t>Mã hóa khóa đối xứng</a:t>
            </a:r>
            <a:endParaRPr lang="en-US" sz="2500" dirty="0"/>
          </a:p>
        </p:txBody>
      </p:sp>
      <p:sp>
        <p:nvSpPr>
          <p:cNvPr id="5" name="Text 3"/>
          <p:cNvSpPr/>
          <p:nvPr/>
        </p:nvSpPr>
        <p:spPr>
          <a:xfrm>
            <a:off x="530352" y="795528"/>
            <a:ext cx="8046720" cy="219456"/>
          </a:xfrm>
          <a:prstGeom prst="rect">
            <a:avLst/>
          </a:prstGeom>
          <a:noFill/>
          <a:ln/>
        </p:spPr>
        <p:txBody>
          <a:bodyPr wrap="square" lIns="127" tIns="127" rIns="127" bIns="127" rtlCol="0" anchor="ctr">
            <a:normAutofit/>
          </a:bodyPr>
          <a:lstStyle/>
          <a:p>
            <a:pPr marL="0" indent="0">
              <a:buNone/>
            </a:pPr>
            <a:r>
              <a:rPr lang="en-US" sz="1400" dirty="0">
                <a:solidFill>
                  <a:srgbClr val="B8C7D9"/>
                </a:solidFill>
              </a:rPr>
              <a:t>AES và Triple DES đều dùng chung một khóa cho mã hóa và giải mã.</a:t>
            </a:r>
            <a:endParaRPr lang="en-US" sz="1400" dirty="0"/>
          </a:p>
        </p:txBody>
      </p:sp>
      <p:sp>
        <p:nvSpPr>
          <p:cNvPr id="6" name="Text 4"/>
          <p:cNvSpPr/>
          <p:nvPr/>
        </p:nvSpPr>
        <p:spPr>
          <a:xfrm>
            <a:off x="502920" y="6528816"/>
            <a:ext cx="6583680" cy="164592"/>
          </a:xfrm>
          <a:prstGeom prst="rect">
            <a:avLst/>
          </a:prstGeom>
          <a:noFill/>
          <a:ln/>
        </p:spPr>
        <p:txBody>
          <a:bodyPr wrap="square" lIns="0" tIns="0" rIns="0" bIns="0" rtlCol="0" anchor="ctr">
            <a:normAutofit/>
          </a:bodyPr>
          <a:lstStyle/>
          <a:p>
            <a:pPr marL="0" indent="0">
              <a:buNone/>
            </a:pPr>
            <a:r>
              <a:rPr lang="en-US" sz="750" dirty="0">
                <a:solidFill>
                  <a:srgbClr val="B8C7D9"/>
                </a:solidFill>
              </a:rPr>
              <a:t>Đề tài 22 · Triple DES &amp; AES · 07</a:t>
            </a:r>
            <a:endParaRPr lang="en-US" sz="750" dirty="0"/>
          </a:p>
        </p:txBody>
      </p:sp>
      <p:sp>
        <p:nvSpPr>
          <p:cNvPr id="7" name="Text 5"/>
          <p:cNvSpPr/>
          <p:nvPr/>
        </p:nvSpPr>
        <p:spPr>
          <a:xfrm>
            <a:off x="914400" y="1371600"/>
            <a:ext cx="1828800" cy="329184"/>
          </a:xfrm>
          <a:prstGeom prst="rect">
            <a:avLst/>
          </a:prstGeom>
          <a:solidFill>
            <a:srgbClr val="2EE6E6"/>
          </a:solidFill>
          <a:ln>
            <a:solidFill>
              <a:srgbClr val="2EE6E6">
                <a:alpha val="0"/>
              </a:srgbClr>
            </a:solidFill>
          </a:ln>
        </p:spPr>
        <p:txBody>
          <a:bodyPr wrap="square" lIns="381" tIns="381" rIns="381" bIns="381" rtlCol="0" anchor="ctr">
            <a:normAutofit/>
          </a:bodyPr>
          <a:lstStyle/>
          <a:p>
            <a:pPr marL="0" indent="0" algn="ctr">
              <a:buNone/>
            </a:pPr>
            <a:r>
              <a:rPr lang="en-US" sz="1050" b="1" dirty="0">
                <a:solidFill>
                  <a:srgbClr val="071626"/>
                </a:solidFill>
              </a:rPr>
              <a:t>Encryption</a:t>
            </a:r>
            <a:endParaRPr lang="en-US" sz="1050" dirty="0"/>
          </a:p>
        </p:txBody>
      </p:sp>
      <p:sp>
        <p:nvSpPr>
          <p:cNvPr id="8" name="Text 6"/>
          <p:cNvSpPr/>
          <p:nvPr/>
        </p:nvSpPr>
        <p:spPr>
          <a:xfrm>
            <a:off x="9372600" y="1371600"/>
            <a:ext cx="1828800" cy="329184"/>
          </a:xfrm>
          <a:prstGeom prst="rect">
            <a:avLst/>
          </a:prstGeom>
          <a:solidFill>
            <a:srgbClr val="FFB347"/>
          </a:solidFill>
          <a:ln>
            <a:solidFill>
              <a:srgbClr val="FFB347">
                <a:alpha val="0"/>
              </a:srgbClr>
            </a:solidFill>
          </a:ln>
        </p:spPr>
        <p:txBody>
          <a:bodyPr wrap="square" lIns="381" tIns="381" rIns="381" bIns="381" rtlCol="0" anchor="ctr">
            <a:normAutofit/>
          </a:bodyPr>
          <a:lstStyle/>
          <a:p>
            <a:pPr marL="0" indent="0" algn="ctr">
              <a:buNone/>
            </a:pPr>
            <a:r>
              <a:rPr lang="en-US" sz="1050" b="1" dirty="0">
                <a:solidFill>
                  <a:srgbClr val="071626"/>
                </a:solidFill>
              </a:rPr>
              <a:t>Decryption</a:t>
            </a:r>
            <a:endParaRPr lang="en-US" sz="1050" dirty="0"/>
          </a:p>
        </p:txBody>
      </p:sp>
      <p:sp>
        <p:nvSpPr>
          <p:cNvPr id="9" name="Text 7"/>
          <p:cNvSpPr/>
          <p:nvPr/>
        </p:nvSpPr>
        <p:spPr>
          <a:xfrm>
            <a:off x="731520" y="2011680"/>
            <a:ext cx="2834640" cy="1005840"/>
          </a:xfrm>
          <a:prstGeom prst="rect">
            <a:avLst/>
          </a:prstGeom>
          <a:solidFill>
            <a:srgbClr val="102B46"/>
          </a:solidFill>
          <a:ln>
            <a:solidFill>
              <a:srgbClr val="2A6F9A">
                <a:alpha val="75000"/>
              </a:srgbClr>
            </a:solidFill>
          </a:ln>
        </p:spPr>
        <p:txBody>
          <a:bodyPr wrap="square" lIns="1905" tIns="1905" rIns="1905" bIns="1905" rtlCol="0" anchor="ctr">
            <a:normAutofit/>
          </a:bodyPr>
          <a:lstStyle/>
          <a:p>
            <a:pPr marL="0" indent="0">
              <a:buNone/>
            </a:pPr>
            <a:r>
              <a:rPr lang="en-US" sz="1600" b="1" dirty="0">
                <a:solidFill>
                  <a:srgbClr val="F6FAFF"/>
                </a:solidFill>
                <a:latin typeface="Aptos" pitchFamily="34" charset="0"/>
                <a:ea typeface="Aptos" pitchFamily="34" charset="-122"/>
                <a:cs typeface="Aptos" pitchFamily="34" charset="-120"/>
              </a:rPr>
              <a:t> </a:t>
            </a:r>
            <a:r>
              <a:rPr lang="en-US" sz="1600" b="1" dirty="0" err="1">
                <a:solidFill>
                  <a:srgbClr val="F6FAFF"/>
                </a:solidFill>
                <a:latin typeface="Aptos" pitchFamily="34" charset="0"/>
                <a:ea typeface="Aptos" pitchFamily="34" charset="-122"/>
                <a:cs typeface="Aptos" pitchFamily="34" charset="-120"/>
              </a:rPr>
              <a:t>Dữ</a:t>
            </a:r>
            <a:r>
              <a:rPr lang="en-US" sz="1600" b="1" dirty="0">
                <a:solidFill>
                  <a:srgbClr val="F6FAFF"/>
                </a:solidFill>
                <a:latin typeface="Aptos" pitchFamily="34" charset="0"/>
                <a:ea typeface="Aptos" pitchFamily="34" charset="-122"/>
                <a:cs typeface="Aptos" pitchFamily="34" charset="-120"/>
              </a:rPr>
              <a:t> liệu gốc
 </a:t>
            </a:r>
            <a:r>
              <a:rPr lang="en-US" sz="1300" dirty="0">
                <a:solidFill>
                  <a:srgbClr val="B8C7D9"/>
                </a:solidFill>
                <a:latin typeface="Aptos" pitchFamily="34" charset="0"/>
                <a:ea typeface="Aptos" pitchFamily="34" charset="-122"/>
                <a:cs typeface="Aptos" pitchFamily="34" charset="-120"/>
              </a:rPr>
              <a:t>Plaintext</a:t>
            </a:r>
            <a:endParaRPr lang="en-US" sz="1600" dirty="0"/>
          </a:p>
          <a:p>
            <a:pPr marL="0" indent="0">
              <a:buNone/>
            </a:pPr>
            <a:r>
              <a:rPr lang="en-US" sz="1300" dirty="0">
                <a:solidFill>
                  <a:srgbClr val="B8C7D9"/>
                </a:solidFill>
                <a:latin typeface="Aptos" pitchFamily="34" charset="0"/>
                <a:ea typeface="Aptos" pitchFamily="34" charset="-122"/>
                <a:cs typeface="Aptos" pitchFamily="34" charset="-120"/>
              </a:rPr>
              <a:t> “012345678901”</a:t>
            </a:r>
            <a:endParaRPr lang="en-US" sz="1600" dirty="0"/>
          </a:p>
        </p:txBody>
      </p:sp>
      <p:sp>
        <p:nvSpPr>
          <p:cNvPr id="10" name="Text 8"/>
          <p:cNvSpPr/>
          <p:nvPr/>
        </p:nvSpPr>
        <p:spPr>
          <a:xfrm>
            <a:off x="4663440" y="2011680"/>
            <a:ext cx="2834640" cy="1005840"/>
          </a:xfrm>
          <a:prstGeom prst="rect">
            <a:avLst/>
          </a:prstGeom>
          <a:solidFill>
            <a:srgbClr val="102B46"/>
          </a:solidFill>
          <a:ln>
            <a:solidFill>
              <a:srgbClr val="2A6F9A">
                <a:alpha val="75000"/>
              </a:srgbClr>
            </a:solidFill>
          </a:ln>
        </p:spPr>
        <p:txBody>
          <a:bodyPr wrap="square" lIns="1905" tIns="1905" rIns="1905" bIns="1905" rtlCol="0" anchor="ctr">
            <a:normAutofit/>
          </a:bodyPr>
          <a:lstStyle/>
          <a:p>
            <a:pPr marL="0" indent="0">
              <a:buNone/>
            </a:pPr>
            <a:r>
              <a:rPr lang="en-US" sz="1600" b="1" dirty="0">
                <a:solidFill>
                  <a:srgbClr val="F6FAFF"/>
                </a:solidFill>
                <a:latin typeface="Aptos" pitchFamily="34" charset="0"/>
                <a:ea typeface="Aptos" pitchFamily="34" charset="-122"/>
                <a:cs typeface="Aptos" pitchFamily="34" charset="-120"/>
              </a:rPr>
              <a:t> </a:t>
            </a:r>
            <a:r>
              <a:rPr lang="en-US" sz="1600" b="1" dirty="0" err="1">
                <a:solidFill>
                  <a:srgbClr val="F6FAFF"/>
                </a:solidFill>
                <a:latin typeface="Aptos" pitchFamily="34" charset="0"/>
                <a:ea typeface="Aptos" pitchFamily="34" charset="-122"/>
                <a:cs typeface="Aptos" pitchFamily="34" charset="-120"/>
              </a:rPr>
              <a:t>Bản</a:t>
            </a:r>
            <a:r>
              <a:rPr lang="en-US" sz="1600" b="1" dirty="0">
                <a:solidFill>
                  <a:srgbClr val="F6FAFF"/>
                </a:solidFill>
                <a:latin typeface="Aptos" pitchFamily="34" charset="0"/>
                <a:ea typeface="Aptos" pitchFamily="34" charset="-122"/>
                <a:cs typeface="Aptos" pitchFamily="34" charset="-120"/>
              </a:rPr>
              <a:t> mã
 </a:t>
            </a:r>
            <a:r>
              <a:rPr lang="en-US" sz="1300" dirty="0">
                <a:solidFill>
                  <a:srgbClr val="B8C7D9"/>
                </a:solidFill>
                <a:latin typeface="Aptos" pitchFamily="34" charset="0"/>
                <a:ea typeface="Aptos" pitchFamily="34" charset="-122"/>
                <a:cs typeface="Aptos" pitchFamily="34" charset="-120"/>
              </a:rPr>
              <a:t>Ciphertext</a:t>
            </a:r>
            <a:endParaRPr lang="en-US" sz="1600" dirty="0"/>
          </a:p>
          <a:p>
            <a:pPr marL="0" indent="0">
              <a:buNone/>
            </a:pPr>
            <a:r>
              <a:rPr lang="en-US" sz="1300" dirty="0">
                <a:solidFill>
                  <a:srgbClr val="B8C7D9"/>
                </a:solidFill>
                <a:latin typeface="Aptos" pitchFamily="34" charset="0"/>
                <a:ea typeface="Aptos" pitchFamily="34" charset="-122"/>
                <a:cs typeface="Aptos" pitchFamily="34" charset="-120"/>
              </a:rPr>
              <a:t> “U2FsdGVk…”</a:t>
            </a:r>
            <a:endParaRPr lang="en-US" sz="1600" dirty="0"/>
          </a:p>
        </p:txBody>
      </p:sp>
      <p:sp>
        <p:nvSpPr>
          <p:cNvPr id="11" name="Text 9"/>
          <p:cNvSpPr/>
          <p:nvPr/>
        </p:nvSpPr>
        <p:spPr>
          <a:xfrm>
            <a:off x="8549640" y="2011680"/>
            <a:ext cx="2834640" cy="1005840"/>
          </a:xfrm>
          <a:prstGeom prst="rect">
            <a:avLst/>
          </a:prstGeom>
          <a:solidFill>
            <a:srgbClr val="102B46"/>
          </a:solidFill>
          <a:ln>
            <a:solidFill>
              <a:srgbClr val="2A6F9A">
                <a:alpha val="75000"/>
              </a:srgbClr>
            </a:solidFill>
          </a:ln>
        </p:spPr>
        <p:txBody>
          <a:bodyPr wrap="square" lIns="1905" tIns="1905" rIns="1905" bIns="1905" rtlCol="0" anchor="ctr">
            <a:normAutofit/>
          </a:bodyPr>
          <a:lstStyle/>
          <a:p>
            <a:pPr marL="0" indent="0">
              <a:buNone/>
            </a:pPr>
            <a:r>
              <a:rPr lang="en-US" sz="1600" b="1" dirty="0">
                <a:solidFill>
                  <a:srgbClr val="F6FAFF"/>
                </a:solidFill>
                <a:latin typeface="Aptos" pitchFamily="34" charset="0"/>
                <a:ea typeface="Aptos" pitchFamily="34" charset="-122"/>
                <a:cs typeface="Aptos" pitchFamily="34" charset="-120"/>
              </a:rPr>
              <a:t> </a:t>
            </a:r>
            <a:r>
              <a:rPr lang="en-US" sz="1600" b="1" dirty="0" err="1">
                <a:solidFill>
                  <a:srgbClr val="F6FAFF"/>
                </a:solidFill>
                <a:latin typeface="Aptos" pitchFamily="34" charset="0"/>
                <a:ea typeface="Aptos" pitchFamily="34" charset="-122"/>
                <a:cs typeface="Aptos" pitchFamily="34" charset="-120"/>
              </a:rPr>
              <a:t>Dữ</a:t>
            </a:r>
            <a:r>
              <a:rPr lang="en-US" sz="1600" b="1" dirty="0">
                <a:solidFill>
                  <a:srgbClr val="F6FAFF"/>
                </a:solidFill>
                <a:latin typeface="Aptos" pitchFamily="34" charset="0"/>
                <a:ea typeface="Aptos" pitchFamily="34" charset="-122"/>
                <a:cs typeface="Aptos" pitchFamily="34" charset="-120"/>
              </a:rPr>
              <a:t> liệu gốc
 </a:t>
            </a:r>
            <a:r>
              <a:rPr lang="en-US" sz="1300" dirty="0">
                <a:solidFill>
                  <a:srgbClr val="B8C7D9"/>
                </a:solidFill>
                <a:latin typeface="Aptos" pitchFamily="34" charset="0"/>
                <a:ea typeface="Aptos" pitchFamily="34" charset="-122"/>
                <a:cs typeface="Aptos" pitchFamily="34" charset="-120"/>
              </a:rPr>
              <a:t>Plaintext</a:t>
            </a:r>
            <a:endParaRPr lang="en-US" sz="1600" dirty="0"/>
          </a:p>
          <a:p>
            <a:pPr marL="0" indent="0">
              <a:buNone/>
            </a:pPr>
            <a:r>
              <a:rPr lang="en-US" sz="1300" dirty="0">
                <a:solidFill>
                  <a:srgbClr val="B8C7D9"/>
                </a:solidFill>
                <a:latin typeface="Aptos" pitchFamily="34" charset="0"/>
                <a:ea typeface="Aptos" pitchFamily="34" charset="-122"/>
                <a:cs typeface="Aptos" pitchFamily="34" charset="-120"/>
              </a:rPr>
              <a:t> “012345678901”</a:t>
            </a:r>
            <a:endParaRPr lang="en-US" sz="1600" dirty="0"/>
          </a:p>
        </p:txBody>
      </p:sp>
      <p:sp>
        <p:nvSpPr>
          <p:cNvPr id="12" name="Text 10"/>
          <p:cNvSpPr/>
          <p:nvPr/>
        </p:nvSpPr>
        <p:spPr>
          <a:xfrm>
            <a:off x="3794760" y="2331720"/>
            <a:ext cx="731520" cy="256032"/>
          </a:xfrm>
          <a:prstGeom prst="rect">
            <a:avLst/>
          </a:prstGeom>
          <a:noFill/>
          <a:ln/>
        </p:spPr>
        <p:txBody>
          <a:bodyPr wrap="square" rtlCol="0" anchor="ctr"/>
          <a:lstStyle/>
          <a:p>
            <a:pPr marL="0" indent="0" algn="ctr">
              <a:buNone/>
            </a:pPr>
            <a:r>
              <a:rPr lang="en-US" sz="1600" b="1" dirty="0">
                <a:solidFill>
                  <a:srgbClr val="2EE6E6"/>
                </a:solidFill>
              </a:rPr>
              <a:t>＋ Key</a:t>
            </a:r>
            <a:endParaRPr lang="en-US" sz="1600" dirty="0"/>
          </a:p>
        </p:txBody>
      </p:sp>
      <p:sp>
        <p:nvSpPr>
          <p:cNvPr id="13" name="Text 11"/>
          <p:cNvSpPr/>
          <p:nvPr/>
        </p:nvSpPr>
        <p:spPr>
          <a:xfrm>
            <a:off x="7680960" y="2331720"/>
            <a:ext cx="731520" cy="256032"/>
          </a:xfrm>
          <a:prstGeom prst="rect">
            <a:avLst/>
          </a:prstGeom>
          <a:noFill/>
          <a:ln/>
        </p:spPr>
        <p:txBody>
          <a:bodyPr wrap="square" rtlCol="0" anchor="ctr"/>
          <a:lstStyle/>
          <a:p>
            <a:pPr marL="0" indent="0" algn="ctr">
              <a:buNone/>
            </a:pPr>
            <a:r>
              <a:rPr lang="en-US" sz="1600" b="1" dirty="0">
                <a:solidFill>
                  <a:srgbClr val="FFB347"/>
                </a:solidFill>
              </a:rPr>
              <a:t>＋ Key</a:t>
            </a:r>
            <a:endParaRPr lang="en-US" sz="1600" dirty="0"/>
          </a:p>
        </p:txBody>
      </p:sp>
      <p:sp>
        <p:nvSpPr>
          <p:cNvPr id="14" name="Shape 12"/>
          <p:cNvSpPr/>
          <p:nvPr/>
        </p:nvSpPr>
        <p:spPr>
          <a:xfrm>
            <a:off x="3611880" y="2423160"/>
            <a:ext cx="960120" cy="0"/>
          </a:xfrm>
          <a:prstGeom prst="line">
            <a:avLst/>
          </a:prstGeom>
          <a:noFill/>
          <a:ln w="12700">
            <a:solidFill>
              <a:srgbClr val="2EE6E6"/>
            </a:solidFill>
            <a:prstDash val="solid"/>
            <a:tailEnd type="triangle"/>
          </a:ln>
        </p:spPr>
      </p:sp>
      <p:sp>
        <p:nvSpPr>
          <p:cNvPr id="15" name="Shape 13"/>
          <p:cNvSpPr/>
          <p:nvPr/>
        </p:nvSpPr>
        <p:spPr>
          <a:xfrm>
            <a:off x="7498080" y="2423160"/>
            <a:ext cx="960120" cy="0"/>
          </a:xfrm>
          <a:prstGeom prst="line">
            <a:avLst/>
          </a:prstGeom>
          <a:noFill/>
          <a:ln w="12700">
            <a:solidFill>
              <a:srgbClr val="FFB347"/>
            </a:solidFill>
            <a:prstDash val="solid"/>
            <a:tailEnd type="triangle"/>
          </a:ln>
        </p:spPr>
      </p:sp>
      <p:sp>
        <p:nvSpPr>
          <p:cNvPr id="16" name="Text 14"/>
          <p:cNvSpPr/>
          <p:nvPr/>
        </p:nvSpPr>
        <p:spPr>
          <a:xfrm>
            <a:off x="731520" y="3694176"/>
            <a:ext cx="9966960" cy="1051560"/>
          </a:xfrm>
          <a:prstGeom prst="rect">
            <a:avLst/>
          </a:prstGeom>
          <a:noFill/>
          <a:ln/>
        </p:spPr>
        <p:txBody>
          <a:bodyPr wrap="square" lIns="635" tIns="635" rIns="635" bIns="635" rtlCol="0" anchor="ctr">
            <a:noAutofit/>
          </a:bodyPr>
          <a:lstStyle/>
          <a:p>
            <a:r>
              <a:rPr lang="en-US" sz="2400" dirty="0">
                <a:solidFill>
                  <a:srgbClr val="F6FAFF"/>
                </a:solidFill>
              </a:rPr>
              <a:t>Ưu điểm: xử lý nhanh, phù hợp mã hóa dữ liệu trong database.</a:t>
            </a:r>
            <a:endParaRPr lang="en-US" sz="2400" dirty="0"/>
          </a:p>
          <a:p>
            <a:r>
              <a:rPr lang="en-US" sz="2400" dirty="0">
                <a:solidFill>
                  <a:srgbClr val="F6FAFF"/>
                </a:solidFill>
              </a:rPr>
              <a:t>Nhược điểm: nếu khóa bị lộ thì dữ liệu có thể bị giải mã.</a:t>
            </a:r>
            <a:endParaRPr lang="en-US" sz="2400" dirty="0"/>
          </a:p>
          <a:p>
            <a:r>
              <a:rPr lang="en-US" sz="2400" dirty="0">
                <a:solidFill>
                  <a:srgbClr val="F6FAFF"/>
                </a:solidFill>
              </a:rPr>
              <a:t>Vì vậy, quản lý khóa là phần rất quan trọng.</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071626"/>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2EE6E6">
              <a:alpha val="90000"/>
            </a:srgbClr>
          </a:solidFill>
          <a:ln w="12700">
            <a:solidFill>
              <a:srgbClr val="2EE6E6">
                <a:alpha val="0"/>
              </a:srgbClr>
            </a:solidFill>
            <a:prstDash val="solid"/>
          </a:ln>
        </p:spPr>
      </p:sp>
      <p:sp>
        <p:nvSpPr>
          <p:cNvPr id="3" name="Shape 1"/>
          <p:cNvSpPr/>
          <p:nvPr/>
        </p:nvSpPr>
        <p:spPr>
          <a:xfrm>
            <a:off x="0" y="6748272"/>
            <a:ext cx="12191695" cy="109728"/>
          </a:xfrm>
          <a:prstGeom prst="rect">
            <a:avLst/>
          </a:prstGeom>
          <a:solidFill>
            <a:srgbClr val="2EE6E6">
              <a:alpha val="70000"/>
            </a:srgbClr>
          </a:solidFill>
          <a:ln w="12700">
            <a:solidFill>
              <a:srgbClr val="2EE6E6">
                <a:alpha val="0"/>
              </a:srgbClr>
            </a:solidFill>
            <a:prstDash val="solid"/>
          </a:ln>
        </p:spPr>
      </p:sp>
      <p:sp>
        <p:nvSpPr>
          <p:cNvPr id="4" name="Text 2"/>
          <p:cNvSpPr/>
          <p:nvPr/>
        </p:nvSpPr>
        <p:spPr>
          <a:xfrm>
            <a:off x="502920" y="320040"/>
            <a:ext cx="8778240" cy="420624"/>
          </a:xfrm>
          <a:prstGeom prst="rect">
            <a:avLst/>
          </a:prstGeom>
          <a:noFill/>
          <a:ln/>
        </p:spPr>
        <p:txBody>
          <a:bodyPr wrap="square" lIns="254" tIns="254" rIns="254" bIns="254" rtlCol="0" anchor="ctr">
            <a:normAutofit/>
          </a:bodyPr>
          <a:lstStyle/>
          <a:p>
            <a:pPr marL="0" indent="0">
              <a:buNone/>
            </a:pPr>
            <a:r>
              <a:rPr lang="en-US" sz="2500" b="1" dirty="0">
                <a:solidFill>
                  <a:srgbClr val="F6FAFF"/>
                </a:solidFill>
                <a:latin typeface="Aptos Display" pitchFamily="34" charset="0"/>
                <a:ea typeface="Aptos Display" pitchFamily="34" charset="-122"/>
                <a:cs typeface="Aptos Display" pitchFamily="34" charset="-120"/>
              </a:rPr>
              <a:t>Thuật toán AES-256</a:t>
            </a:r>
            <a:endParaRPr lang="en-US" sz="2500" dirty="0"/>
          </a:p>
        </p:txBody>
      </p:sp>
      <p:sp>
        <p:nvSpPr>
          <p:cNvPr id="5" name="Text 3"/>
          <p:cNvSpPr/>
          <p:nvPr/>
        </p:nvSpPr>
        <p:spPr>
          <a:xfrm>
            <a:off x="530352" y="795528"/>
            <a:ext cx="8046720" cy="219456"/>
          </a:xfrm>
          <a:prstGeom prst="rect">
            <a:avLst/>
          </a:prstGeom>
          <a:noFill/>
          <a:ln/>
        </p:spPr>
        <p:txBody>
          <a:bodyPr wrap="square" lIns="127" tIns="127" rIns="127" bIns="127" rtlCol="0" anchor="ctr">
            <a:normAutofit/>
          </a:bodyPr>
          <a:lstStyle/>
          <a:p>
            <a:pPr marL="0" indent="0">
              <a:buNone/>
            </a:pPr>
            <a:r>
              <a:rPr lang="en-US" sz="1400" dirty="0">
                <a:solidFill>
                  <a:srgbClr val="B8C7D9"/>
                </a:solidFill>
              </a:rPr>
              <a:t>Lựa chọn chính cho dữ liệu cần hiệu năng và độ an toàn cao.</a:t>
            </a:r>
            <a:endParaRPr lang="en-US" sz="1400" dirty="0"/>
          </a:p>
        </p:txBody>
      </p:sp>
      <p:sp>
        <p:nvSpPr>
          <p:cNvPr id="6" name="Text 4"/>
          <p:cNvSpPr/>
          <p:nvPr/>
        </p:nvSpPr>
        <p:spPr>
          <a:xfrm>
            <a:off x="502920" y="6528816"/>
            <a:ext cx="6583680" cy="164592"/>
          </a:xfrm>
          <a:prstGeom prst="rect">
            <a:avLst/>
          </a:prstGeom>
          <a:noFill/>
          <a:ln/>
        </p:spPr>
        <p:txBody>
          <a:bodyPr wrap="square" lIns="0" tIns="0" rIns="0" bIns="0" rtlCol="0" anchor="ctr">
            <a:normAutofit/>
          </a:bodyPr>
          <a:lstStyle/>
          <a:p>
            <a:pPr marL="0" indent="0">
              <a:buNone/>
            </a:pPr>
            <a:r>
              <a:rPr lang="en-US" sz="750" dirty="0">
                <a:solidFill>
                  <a:srgbClr val="B8C7D9"/>
                </a:solidFill>
              </a:rPr>
              <a:t>Đề tài 22 · Triple DES &amp; AES · 08</a:t>
            </a:r>
            <a:endParaRPr lang="en-US" sz="750" dirty="0"/>
          </a:p>
        </p:txBody>
      </p:sp>
      <p:sp>
        <p:nvSpPr>
          <p:cNvPr id="7" name="Text 5"/>
          <p:cNvSpPr/>
          <p:nvPr/>
        </p:nvSpPr>
        <p:spPr>
          <a:xfrm>
            <a:off x="731520" y="1234440"/>
            <a:ext cx="5029200" cy="3977640"/>
          </a:xfrm>
          <a:prstGeom prst="rect">
            <a:avLst/>
          </a:prstGeom>
          <a:solidFill>
            <a:srgbClr val="102B46"/>
          </a:solidFill>
          <a:ln>
            <a:solidFill>
              <a:srgbClr val="2A6F9A">
                <a:alpha val="75000"/>
              </a:srgbClr>
            </a:solidFill>
          </a:ln>
        </p:spPr>
        <p:txBody>
          <a:bodyPr wrap="square" lIns="1905" tIns="1905" rIns="1905" bIns="1905" rtlCol="0" anchor="ctr">
            <a:normAutofit/>
          </a:bodyPr>
          <a:lstStyle/>
          <a:p>
            <a:pPr marL="0" indent="0">
              <a:buNone/>
            </a:pPr>
            <a:r>
              <a:rPr lang="en-US" sz="2000" b="1" dirty="0">
                <a:solidFill>
                  <a:srgbClr val="2EE6E6"/>
                </a:solidFill>
                <a:latin typeface="Aptos" pitchFamily="34" charset="0"/>
                <a:ea typeface="Aptos" pitchFamily="34" charset="-122"/>
                <a:cs typeface="Aptos" pitchFamily="34" charset="-120"/>
              </a:rPr>
              <a:t> AES là gì?
 </a:t>
            </a:r>
            <a:r>
              <a:rPr lang="en-US" sz="2000" dirty="0">
                <a:solidFill>
                  <a:srgbClr val="B8C7D9"/>
                </a:solidFill>
                <a:latin typeface="Aptos" pitchFamily="34" charset="0"/>
                <a:ea typeface="Aptos" pitchFamily="34" charset="-122"/>
                <a:cs typeface="Aptos" pitchFamily="34" charset="-120"/>
              </a:rPr>
              <a:t>AES là thuật toán mã hóa khối khóa đối xứng. Chuẩn AES có 3 độ dài khóa: 128, 192 và 256 bit; khối dữ liệu 128 bit.</a:t>
            </a:r>
            <a:endParaRPr lang="en-US" sz="2000" dirty="0"/>
          </a:p>
          <a:p>
            <a:pPr marL="0" indent="0">
              <a:buNone/>
            </a:pPr>
            <a:endParaRPr lang="en-US" sz="2000" dirty="0"/>
          </a:p>
          <a:p>
            <a:pPr marL="0" indent="0">
              <a:buNone/>
            </a:pPr>
            <a:r>
              <a:rPr lang="en-US" sz="2000" dirty="0">
                <a:solidFill>
                  <a:srgbClr val="B8C7D9"/>
                </a:solidFill>
                <a:latin typeface="Aptos" pitchFamily="34" charset="0"/>
                <a:ea typeface="Aptos" pitchFamily="34" charset="-122"/>
                <a:cs typeface="Aptos" pitchFamily="34" charset="-120"/>
              </a:rPr>
              <a:t> Trong đề tài, nhóm dùng AES-256 cho BHXH, số tài khoản và địa chỉ.</a:t>
            </a:r>
            <a:endParaRPr lang="en-US" sz="2000" dirty="0"/>
          </a:p>
        </p:txBody>
      </p:sp>
      <p:sp>
        <p:nvSpPr>
          <p:cNvPr id="8" name="Text 6"/>
          <p:cNvSpPr/>
          <p:nvPr/>
        </p:nvSpPr>
        <p:spPr>
          <a:xfrm>
            <a:off x="6217920" y="1234440"/>
            <a:ext cx="2468880" cy="1188720"/>
          </a:xfrm>
          <a:prstGeom prst="rect">
            <a:avLst/>
          </a:prstGeom>
          <a:solidFill>
            <a:srgbClr val="102B46"/>
          </a:solidFill>
          <a:ln>
            <a:solidFill>
              <a:srgbClr val="2A6F9A">
                <a:alpha val="75000"/>
              </a:srgbClr>
            </a:solidFill>
          </a:ln>
        </p:spPr>
        <p:txBody>
          <a:bodyPr wrap="square" lIns="1905" tIns="1905" rIns="1905" bIns="1905" rtlCol="0" anchor="ctr">
            <a:normAutofit/>
          </a:bodyPr>
          <a:lstStyle/>
          <a:p>
            <a:pPr marL="0" indent="0">
              <a:buNone/>
            </a:pPr>
            <a:r>
              <a:rPr lang="en-US" sz="1600" b="1" dirty="0">
                <a:solidFill>
                  <a:srgbClr val="5CC8FF"/>
                </a:solidFill>
                <a:latin typeface="Aptos" pitchFamily="34" charset="0"/>
                <a:ea typeface="Aptos" pitchFamily="34" charset="-122"/>
                <a:cs typeface="Aptos" pitchFamily="34" charset="-120"/>
              </a:rPr>
              <a:t> 128 bit
 </a:t>
            </a:r>
            <a:r>
              <a:rPr lang="en-US" sz="1150" dirty="0" err="1">
                <a:solidFill>
                  <a:srgbClr val="B8C7D9"/>
                </a:solidFill>
                <a:latin typeface="Aptos" pitchFamily="34" charset="0"/>
                <a:ea typeface="Aptos" pitchFamily="34" charset="-122"/>
                <a:cs typeface="Aptos" pitchFamily="34" charset="-120"/>
              </a:rPr>
              <a:t>Kích</a:t>
            </a:r>
            <a:r>
              <a:rPr lang="en-US" sz="1150" dirty="0">
                <a:solidFill>
                  <a:srgbClr val="B8C7D9"/>
                </a:solidFill>
                <a:latin typeface="Aptos" pitchFamily="34" charset="0"/>
                <a:ea typeface="Aptos" pitchFamily="34" charset="-122"/>
                <a:cs typeface="Aptos" pitchFamily="34" charset="-120"/>
              </a:rPr>
              <a:t> thước khối dữ liệu</a:t>
            </a:r>
            <a:endParaRPr lang="en-US" sz="1600" dirty="0"/>
          </a:p>
        </p:txBody>
      </p:sp>
      <p:sp>
        <p:nvSpPr>
          <p:cNvPr id="9" name="Text 7"/>
          <p:cNvSpPr/>
          <p:nvPr/>
        </p:nvSpPr>
        <p:spPr>
          <a:xfrm>
            <a:off x="8915400" y="1234440"/>
            <a:ext cx="2468880" cy="1188720"/>
          </a:xfrm>
          <a:prstGeom prst="rect">
            <a:avLst/>
          </a:prstGeom>
          <a:solidFill>
            <a:srgbClr val="102B46"/>
          </a:solidFill>
          <a:ln>
            <a:solidFill>
              <a:srgbClr val="2A6F9A">
                <a:alpha val="75000"/>
              </a:srgbClr>
            </a:solidFill>
          </a:ln>
        </p:spPr>
        <p:txBody>
          <a:bodyPr wrap="square" lIns="1905" tIns="1905" rIns="1905" bIns="1905" rtlCol="0" anchor="ctr">
            <a:normAutofit/>
          </a:bodyPr>
          <a:lstStyle/>
          <a:p>
            <a:pPr marL="0" indent="0">
              <a:buNone/>
            </a:pPr>
            <a:r>
              <a:rPr lang="en-US" sz="1600" b="1" dirty="0">
                <a:solidFill>
                  <a:srgbClr val="FFB347"/>
                </a:solidFill>
                <a:latin typeface="Aptos" pitchFamily="34" charset="0"/>
                <a:ea typeface="Aptos" pitchFamily="34" charset="-122"/>
                <a:cs typeface="Aptos" pitchFamily="34" charset="-120"/>
              </a:rPr>
              <a:t> 256 bit
 </a:t>
            </a:r>
            <a:r>
              <a:rPr lang="en-US" sz="1150" dirty="0" err="1">
                <a:solidFill>
                  <a:srgbClr val="B8C7D9"/>
                </a:solidFill>
                <a:latin typeface="Aptos" pitchFamily="34" charset="0"/>
                <a:ea typeface="Aptos" pitchFamily="34" charset="-122"/>
                <a:cs typeface="Aptos" pitchFamily="34" charset="-120"/>
              </a:rPr>
              <a:t>Độ</a:t>
            </a:r>
            <a:r>
              <a:rPr lang="en-US" sz="1150" dirty="0">
                <a:solidFill>
                  <a:srgbClr val="B8C7D9"/>
                </a:solidFill>
                <a:latin typeface="Aptos" pitchFamily="34" charset="0"/>
                <a:ea typeface="Aptos" pitchFamily="34" charset="-122"/>
                <a:cs typeface="Aptos" pitchFamily="34" charset="-120"/>
              </a:rPr>
              <a:t> dài khóa AES-256</a:t>
            </a:r>
            <a:endParaRPr lang="en-US" sz="1600" dirty="0"/>
          </a:p>
        </p:txBody>
      </p:sp>
      <p:sp>
        <p:nvSpPr>
          <p:cNvPr id="10" name="Text 8"/>
          <p:cNvSpPr/>
          <p:nvPr/>
        </p:nvSpPr>
        <p:spPr>
          <a:xfrm>
            <a:off x="6217920" y="2743200"/>
            <a:ext cx="2468880" cy="1188720"/>
          </a:xfrm>
          <a:prstGeom prst="rect">
            <a:avLst/>
          </a:prstGeom>
          <a:solidFill>
            <a:srgbClr val="102B46"/>
          </a:solidFill>
          <a:ln>
            <a:solidFill>
              <a:srgbClr val="2A6F9A">
                <a:alpha val="75000"/>
              </a:srgbClr>
            </a:solidFill>
          </a:ln>
        </p:spPr>
        <p:txBody>
          <a:bodyPr wrap="square" lIns="1905" tIns="1905" rIns="1905" bIns="1905" rtlCol="0" anchor="ctr">
            <a:normAutofit/>
          </a:bodyPr>
          <a:lstStyle/>
          <a:p>
            <a:pPr marL="0" indent="0">
              <a:buNone/>
            </a:pPr>
            <a:r>
              <a:rPr lang="en-US" sz="1600" b="1" dirty="0">
                <a:solidFill>
                  <a:srgbClr val="63D471"/>
                </a:solidFill>
                <a:latin typeface="Aptos" pitchFamily="34" charset="0"/>
                <a:ea typeface="Aptos" pitchFamily="34" charset="-122"/>
                <a:cs typeface="Aptos" pitchFamily="34" charset="-120"/>
              </a:rPr>
              <a:t> Nhanh
 </a:t>
            </a:r>
            <a:r>
              <a:rPr lang="en-US" sz="1150" dirty="0" err="1">
                <a:solidFill>
                  <a:srgbClr val="B8C7D9"/>
                </a:solidFill>
                <a:latin typeface="Aptos" pitchFamily="34" charset="0"/>
                <a:ea typeface="Aptos" pitchFamily="34" charset="-122"/>
                <a:cs typeface="Aptos" pitchFamily="34" charset="-120"/>
              </a:rPr>
              <a:t>Phù</a:t>
            </a:r>
            <a:r>
              <a:rPr lang="en-US" sz="1150" dirty="0">
                <a:solidFill>
                  <a:srgbClr val="B8C7D9"/>
                </a:solidFill>
                <a:latin typeface="Aptos" pitchFamily="34" charset="0"/>
                <a:ea typeface="Aptos" pitchFamily="34" charset="-122"/>
                <a:cs typeface="Aptos" pitchFamily="34" charset="-120"/>
              </a:rPr>
              <a:t> hợp truy xuất thường xuyên</a:t>
            </a:r>
            <a:endParaRPr lang="en-US" sz="1600" dirty="0"/>
          </a:p>
        </p:txBody>
      </p:sp>
      <p:sp>
        <p:nvSpPr>
          <p:cNvPr id="11" name="Text 9"/>
          <p:cNvSpPr/>
          <p:nvPr/>
        </p:nvSpPr>
        <p:spPr>
          <a:xfrm>
            <a:off x="8915400" y="2743200"/>
            <a:ext cx="2468880" cy="1188720"/>
          </a:xfrm>
          <a:prstGeom prst="rect">
            <a:avLst/>
          </a:prstGeom>
          <a:solidFill>
            <a:srgbClr val="102B46"/>
          </a:solidFill>
          <a:ln>
            <a:solidFill>
              <a:srgbClr val="2A6F9A">
                <a:alpha val="75000"/>
              </a:srgbClr>
            </a:solidFill>
          </a:ln>
        </p:spPr>
        <p:txBody>
          <a:bodyPr wrap="square" lIns="1905" tIns="1905" rIns="1905" bIns="1905" rtlCol="0" anchor="ctr">
            <a:normAutofit/>
          </a:bodyPr>
          <a:lstStyle/>
          <a:p>
            <a:pPr marL="0" indent="0">
              <a:buNone/>
            </a:pPr>
            <a:r>
              <a:rPr lang="en-US" sz="1600" b="1" dirty="0">
                <a:solidFill>
                  <a:srgbClr val="2EE6E6"/>
                </a:solidFill>
                <a:latin typeface="Aptos" pitchFamily="34" charset="0"/>
                <a:ea typeface="Aptos" pitchFamily="34" charset="-122"/>
                <a:cs typeface="Aptos" pitchFamily="34" charset="-120"/>
              </a:rPr>
              <a:t> </a:t>
            </a:r>
            <a:r>
              <a:rPr lang="en-US" sz="1600" b="1" dirty="0" err="1">
                <a:solidFill>
                  <a:srgbClr val="2EE6E6"/>
                </a:solidFill>
                <a:latin typeface="Aptos" pitchFamily="34" charset="0"/>
                <a:ea typeface="Aptos" pitchFamily="34" charset="-122"/>
                <a:cs typeface="Aptos" pitchFamily="34" charset="-120"/>
              </a:rPr>
              <a:t>Hiện</a:t>
            </a:r>
            <a:r>
              <a:rPr lang="en-US" sz="1600" b="1" dirty="0">
                <a:solidFill>
                  <a:srgbClr val="2EE6E6"/>
                </a:solidFill>
                <a:latin typeface="Aptos" pitchFamily="34" charset="0"/>
                <a:ea typeface="Aptos" pitchFamily="34" charset="-122"/>
                <a:cs typeface="Aptos" pitchFamily="34" charset="-120"/>
              </a:rPr>
              <a:t> đại
 </a:t>
            </a:r>
            <a:r>
              <a:rPr lang="en-US" sz="1150" dirty="0" err="1">
                <a:solidFill>
                  <a:srgbClr val="B8C7D9"/>
                </a:solidFill>
                <a:latin typeface="Aptos" pitchFamily="34" charset="0"/>
                <a:ea typeface="Aptos" pitchFamily="34" charset="-122"/>
                <a:cs typeface="Aptos" pitchFamily="34" charset="-120"/>
              </a:rPr>
              <a:t>Phù</a:t>
            </a:r>
            <a:r>
              <a:rPr lang="en-US" sz="1150" dirty="0">
                <a:solidFill>
                  <a:srgbClr val="B8C7D9"/>
                </a:solidFill>
                <a:latin typeface="Aptos" pitchFamily="34" charset="0"/>
                <a:ea typeface="Aptos" pitchFamily="34" charset="-122"/>
                <a:cs typeface="Aptos" pitchFamily="34" charset="-120"/>
              </a:rPr>
              <a:t> hợp hệ thống mới</a:t>
            </a:r>
            <a:endParaRPr lang="en-US" sz="1600" dirty="0"/>
          </a:p>
        </p:txBody>
      </p:sp>
      <p:sp>
        <p:nvSpPr>
          <p:cNvPr id="12" name="Text 10"/>
          <p:cNvSpPr/>
          <p:nvPr/>
        </p:nvSpPr>
        <p:spPr>
          <a:xfrm>
            <a:off x="6263640" y="4892040"/>
            <a:ext cx="3474720" cy="228600"/>
          </a:xfrm>
          <a:prstGeom prst="rect">
            <a:avLst/>
          </a:prstGeom>
          <a:noFill/>
          <a:ln/>
        </p:spPr>
        <p:txBody>
          <a:bodyPr wrap="square" lIns="0" tIns="0" rIns="0" bIns="0" rtlCol="0" anchor="ctr"/>
          <a:lstStyle/>
          <a:p>
            <a:pPr marL="0" indent="0">
              <a:buNone/>
            </a:pPr>
            <a:r>
              <a:rPr lang="en-US" sz="850" dirty="0">
                <a:solidFill>
                  <a:srgbClr val="B8C7D9"/>
                </a:solidFill>
              </a:rPr>
              <a:t>Nguồn: NIST FIPS 197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071626"/>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2EE6E6">
              <a:alpha val="90000"/>
            </a:srgbClr>
          </a:solidFill>
          <a:ln w="12700">
            <a:solidFill>
              <a:srgbClr val="2EE6E6">
                <a:alpha val="0"/>
              </a:srgbClr>
            </a:solidFill>
            <a:prstDash val="solid"/>
          </a:ln>
        </p:spPr>
      </p:sp>
      <p:sp>
        <p:nvSpPr>
          <p:cNvPr id="3" name="Shape 1"/>
          <p:cNvSpPr/>
          <p:nvPr/>
        </p:nvSpPr>
        <p:spPr>
          <a:xfrm>
            <a:off x="0" y="6748272"/>
            <a:ext cx="12191695" cy="109728"/>
          </a:xfrm>
          <a:prstGeom prst="rect">
            <a:avLst/>
          </a:prstGeom>
          <a:solidFill>
            <a:srgbClr val="2EE6E6">
              <a:alpha val="70000"/>
            </a:srgbClr>
          </a:solidFill>
          <a:ln w="12700">
            <a:solidFill>
              <a:srgbClr val="2EE6E6">
                <a:alpha val="0"/>
              </a:srgbClr>
            </a:solidFill>
            <a:prstDash val="solid"/>
          </a:ln>
        </p:spPr>
      </p:sp>
      <p:sp>
        <p:nvSpPr>
          <p:cNvPr id="4" name="Text 2"/>
          <p:cNvSpPr/>
          <p:nvPr/>
        </p:nvSpPr>
        <p:spPr>
          <a:xfrm>
            <a:off x="502920" y="320040"/>
            <a:ext cx="8778240" cy="420624"/>
          </a:xfrm>
          <a:prstGeom prst="rect">
            <a:avLst/>
          </a:prstGeom>
          <a:noFill/>
          <a:ln/>
        </p:spPr>
        <p:txBody>
          <a:bodyPr wrap="square" lIns="254" tIns="254" rIns="254" bIns="254" rtlCol="0" anchor="ctr">
            <a:normAutofit/>
          </a:bodyPr>
          <a:lstStyle/>
          <a:p>
            <a:pPr marL="0" indent="0">
              <a:buNone/>
            </a:pPr>
            <a:r>
              <a:rPr lang="en-US" sz="2500" b="1" dirty="0">
                <a:solidFill>
                  <a:srgbClr val="F6FAFF"/>
                </a:solidFill>
                <a:latin typeface="Aptos Display" pitchFamily="34" charset="0"/>
                <a:ea typeface="Aptos Display" pitchFamily="34" charset="-122"/>
                <a:cs typeface="Aptos Display" pitchFamily="34" charset="-120"/>
              </a:rPr>
              <a:t>Thuật toán Triple DES</a:t>
            </a:r>
            <a:endParaRPr lang="en-US" sz="2500" dirty="0"/>
          </a:p>
        </p:txBody>
      </p:sp>
      <p:sp>
        <p:nvSpPr>
          <p:cNvPr id="5" name="Text 3"/>
          <p:cNvSpPr/>
          <p:nvPr/>
        </p:nvSpPr>
        <p:spPr>
          <a:xfrm>
            <a:off x="530352" y="795528"/>
            <a:ext cx="8046720" cy="219456"/>
          </a:xfrm>
          <a:prstGeom prst="rect">
            <a:avLst/>
          </a:prstGeom>
          <a:noFill/>
          <a:ln/>
        </p:spPr>
        <p:txBody>
          <a:bodyPr wrap="square" lIns="127" tIns="127" rIns="127" bIns="127" rtlCol="0" anchor="ctr">
            <a:normAutofit/>
          </a:bodyPr>
          <a:lstStyle/>
          <a:p>
            <a:pPr marL="0" indent="0">
              <a:buNone/>
            </a:pPr>
            <a:r>
              <a:rPr lang="en-US" sz="950" dirty="0">
                <a:solidFill>
                  <a:srgbClr val="B8C7D9"/>
                </a:solidFill>
              </a:rPr>
              <a:t>Dùng theo yêu cầu đề tài và để minh họa tương thích hệ thống cũ.</a:t>
            </a:r>
            <a:endParaRPr lang="en-US" sz="950" dirty="0"/>
          </a:p>
        </p:txBody>
      </p:sp>
      <p:sp>
        <p:nvSpPr>
          <p:cNvPr id="6" name="Text 4"/>
          <p:cNvSpPr/>
          <p:nvPr/>
        </p:nvSpPr>
        <p:spPr>
          <a:xfrm>
            <a:off x="502920" y="6528816"/>
            <a:ext cx="6583680" cy="164592"/>
          </a:xfrm>
          <a:prstGeom prst="rect">
            <a:avLst/>
          </a:prstGeom>
          <a:noFill/>
          <a:ln/>
        </p:spPr>
        <p:txBody>
          <a:bodyPr wrap="square" lIns="0" tIns="0" rIns="0" bIns="0" rtlCol="0" anchor="ctr">
            <a:normAutofit/>
          </a:bodyPr>
          <a:lstStyle/>
          <a:p>
            <a:pPr marL="0" indent="0">
              <a:buNone/>
            </a:pPr>
            <a:r>
              <a:rPr lang="en-US" sz="750" dirty="0">
                <a:solidFill>
                  <a:srgbClr val="B8C7D9"/>
                </a:solidFill>
              </a:rPr>
              <a:t>Đề tài 22 · Triple DES &amp; AES · 09</a:t>
            </a:r>
            <a:endParaRPr lang="en-US" sz="750" dirty="0"/>
          </a:p>
        </p:txBody>
      </p:sp>
      <p:pic>
        <p:nvPicPr>
          <p:cNvPr id="7" name="Image 0" descr="/mnt/data/a_high_detail_futuristic_cyber_tech_illustration_batch_4.png"/>
          <p:cNvPicPr>
            <a:picLocks noChangeAspect="1"/>
          </p:cNvPicPr>
          <p:nvPr/>
        </p:nvPicPr>
        <p:blipFill>
          <a:blip r:embed="rId3"/>
          <a:srcRect l="8581" r="8581"/>
          <a:stretch/>
        </p:blipFill>
        <p:spPr>
          <a:xfrm>
            <a:off x="5669280" y="1143000"/>
            <a:ext cx="5989320" cy="4069080"/>
          </a:xfrm>
          <a:prstGeom prst="rect">
            <a:avLst/>
          </a:prstGeom>
        </p:spPr>
      </p:pic>
      <p:sp>
        <p:nvSpPr>
          <p:cNvPr id="8" name="Text 5"/>
          <p:cNvSpPr/>
          <p:nvPr/>
        </p:nvSpPr>
        <p:spPr>
          <a:xfrm>
            <a:off x="731520" y="1188720"/>
            <a:ext cx="4572000" cy="3977640"/>
          </a:xfrm>
          <a:prstGeom prst="rect">
            <a:avLst/>
          </a:prstGeom>
          <a:solidFill>
            <a:srgbClr val="102B46"/>
          </a:solidFill>
          <a:ln>
            <a:solidFill>
              <a:srgbClr val="2A6F9A">
                <a:alpha val="75000"/>
              </a:srgbClr>
            </a:solidFill>
          </a:ln>
        </p:spPr>
        <p:txBody>
          <a:bodyPr wrap="square" lIns="1905" tIns="1905" rIns="1905" bIns="1905" rtlCol="0" anchor="ctr">
            <a:normAutofit/>
          </a:bodyPr>
          <a:lstStyle/>
          <a:p>
            <a:pPr marL="0" indent="0">
              <a:buNone/>
            </a:pPr>
            <a:r>
              <a:rPr lang="en-US" sz="2000" b="1" dirty="0">
                <a:solidFill>
                  <a:srgbClr val="FFB347"/>
                </a:solidFill>
                <a:latin typeface="Aptos" pitchFamily="34" charset="0"/>
                <a:ea typeface="Aptos" pitchFamily="34" charset="-122"/>
                <a:cs typeface="Aptos" pitchFamily="34" charset="-120"/>
              </a:rPr>
              <a:t> Triple DES là gì?
 </a:t>
            </a:r>
            <a:r>
              <a:rPr lang="en-US" sz="2000" dirty="0">
                <a:solidFill>
                  <a:srgbClr val="B8C7D9"/>
                </a:solidFill>
                <a:latin typeface="Aptos" pitchFamily="34" charset="0"/>
                <a:ea typeface="Aptos" pitchFamily="34" charset="-122"/>
                <a:cs typeface="Aptos" pitchFamily="34" charset="-120"/>
              </a:rPr>
              <a:t>Triple DES còn gọi là 3DES/TDEA. Thuật toán này </a:t>
            </a:r>
            <a:r>
              <a:rPr lang="en-US" sz="2000" dirty="0" err="1">
                <a:solidFill>
                  <a:srgbClr val="B8C7D9"/>
                </a:solidFill>
                <a:latin typeface="Aptos" pitchFamily="34" charset="0"/>
                <a:ea typeface="Aptos" pitchFamily="34" charset="-122"/>
                <a:cs typeface="Aptos" pitchFamily="34" charset="-120"/>
              </a:rPr>
              <a:t>phát</a:t>
            </a:r>
            <a:r>
              <a:rPr lang="en-US" sz="2000" dirty="0">
                <a:solidFill>
                  <a:srgbClr val="B8C7D9"/>
                </a:solidFill>
                <a:latin typeface="Aptos" pitchFamily="34" charset="0"/>
                <a:ea typeface="Aptos" pitchFamily="34" charset="-122"/>
                <a:cs typeface="Aptos" pitchFamily="34" charset="-120"/>
              </a:rPr>
              <a:t>     </a:t>
            </a:r>
            <a:r>
              <a:rPr lang="en-US" sz="2000" dirty="0" err="1">
                <a:solidFill>
                  <a:srgbClr val="B8C7D9"/>
                </a:solidFill>
                <a:latin typeface="Aptos" pitchFamily="34" charset="0"/>
                <a:ea typeface="Aptos" pitchFamily="34" charset="-122"/>
                <a:cs typeface="Aptos" pitchFamily="34" charset="-120"/>
              </a:rPr>
              <a:t>triển</a:t>
            </a:r>
            <a:r>
              <a:rPr lang="en-US" sz="2000" dirty="0">
                <a:solidFill>
                  <a:srgbClr val="B8C7D9"/>
                </a:solidFill>
                <a:latin typeface="Aptos" pitchFamily="34" charset="0"/>
                <a:ea typeface="Aptos" pitchFamily="34" charset="-122"/>
                <a:cs typeface="Aptos" pitchFamily="34" charset="-120"/>
              </a:rPr>
              <a:t> từ DES và thực hiện DES 3 lần để tăng độ an toàn so với DES ban đầu.</a:t>
            </a:r>
            <a:endParaRPr lang="en-US" sz="2000" dirty="0"/>
          </a:p>
          <a:p>
            <a:pPr marL="0" indent="0">
              <a:buNone/>
            </a:pPr>
            <a:endParaRPr lang="en-US" sz="2000" dirty="0"/>
          </a:p>
          <a:p>
            <a:pPr marL="0" indent="0">
              <a:buNone/>
            </a:pPr>
            <a:r>
              <a:rPr lang="en-US" sz="2000" dirty="0">
                <a:solidFill>
                  <a:srgbClr val="B8C7D9"/>
                </a:solidFill>
                <a:latin typeface="Aptos" pitchFamily="34" charset="0"/>
                <a:ea typeface="Aptos" pitchFamily="34" charset="-122"/>
                <a:cs typeface="Aptos" pitchFamily="34" charset="-120"/>
              </a:rPr>
              <a:t> </a:t>
            </a:r>
            <a:r>
              <a:rPr lang="en-US" sz="2000" dirty="0" err="1">
                <a:solidFill>
                  <a:srgbClr val="B8C7D9"/>
                </a:solidFill>
                <a:latin typeface="Aptos" pitchFamily="34" charset="0"/>
                <a:ea typeface="Aptos" pitchFamily="34" charset="-122"/>
                <a:cs typeface="Aptos" pitchFamily="34" charset="-120"/>
              </a:rPr>
              <a:t>Hiện</a:t>
            </a:r>
            <a:r>
              <a:rPr lang="en-US" sz="2000" dirty="0">
                <a:solidFill>
                  <a:srgbClr val="B8C7D9"/>
                </a:solidFill>
                <a:latin typeface="Aptos" pitchFamily="34" charset="0"/>
                <a:ea typeface="Aptos" pitchFamily="34" charset="-122"/>
                <a:cs typeface="Aptos" pitchFamily="34" charset="-120"/>
              </a:rPr>
              <a:t> nay 3DES chủ yếu mang ý nghĩa tương </a:t>
            </a:r>
            <a:r>
              <a:rPr lang="en-US" sz="2000" dirty="0" err="1">
                <a:solidFill>
                  <a:srgbClr val="B8C7D9"/>
                </a:solidFill>
                <a:latin typeface="Aptos" pitchFamily="34" charset="0"/>
                <a:ea typeface="Aptos" pitchFamily="34" charset="-122"/>
                <a:cs typeface="Aptos" pitchFamily="34" charset="-120"/>
              </a:rPr>
              <a:t>thích</a:t>
            </a:r>
            <a:r>
              <a:rPr lang="en-US" sz="2000" dirty="0">
                <a:solidFill>
                  <a:srgbClr val="B8C7D9"/>
                </a:solidFill>
                <a:latin typeface="Aptos" pitchFamily="34" charset="0"/>
                <a:ea typeface="Aptos" pitchFamily="34" charset="-122"/>
                <a:cs typeface="Aptos" pitchFamily="34" charset="-120"/>
              </a:rPr>
              <a:t> </a:t>
            </a:r>
            <a:r>
              <a:rPr lang="en-US" sz="2000" dirty="0" err="1">
                <a:solidFill>
                  <a:srgbClr val="B8C7D9"/>
                </a:solidFill>
                <a:latin typeface="Aptos" pitchFamily="34" charset="0"/>
                <a:ea typeface="Aptos" pitchFamily="34" charset="-122"/>
                <a:cs typeface="Aptos" pitchFamily="34" charset="-120"/>
              </a:rPr>
              <a:t>với</a:t>
            </a:r>
            <a:r>
              <a:rPr lang="en-US" sz="2000" dirty="0">
                <a:solidFill>
                  <a:srgbClr val="B8C7D9"/>
                </a:solidFill>
                <a:latin typeface="Aptos" pitchFamily="34" charset="0"/>
                <a:ea typeface="Aptos" pitchFamily="34" charset="-122"/>
                <a:cs typeface="Aptos" pitchFamily="34" charset="-120"/>
              </a:rPr>
              <a:t> </a:t>
            </a:r>
            <a:r>
              <a:rPr lang="en-US" sz="2000" dirty="0" err="1">
                <a:solidFill>
                  <a:srgbClr val="B8C7D9"/>
                </a:solidFill>
                <a:latin typeface="Aptos" pitchFamily="34" charset="0"/>
                <a:ea typeface="Aptos" pitchFamily="34" charset="-122"/>
                <a:cs typeface="Aptos" pitchFamily="34" charset="-120"/>
              </a:rPr>
              <a:t>hệ</a:t>
            </a:r>
            <a:r>
              <a:rPr lang="en-US" sz="2000" dirty="0">
                <a:solidFill>
                  <a:srgbClr val="B8C7D9"/>
                </a:solidFill>
                <a:latin typeface="Aptos" pitchFamily="34" charset="0"/>
                <a:ea typeface="Aptos" pitchFamily="34" charset="-122"/>
                <a:cs typeface="Aptos" pitchFamily="34" charset="-120"/>
              </a:rPr>
              <a:t> thống cũ.</a:t>
            </a:r>
            <a:endParaRPr lang="en-US" sz="2000" dirty="0"/>
          </a:p>
        </p:txBody>
      </p:sp>
      <p:sp>
        <p:nvSpPr>
          <p:cNvPr id="9" name="Text 6"/>
          <p:cNvSpPr/>
          <p:nvPr/>
        </p:nvSpPr>
        <p:spPr>
          <a:xfrm>
            <a:off x="868680" y="5440680"/>
            <a:ext cx="10698480" cy="411480"/>
          </a:xfrm>
          <a:prstGeom prst="rect">
            <a:avLst/>
          </a:prstGeom>
          <a:noFill/>
          <a:ln/>
        </p:spPr>
        <p:txBody>
          <a:bodyPr wrap="square" lIns="254" tIns="254" rIns="254" bIns="254" rtlCol="0" anchor="ctr">
            <a:normAutofit/>
          </a:bodyPr>
          <a:lstStyle/>
          <a:p>
            <a:pPr marL="0" indent="0">
              <a:buNone/>
            </a:pPr>
            <a:r>
              <a:rPr lang="en-US" sz="1150" dirty="0">
                <a:solidFill>
                  <a:srgbClr val="B8C7D9"/>
                </a:solidFill>
              </a:rPr>
              <a:t>Lưu ý: NIST đã rút SP 800-67 Rev.2 về TDEA từ 01/01/2024, nên hệ thống mới nên ưu tiên AES.</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071626"/>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2EE6E6">
              <a:alpha val="90000"/>
            </a:srgbClr>
          </a:solidFill>
          <a:ln w="12700">
            <a:solidFill>
              <a:srgbClr val="2EE6E6">
                <a:alpha val="0"/>
              </a:srgbClr>
            </a:solidFill>
            <a:prstDash val="solid"/>
          </a:ln>
        </p:spPr>
      </p:sp>
      <p:sp>
        <p:nvSpPr>
          <p:cNvPr id="3" name="Shape 1"/>
          <p:cNvSpPr/>
          <p:nvPr/>
        </p:nvSpPr>
        <p:spPr>
          <a:xfrm>
            <a:off x="0" y="6748272"/>
            <a:ext cx="12191695" cy="109728"/>
          </a:xfrm>
          <a:prstGeom prst="rect">
            <a:avLst/>
          </a:prstGeom>
          <a:solidFill>
            <a:srgbClr val="2EE6E6">
              <a:alpha val="70000"/>
            </a:srgbClr>
          </a:solidFill>
          <a:ln w="12700">
            <a:solidFill>
              <a:srgbClr val="2EE6E6">
                <a:alpha val="0"/>
              </a:srgbClr>
            </a:solidFill>
            <a:prstDash val="solid"/>
          </a:ln>
        </p:spPr>
      </p:sp>
      <p:sp>
        <p:nvSpPr>
          <p:cNvPr id="4" name="Text 2"/>
          <p:cNvSpPr/>
          <p:nvPr/>
        </p:nvSpPr>
        <p:spPr>
          <a:xfrm>
            <a:off x="502920" y="320040"/>
            <a:ext cx="8778240" cy="420624"/>
          </a:xfrm>
          <a:prstGeom prst="rect">
            <a:avLst/>
          </a:prstGeom>
          <a:noFill/>
          <a:ln/>
        </p:spPr>
        <p:txBody>
          <a:bodyPr wrap="square" lIns="254" tIns="254" rIns="254" bIns="254" rtlCol="0" anchor="ctr">
            <a:normAutofit/>
          </a:bodyPr>
          <a:lstStyle/>
          <a:p>
            <a:pPr marL="0" indent="0">
              <a:buNone/>
            </a:pPr>
            <a:r>
              <a:rPr lang="en-US" sz="2500" b="1" dirty="0">
                <a:solidFill>
                  <a:srgbClr val="F6FAFF"/>
                </a:solidFill>
                <a:latin typeface="Aptos Display" pitchFamily="34" charset="0"/>
                <a:ea typeface="Aptos Display" pitchFamily="34" charset="-122"/>
                <a:cs typeface="Aptos Display" pitchFamily="34" charset="-120"/>
              </a:rPr>
              <a:t>So sánh AES-256 và Triple DES</a:t>
            </a:r>
            <a:endParaRPr lang="en-US" sz="2500" dirty="0"/>
          </a:p>
        </p:txBody>
      </p:sp>
      <p:sp>
        <p:nvSpPr>
          <p:cNvPr id="5" name="Text 3"/>
          <p:cNvSpPr/>
          <p:nvPr/>
        </p:nvSpPr>
        <p:spPr>
          <a:xfrm>
            <a:off x="530352" y="795528"/>
            <a:ext cx="8046720" cy="219456"/>
          </a:xfrm>
          <a:prstGeom prst="rect">
            <a:avLst/>
          </a:prstGeom>
          <a:noFill/>
          <a:ln/>
        </p:spPr>
        <p:txBody>
          <a:bodyPr wrap="square" lIns="127" tIns="127" rIns="127" bIns="127" rtlCol="0" anchor="ctr">
            <a:normAutofit/>
          </a:bodyPr>
          <a:lstStyle/>
          <a:p>
            <a:pPr marL="0" indent="0">
              <a:buNone/>
            </a:pPr>
            <a:r>
              <a:rPr lang="en-US" sz="950" dirty="0">
                <a:solidFill>
                  <a:srgbClr val="B8C7D9"/>
                </a:solidFill>
              </a:rPr>
              <a:t>AES phù hợp hệ thống mới; Triple DES phù hợp tình huống kế thừa hệ thống cũ.</a:t>
            </a:r>
            <a:endParaRPr lang="en-US" sz="950" dirty="0"/>
          </a:p>
        </p:txBody>
      </p:sp>
      <p:sp>
        <p:nvSpPr>
          <p:cNvPr id="6" name="Text 4"/>
          <p:cNvSpPr/>
          <p:nvPr/>
        </p:nvSpPr>
        <p:spPr>
          <a:xfrm>
            <a:off x="502920" y="6528816"/>
            <a:ext cx="6583680" cy="164592"/>
          </a:xfrm>
          <a:prstGeom prst="rect">
            <a:avLst/>
          </a:prstGeom>
          <a:noFill/>
          <a:ln/>
        </p:spPr>
        <p:txBody>
          <a:bodyPr wrap="square" lIns="0" tIns="0" rIns="0" bIns="0" rtlCol="0" anchor="ctr">
            <a:normAutofit/>
          </a:bodyPr>
          <a:lstStyle/>
          <a:p>
            <a:pPr marL="0" indent="0">
              <a:buNone/>
            </a:pPr>
            <a:r>
              <a:rPr lang="en-US" sz="750" dirty="0">
                <a:solidFill>
                  <a:srgbClr val="B8C7D9"/>
                </a:solidFill>
              </a:rPr>
              <a:t>Đề tài 22 · Triple DES &amp; AES · 10</a:t>
            </a:r>
            <a:endParaRPr lang="en-US" sz="750" dirty="0"/>
          </a:p>
        </p:txBody>
      </p:sp>
      <p:sp>
        <p:nvSpPr>
          <p:cNvPr id="7" name="Text 5"/>
          <p:cNvSpPr/>
          <p:nvPr/>
        </p:nvSpPr>
        <p:spPr>
          <a:xfrm>
            <a:off x="738378" y="1241298"/>
            <a:ext cx="3582924" cy="632895"/>
          </a:xfrm>
          <a:prstGeom prst="rect">
            <a:avLst/>
          </a:prstGeom>
          <a:solidFill>
            <a:srgbClr val="0E3354"/>
          </a:solidFill>
          <a:ln>
            <a:solidFill>
              <a:srgbClr val="315B7B">
                <a:alpha val="75000"/>
              </a:srgbClr>
            </a:solidFill>
          </a:ln>
        </p:spPr>
        <p:txBody>
          <a:bodyPr wrap="square" lIns="699" tIns="699" rIns="699" bIns="699" rtlCol="0" anchor="ctr">
            <a:normAutofit/>
          </a:bodyPr>
          <a:lstStyle/>
          <a:p>
            <a:pPr marL="0" indent="0">
              <a:buNone/>
            </a:pPr>
            <a:r>
              <a:rPr lang="en-US" sz="1200" b="1" dirty="0">
                <a:solidFill>
                  <a:srgbClr val="2EE6E6"/>
                </a:solidFill>
                <a:latin typeface="Aptos" pitchFamily="34" charset="0"/>
                <a:ea typeface="Aptos" pitchFamily="34" charset="-122"/>
                <a:cs typeface="Aptos" pitchFamily="34" charset="-120"/>
              </a:rPr>
              <a:t>Tiêu chí</a:t>
            </a:r>
            <a:endParaRPr lang="en-US" sz="1200" dirty="0"/>
          </a:p>
        </p:txBody>
      </p:sp>
      <p:sp>
        <p:nvSpPr>
          <p:cNvPr id="8" name="Text 6"/>
          <p:cNvSpPr/>
          <p:nvPr/>
        </p:nvSpPr>
        <p:spPr>
          <a:xfrm>
            <a:off x="4335018" y="1241298"/>
            <a:ext cx="3582924" cy="632895"/>
          </a:xfrm>
          <a:prstGeom prst="rect">
            <a:avLst/>
          </a:prstGeom>
          <a:solidFill>
            <a:srgbClr val="0E3354"/>
          </a:solidFill>
          <a:ln>
            <a:solidFill>
              <a:srgbClr val="315B7B">
                <a:alpha val="75000"/>
              </a:srgbClr>
            </a:solidFill>
          </a:ln>
        </p:spPr>
        <p:txBody>
          <a:bodyPr wrap="square" lIns="699" tIns="699" rIns="699" bIns="699" rtlCol="0" anchor="ctr">
            <a:normAutofit/>
          </a:bodyPr>
          <a:lstStyle/>
          <a:p>
            <a:pPr marL="0" indent="0">
              <a:buNone/>
            </a:pPr>
            <a:r>
              <a:rPr lang="en-US" sz="1200" b="1" dirty="0">
                <a:solidFill>
                  <a:srgbClr val="2EE6E6"/>
                </a:solidFill>
                <a:latin typeface="Aptos" pitchFamily="34" charset="0"/>
                <a:ea typeface="Aptos" pitchFamily="34" charset="-122"/>
                <a:cs typeface="Aptos" pitchFamily="34" charset="-120"/>
              </a:rPr>
              <a:t>AES-256</a:t>
            </a:r>
            <a:endParaRPr lang="en-US" sz="1200" dirty="0"/>
          </a:p>
        </p:txBody>
      </p:sp>
      <p:sp>
        <p:nvSpPr>
          <p:cNvPr id="9" name="Text 7"/>
          <p:cNvSpPr/>
          <p:nvPr/>
        </p:nvSpPr>
        <p:spPr>
          <a:xfrm>
            <a:off x="7931658" y="1241298"/>
            <a:ext cx="3582924" cy="632895"/>
          </a:xfrm>
          <a:prstGeom prst="rect">
            <a:avLst/>
          </a:prstGeom>
          <a:solidFill>
            <a:srgbClr val="0E3354"/>
          </a:solidFill>
          <a:ln>
            <a:solidFill>
              <a:srgbClr val="315B7B">
                <a:alpha val="75000"/>
              </a:srgbClr>
            </a:solidFill>
          </a:ln>
        </p:spPr>
        <p:txBody>
          <a:bodyPr wrap="square" lIns="699" tIns="699" rIns="699" bIns="699" rtlCol="0" anchor="ctr">
            <a:normAutofit/>
          </a:bodyPr>
          <a:lstStyle/>
          <a:p>
            <a:pPr marL="0" indent="0">
              <a:buNone/>
            </a:pPr>
            <a:r>
              <a:rPr lang="en-US" sz="1200" b="1" dirty="0">
                <a:solidFill>
                  <a:srgbClr val="FFB347"/>
                </a:solidFill>
                <a:latin typeface="Aptos" pitchFamily="34" charset="0"/>
                <a:ea typeface="Aptos" pitchFamily="34" charset="-122"/>
                <a:cs typeface="Aptos" pitchFamily="34" charset="-120"/>
              </a:rPr>
              <a:t>Triple DES</a:t>
            </a:r>
            <a:endParaRPr lang="en-US" sz="1200" dirty="0"/>
          </a:p>
        </p:txBody>
      </p:sp>
      <p:sp>
        <p:nvSpPr>
          <p:cNvPr id="10" name="Text 8"/>
          <p:cNvSpPr/>
          <p:nvPr/>
        </p:nvSpPr>
        <p:spPr>
          <a:xfrm>
            <a:off x="738378" y="1887909"/>
            <a:ext cx="3582924" cy="632895"/>
          </a:xfrm>
          <a:prstGeom prst="rect">
            <a:avLst/>
          </a:prstGeom>
          <a:solidFill>
            <a:srgbClr val="102B46"/>
          </a:solidFill>
          <a:ln>
            <a:solidFill>
              <a:srgbClr val="315B7B">
                <a:alpha val="75000"/>
              </a:srgbClr>
            </a:solidFill>
          </a:ln>
        </p:spPr>
        <p:txBody>
          <a:bodyPr wrap="square" lIns="699" tIns="699" rIns="699" bIns="699" rtlCol="0" anchor="ctr">
            <a:normAutofit/>
          </a:bodyPr>
          <a:lstStyle/>
          <a:p>
            <a:pPr marL="0" indent="0">
              <a:buNone/>
            </a:pPr>
            <a:r>
              <a:rPr lang="en-US" sz="1200" dirty="0">
                <a:solidFill>
                  <a:srgbClr val="F6FAFF"/>
                </a:solidFill>
                <a:latin typeface="Aptos" pitchFamily="34" charset="0"/>
                <a:ea typeface="Aptos" pitchFamily="34" charset="-122"/>
                <a:cs typeface="Aptos" pitchFamily="34" charset="-120"/>
              </a:rPr>
              <a:t>Loại mã hóa</a:t>
            </a:r>
            <a:endParaRPr lang="en-US" sz="1200" dirty="0"/>
          </a:p>
        </p:txBody>
      </p:sp>
      <p:sp>
        <p:nvSpPr>
          <p:cNvPr id="11" name="Text 9"/>
          <p:cNvSpPr/>
          <p:nvPr/>
        </p:nvSpPr>
        <p:spPr>
          <a:xfrm>
            <a:off x="4335018" y="1887909"/>
            <a:ext cx="3582924" cy="632895"/>
          </a:xfrm>
          <a:prstGeom prst="rect">
            <a:avLst/>
          </a:prstGeom>
          <a:solidFill>
            <a:srgbClr val="102B46"/>
          </a:solidFill>
          <a:ln>
            <a:solidFill>
              <a:srgbClr val="315B7B">
                <a:alpha val="75000"/>
              </a:srgbClr>
            </a:solidFill>
          </a:ln>
        </p:spPr>
        <p:txBody>
          <a:bodyPr wrap="square" lIns="699" tIns="699" rIns="699" bIns="699" rtlCol="0" anchor="ctr">
            <a:normAutofit/>
          </a:bodyPr>
          <a:lstStyle/>
          <a:p>
            <a:pPr marL="0" indent="0">
              <a:buNone/>
            </a:pPr>
            <a:r>
              <a:rPr lang="en-US" sz="1200" dirty="0">
                <a:solidFill>
                  <a:srgbClr val="F6FAFF"/>
                </a:solidFill>
                <a:latin typeface="Aptos" pitchFamily="34" charset="0"/>
                <a:ea typeface="Aptos" pitchFamily="34" charset="-122"/>
                <a:cs typeface="Aptos" pitchFamily="34" charset="-120"/>
              </a:rPr>
              <a:t>Khóa đối xứng</a:t>
            </a:r>
            <a:endParaRPr lang="en-US" sz="1200" dirty="0"/>
          </a:p>
        </p:txBody>
      </p:sp>
      <p:sp>
        <p:nvSpPr>
          <p:cNvPr id="12" name="Text 10"/>
          <p:cNvSpPr/>
          <p:nvPr/>
        </p:nvSpPr>
        <p:spPr>
          <a:xfrm>
            <a:off x="7931658" y="1887909"/>
            <a:ext cx="3582924" cy="632895"/>
          </a:xfrm>
          <a:prstGeom prst="rect">
            <a:avLst/>
          </a:prstGeom>
          <a:solidFill>
            <a:srgbClr val="102B46"/>
          </a:solidFill>
          <a:ln>
            <a:solidFill>
              <a:srgbClr val="315B7B">
                <a:alpha val="75000"/>
              </a:srgbClr>
            </a:solidFill>
          </a:ln>
        </p:spPr>
        <p:txBody>
          <a:bodyPr wrap="square" lIns="699" tIns="699" rIns="699" bIns="699" rtlCol="0" anchor="ctr">
            <a:normAutofit/>
          </a:bodyPr>
          <a:lstStyle/>
          <a:p>
            <a:pPr marL="0" indent="0">
              <a:buNone/>
            </a:pPr>
            <a:r>
              <a:rPr lang="en-US" sz="1200" dirty="0">
                <a:solidFill>
                  <a:srgbClr val="F6FAFF"/>
                </a:solidFill>
                <a:latin typeface="Aptos" pitchFamily="34" charset="0"/>
                <a:ea typeface="Aptos" pitchFamily="34" charset="-122"/>
                <a:cs typeface="Aptos" pitchFamily="34" charset="-120"/>
              </a:rPr>
              <a:t>Khóa đối xứng</a:t>
            </a:r>
            <a:endParaRPr lang="en-US" sz="1200" dirty="0"/>
          </a:p>
        </p:txBody>
      </p:sp>
      <p:sp>
        <p:nvSpPr>
          <p:cNvPr id="13" name="Text 11"/>
          <p:cNvSpPr/>
          <p:nvPr/>
        </p:nvSpPr>
        <p:spPr>
          <a:xfrm>
            <a:off x="738378" y="2534521"/>
            <a:ext cx="3582924" cy="632895"/>
          </a:xfrm>
          <a:prstGeom prst="rect">
            <a:avLst/>
          </a:prstGeom>
          <a:solidFill>
            <a:srgbClr val="0E2843"/>
          </a:solidFill>
          <a:ln>
            <a:solidFill>
              <a:srgbClr val="315B7B">
                <a:alpha val="75000"/>
              </a:srgbClr>
            </a:solidFill>
          </a:ln>
        </p:spPr>
        <p:txBody>
          <a:bodyPr wrap="square" lIns="699" tIns="699" rIns="699" bIns="699" rtlCol="0" anchor="ctr">
            <a:normAutofit/>
          </a:bodyPr>
          <a:lstStyle/>
          <a:p>
            <a:pPr marL="0" indent="0">
              <a:buNone/>
            </a:pPr>
            <a:r>
              <a:rPr lang="en-US" sz="1200" dirty="0">
                <a:solidFill>
                  <a:srgbClr val="F6FAFF"/>
                </a:solidFill>
                <a:latin typeface="Aptos" pitchFamily="34" charset="0"/>
                <a:ea typeface="Aptos" pitchFamily="34" charset="-122"/>
                <a:cs typeface="Aptos" pitchFamily="34" charset="-120"/>
              </a:rPr>
              <a:t>Mức độ hiện đại</a:t>
            </a:r>
            <a:endParaRPr lang="en-US" sz="1200" dirty="0"/>
          </a:p>
        </p:txBody>
      </p:sp>
      <p:sp>
        <p:nvSpPr>
          <p:cNvPr id="14" name="Text 12"/>
          <p:cNvSpPr/>
          <p:nvPr/>
        </p:nvSpPr>
        <p:spPr>
          <a:xfrm>
            <a:off x="4335018" y="2534521"/>
            <a:ext cx="3582924" cy="632895"/>
          </a:xfrm>
          <a:prstGeom prst="rect">
            <a:avLst/>
          </a:prstGeom>
          <a:solidFill>
            <a:srgbClr val="0E2843"/>
          </a:solidFill>
          <a:ln>
            <a:solidFill>
              <a:srgbClr val="315B7B">
                <a:alpha val="75000"/>
              </a:srgbClr>
            </a:solidFill>
          </a:ln>
        </p:spPr>
        <p:txBody>
          <a:bodyPr wrap="square" lIns="699" tIns="699" rIns="699" bIns="699" rtlCol="0" anchor="ctr">
            <a:normAutofit/>
          </a:bodyPr>
          <a:lstStyle/>
          <a:p>
            <a:pPr marL="0" indent="0">
              <a:buNone/>
            </a:pPr>
            <a:r>
              <a:rPr lang="en-US" sz="1200" dirty="0">
                <a:solidFill>
                  <a:srgbClr val="F6FAFF"/>
                </a:solidFill>
                <a:latin typeface="Aptos" pitchFamily="34" charset="0"/>
                <a:ea typeface="Aptos" pitchFamily="34" charset="-122"/>
                <a:cs typeface="Aptos" pitchFamily="34" charset="-120"/>
              </a:rPr>
              <a:t>Cao</a:t>
            </a:r>
            <a:endParaRPr lang="en-US" sz="1200" dirty="0"/>
          </a:p>
        </p:txBody>
      </p:sp>
      <p:sp>
        <p:nvSpPr>
          <p:cNvPr id="15" name="Text 13"/>
          <p:cNvSpPr/>
          <p:nvPr/>
        </p:nvSpPr>
        <p:spPr>
          <a:xfrm>
            <a:off x="7931658" y="2534521"/>
            <a:ext cx="3582924" cy="632895"/>
          </a:xfrm>
          <a:prstGeom prst="rect">
            <a:avLst/>
          </a:prstGeom>
          <a:solidFill>
            <a:srgbClr val="0E2843"/>
          </a:solidFill>
          <a:ln>
            <a:solidFill>
              <a:srgbClr val="315B7B">
                <a:alpha val="75000"/>
              </a:srgbClr>
            </a:solidFill>
          </a:ln>
        </p:spPr>
        <p:txBody>
          <a:bodyPr wrap="square" lIns="699" tIns="699" rIns="699" bIns="699" rtlCol="0" anchor="ctr">
            <a:normAutofit/>
          </a:bodyPr>
          <a:lstStyle/>
          <a:p>
            <a:pPr marL="0" indent="0">
              <a:buNone/>
            </a:pPr>
            <a:r>
              <a:rPr lang="en-US" sz="1200" dirty="0">
                <a:solidFill>
                  <a:srgbClr val="F6FAFF"/>
                </a:solidFill>
                <a:latin typeface="Aptos" pitchFamily="34" charset="0"/>
                <a:ea typeface="Aptos" pitchFamily="34" charset="-122"/>
                <a:cs typeface="Aptos" pitchFamily="34" charset="-120"/>
              </a:rPr>
              <a:t>Cũ hơn</a:t>
            </a:r>
            <a:endParaRPr lang="en-US" sz="1200" dirty="0"/>
          </a:p>
        </p:txBody>
      </p:sp>
      <p:sp>
        <p:nvSpPr>
          <p:cNvPr id="16" name="Text 14"/>
          <p:cNvSpPr/>
          <p:nvPr/>
        </p:nvSpPr>
        <p:spPr>
          <a:xfrm>
            <a:off x="738378" y="3181132"/>
            <a:ext cx="3582924" cy="632895"/>
          </a:xfrm>
          <a:prstGeom prst="rect">
            <a:avLst/>
          </a:prstGeom>
          <a:solidFill>
            <a:srgbClr val="102B46"/>
          </a:solidFill>
          <a:ln>
            <a:solidFill>
              <a:srgbClr val="315B7B">
                <a:alpha val="75000"/>
              </a:srgbClr>
            </a:solidFill>
          </a:ln>
        </p:spPr>
        <p:txBody>
          <a:bodyPr wrap="square" lIns="699" tIns="699" rIns="699" bIns="699" rtlCol="0" anchor="ctr">
            <a:normAutofit/>
          </a:bodyPr>
          <a:lstStyle/>
          <a:p>
            <a:pPr marL="0" indent="0">
              <a:buNone/>
            </a:pPr>
            <a:r>
              <a:rPr lang="en-US" sz="1200" dirty="0">
                <a:solidFill>
                  <a:srgbClr val="F6FAFF"/>
                </a:solidFill>
                <a:latin typeface="Aptos" pitchFamily="34" charset="0"/>
                <a:ea typeface="Aptos" pitchFamily="34" charset="-122"/>
                <a:cs typeface="Aptos" pitchFamily="34" charset="-120"/>
              </a:rPr>
              <a:t>Tốc độ</a:t>
            </a:r>
            <a:endParaRPr lang="en-US" sz="1200" dirty="0"/>
          </a:p>
        </p:txBody>
      </p:sp>
      <p:sp>
        <p:nvSpPr>
          <p:cNvPr id="17" name="Text 15"/>
          <p:cNvSpPr/>
          <p:nvPr/>
        </p:nvSpPr>
        <p:spPr>
          <a:xfrm>
            <a:off x="4335018" y="3181132"/>
            <a:ext cx="3582924" cy="632895"/>
          </a:xfrm>
          <a:prstGeom prst="rect">
            <a:avLst/>
          </a:prstGeom>
          <a:solidFill>
            <a:srgbClr val="102B46"/>
          </a:solidFill>
          <a:ln>
            <a:solidFill>
              <a:srgbClr val="315B7B">
                <a:alpha val="75000"/>
              </a:srgbClr>
            </a:solidFill>
          </a:ln>
        </p:spPr>
        <p:txBody>
          <a:bodyPr wrap="square" lIns="699" tIns="699" rIns="699" bIns="699" rtlCol="0" anchor="ctr">
            <a:normAutofit/>
          </a:bodyPr>
          <a:lstStyle/>
          <a:p>
            <a:pPr marL="0" indent="0">
              <a:buNone/>
            </a:pPr>
            <a:r>
              <a:rPr lang="en-US" sz="1200" dirty="0">
                <a:solidFill>
                  <a:srgbClr val="F6FAFF"/>
                </a:solidFill>
                <a:latin typeface="Aptos" pitchFamily="34" charset="0"/>
                <a:ea typeface="Aptos" pitchFamily="34" charset="-122"/>
                <a:cs typeface="Aptos" pitchFamily="34" charset="-120"/>
              </a:rPr>
              <a:t>Nhanh</a:t>
            </a:r>
            <a:endParaRPr lang="en-US" sz="1200" dirty="0"/>
          </a:p>
        </p:txBody>
      </p:sp>
      <p:sp>
        <p:nvSpPr>
          <p:cNvPr id="18" name="Text 16"/>
          <p:cNvSpPr/>
          <p:nvPr/>
        </p:nvSpPr>
        <p:spPr>
          <a:xfrm>
            <a:off x="7931658" y="3181132"/>
            <a:ext cx="3582924" cy="632895"/>
          </a:xfrm>
          <a:prstGeom prst="rect">
            <a:avLst/>
          </a:prstGeom>
          <a:solidFill>
            <a:srgbClr val="102B46"/>
          </a:solidFill>
          <a:ln>
            <a:solidFill>
              <a:srgbClr val="315B7B">
                <a:alpha val="75000"/>
              </a:srgbClr>
            </a:solidFill>
          </a:ln>
        </p:spPr>
        <p:txBody>
          <a:bodyPr wrap="square" lIns="699" tIns="699" rIns="699" bIns="699" rtlCol="0" anchor="ctr">
            <a:normAutofit/>
          </a:bodyPr>
          <a:lstStyle/>
          <a:p>
            <a:pPr marL="0" indent="0">
              <a:buNone/>
            </a:pPr>
            <a:r>
              <a:rPr lang="en-US" sz="1200" dirty="0">
                <a:solidFill>
                  <a:srgbClr val="F6FAFF"/>
                </a:solidFill>
                <a:latin typeface="Aptos" pitchFamily="34" charset="0"/>
                <a:ea typeface="Aptos" pitchFamily="34" charset="-122"/>
                <a:cs typeface="Aptos" pitchFamily="34" charset="-120"/>
              </a:rPr>
              <a:t>Chậm hơn</a:t>
            </a:r>
            <a:endParaRPr lang="en-US" sz="1200" dirty="0"/>
          </a:p>
        </p:txBody>
      </p:sp>
      <p:sp>
        <p:nvSpPr>
          <p:cNvPr id="19" name="Text 17"/>
          <p:cNvSpPr/>
          <p:nvPr/>
        </p:nvSpPr>
        <p:spPr>
          <a:xfrm>
            <a:off x="738378" y="3827744"/>
            <a:ext cx="3582924" cy="632895"/>
          </a:xfrm>
          <a:prstGeom prst="rect">
            <a:avLst/>
          </a:prstGeom>
          <a:solidFill>
            <a:srgbClr val="0E2843"/>
          </a:solidFill>
          <a:ln>
            <a:solidFill>
              <a:srgbClr val="315B7B">
                <a:alpha val="75000"/>
              </a:srgbClr>
            </a:solidFill>
          </a:ln>
        </p:spPr>
        <p:txBody>
          <a:bodyPr wrap="square" lIns="699" tIns="699" rIns="699" bIns="699" rtlCol="0" anchor="ctr">
            <a:normAutofit/>
          </a:bodyPr>
          <a:lstStyle/>
          <a:p>
            <a:pPr marL="0" indent="0">
              <a:buNone/>
            </a:pPr>
            <a:r>
              <a:rPr lang="en-US" sz="1200" dirty="0">
                <a:solidFill>
                  <a:srgbClr val="F6FAFF"/>
                </a:solidFill>
                <a:latin typeface="Aptos" pitchFamily="34" charset="0"/>
                <a:ea typeface="Aptos" pitchFamily="34" charset="-122"/>
                <a:cs typeface="Aptos" pitchFamily="34" charset="-120"/>
              </a:rPr>
              <a:t>Độ an toàn</a:t>
            </a:r>
            <a:endParaRPr lang="en-US" sz="1200" dirty="0"/>
          </a:p>
        </p:txBody>
      </p:sp>
      <p:sp>
        <p:nvSpPr>
          <p:cNvPr id="20" name="Text 18"/>
          <p:cNvSpPr/>
          <p:nvPr/>
        </p:nvSpPr>
        <p:spPr>
          <a:xfrm>
            <a:off x="4335018" y="3827744"/>
            <a:ext cx="3582924" cy="632895"/>
          </a:xfrm>
          <a:prstGeom prst="rect">
            <a:avLst/>
          </a:prstGeom>
          <a:solidFill>
            <a:srgbClr val="0E2843"/>
          </a:solidFill>
          <a:ln>
            <a:solidFill>
              <a:srgbClr val="315B7B">
                <a:alpha val="75000"/>
              </a:srgbClr>
            </a:solidFill>
          </a:ln>
        </p:spPr>
        <p:txBody>
          <a:bodyPr wrap="square" lIns="699" tIns="699" rIns="699" bIns="699" rtlCol="0" anchor="ctr">
            <a:normAutofit/>
          </a:bodyPr>
          <a:lstStyle/>
          <a:p>
            <a:pPr marL="0" indent="0">
              <a:buNone/>
            </a:pPr>
            <a:r>
              <a:rPr lang="en-US" sz="1200" dirty="0">
                <a:solidFill>
                  <a:srgbClr val="F6FAFF"/>
                </a:solidFill>
                <a:latin typeface="Aptos" pitchFamily="34" charset="0"/>
                <a:ea typeface="Aptos" pitchFamily="34" charset="-122"/>
                <a:cs typeface="Aptos" pitchFamily="34" charset="-120"/>
              </a:rPr>
              <a:t>Cao</a:t>
            </a:r>
            <a:endParaRPr lang="en-US" sz="1200" dirty="0"/>
          </a:p>
        </p:txBody>
      </p:sp>
      <p:sp>
        <p:nvSpPr>
          <p:cNvPr id="21" name="Text 19"/>
          <p:cNvSpPr/>
          <p:nvPr/>
        </p:nvSpPr>
        <p:spPr>
          <a:xfrm>
            <a:off x="7931658" y="3827744"/>
            <a:ext cx="3582924" cy="632895"/>
          </a:xfrm>
          <a:prstGeom prst="rect">
            <a:avLst/>
          </a:prstGeom>
          <a:solidFill>
            <a:srgbClr val="0E2843"/>
          </a:solidFill>
          <a:ln>
            <a:solidFill>
              <a:srgbClr val="315B7B">
                <a:alpha val="75000"/>
              </a:srgbClr>
            </a:solidFill>
          </a:ln>
        </p:spPr>
        <p:txBody>
          <a:bodyPr wrap="square" lIns="699" tIns="699" rIns="699" bIns="699" rtlCol="0" anchor="ctr">
            <a:normAutofit/>
          </a:bodyPr>
          <a:lstStyle/>
          <a:p>
            <a:pPr marL="0" indent="0">
              <a:buNone/>
            </a:pPr>
            <a:r>
              <a:rPr lang="en-US" sz="1200" dirty="0">
                <a:solidFill>
                  <a:srgbClr val="F6FAFF"/>
                </a:solidFill>
                <a:latin typeface="Aptos" pitchFamily="34" charset="0"/>
                <a:ea typeface="Aptos" pitchFamily="34" charset="-122"/>
                <a:cs typeface="Aptos" pitchFamily="34" charset="-120"/>
              </a:rPr>
              <a:t>Thấp hơn AES</a:t>
            </a:r>
            <a:endParaRPr lang="en-US" sz="1200" dirty="0"/>
          </a:p>
        </p:txBody>
      </p:sp>
      <p:sp>
        <p:nvSpPr>
          <p:cNvPr id="22" name="Text 20"/>
          <p:cNvSpPr/>
          <p:nvPr/>
        </p:nvSpPr>
        <p:spPr>
          <a:xfrm>
            <a:off x="738378" y="4474355"/>
            <a:ext cx="3582924" cy="632895"/>
          </a:xfrm>
          <a:prstGeom prst="rect">
            <a:avLst/>
          </a:prstGeom>
          <a:solidFill>
            <a:srgbClr val="102B46"/>
          </a:solidFill>
          <a:ln>
            <a:solidFill>
              <a:srgbClr val="315B7B">
                <a:alpha val="75000"/>
              </a:srgbClr>
            </a:solidFill>
          </a:ln>
        </p:spPr>
        <p:txBody>
          <a:bodyPr wrap="square" lIns="699" tIns="699" rIns="699" bIns="699" rtlCol="0" anchor="ctr">
            <a:normAutofit/>
          </a:bodyPr>
          <a:lstStyle/>
          <a:p>
            <a:pPr marL="0" indent="0">
              <a:buNone/>
            </a:pPr>
            <a:r>
              <a:rPr lang="en-US" sz="1200" dirty="0">
                <a:solidFill>
                  <a:srgbClr val="F6FAFF"/>
                </a:solidFill>
                <a:latin typeface="Aptos" pitchFamily="34" charset="0"/>
                <a:ea typeface="Aptos" pitchFamily="34" charset="-122"/>
                <a:cs typeface="Aptos" pitchFamily="34" charset="-120"/>
              </a:rPr>
              <a:t>Ứng dụng phù hợp</a:t>
            </a:r>
            <a:endParaRPr lang="en-US" sz="1200" dirty="0"/>
          </a:p>
        </p:txBody>
      </p:sp>
      <p:sp>
        <p:nvSpPr>
          <p:cNvPr id="23" name="Text 21"/>
          <p:cNvSpPr/>
          <p:nvPr/>
        </p:nvSpPr>
        <p:spPr>
          <a:xfrm>
            <a:off x="4335018" y="4474355"/>
            <a:ext cx="3582924" cy="632895"/>
          </a:xfrm>
          <a:prstGeom prst="rect">
            <a:avLst/>
          </a:prstGeom>
          <a:solidFill>
            <a:srgbClr val="102B46"/>
          </a:solidFill>
          <a:ln>
            <a:solidFill>
              <a:srgbClr val="315B7B">
                <a:alpha val="75000"/>
              </a:srgbClr>
            </a:solidFill>
          </a:ln>
        </p:spPr>
        <p:txBody>
          <a:bodyPr wrap="square" lIns="699" tIns="699" rIns="699" bIns="699" rtlCol="0" anchor="ctr">
            <a:normAutofit/>
          </a:bodyPr>
          <a:lstStyle/>
          <a:p>
            <a:pPr marL="0" indent="0">
              <a:buNone/>
            </a:pPr>
            <a:r>
              <a:rPr lang="en-US" sz="1200" dirty="0">
                <a:solidFill>
                  <a:srgbClr val="F6FAFF"/>
                </a:solidFill>
                <a:latin typeface="Aptos" pitchFamily="34" charset="0"/>
                <a:ea typeface="Aptos" pitchFamily="34" charset="-122"/>
                <a:cs typeface="Aptos" pitchFamily="34" charset="-120"/>
              </a:rPr>
              <a:t>Hệ thống mới</a:t>
            </a:r>
            <a:endParaRPr lang="en-US" sz="1200" dirty="0"/>
          </a:p>
        </p:txBody>
      </p:sp>
      <p:sp>
        <p:nvSpPr>
          <p:cNvPr id="24" name="Text 22"/>
          <p:cNvSpPr/>
          <p:nvPr/>
        </p:nvSpPr>
        <p:spPr>
          <a:xfrm>
            <a:off x="7931658" y="4474355"/>
            <a:ext cx="3582924" cy="632895"/>
          </a:xfrm>
          <a:prstGeom prst="rect">
            <a:avLst/>
          </a:prstGeom>
          <a:solidFill>
            <a:srgbClr val="102B46"/>
          </a:solidFill>
          <a:ln>
            <a:solidFill>
              <a:srgbClr val="315B7B">
                <a:alpha val="75000"/>
              </a:srgbClr>
            </a:solidFill>
          </a:ln>
        </p:spPr>
        <p:txBody>
          <a:bodyPr wrap="square" lIns="699" tIns="699" rIns="699" bIns="699" rtlCol="0" anchor="ctr">
            <a:normAutofit/>
          </a:bodyPr>
          <a:lstStyle/>
          <a:p>
            <a:pPr marL="0" indent="0">
              <a:buNone/>
            </a:pPr>
            <a:r>
              <a:rPr lang="en-US" sz="1200" dirty="0">
                <a:solidFill>
                  <a:srgbClr val="F6FAFF"/>
                </a:solidFill>
                <a:latin typeface="Aptos" pitchFamily="34" charset="0"/>
                <a:ea typeface="Aptos" pitchFamily="34" charset="-122"/>
                <a:cs typeface="Aptos" pitchFamily="34" charset="-120"/>
              </a:rPr>
              <a:t>Hệ thống cũ</a:t>
            </a:r>
            <a:endParaRPr lang="en-US" sz="1200" dirty="0"/>
          </a:p>
        </p:txBody>
      </p:sp>
      <p:sp>
        <p:nvSpPr>
          <p:cNvPr id="25" name="Text 23"/>
          <p:cNvSpPr/>
          <p:nvPr/>
        </p:nvSpPr>
        <p:spPr>
          <a:xfrm>
            <a:off x="738378" y="5120967"/>
            <a:ext cx="3582924" cy="632895"/>
          </a:xfrm>
          <a:prstGeom prst="rect">
            <a:avLst/>
          </a:prstGeom>
          <a:solidFill>
            <a:srgbClr val="0E2843"/>
          </a:solidFill>
          <a:ln>
            <a:solidFill>
              <a:srgbClr val="315B7B">
                <a:alpha val="75000"/>
              </a:srgbClr>
            </a:solidFill>
          </a:ln>
        </p:spPr>
        <p:txBody>
          <a:bodyPr wrap="square" lIns="699" tIns="699" rIns="699" bIns="699" rtlCol="0" anchor="ctr">
            <a:normAutofit/>
          </a:bodyPr>
          <a:lstStyle/>
          <a:p>
            <a:pPr marL="0" indent="0">
              <a:buNone/>
            </a:pPr>
            <a:r>
              <a:rPr lang="en-US" sz="1200" dirty="0">
                <a:solidFill>
                  <a:srgbClr val="F6FAFF"/>
                </a:solidFill>
                <a:latin typeface="Aptos" pitchFamily="34" charset="0"/>
                <a:ea typeface="Aptos" pitchFamily="34" charset="-122"/>
                <a:cs typeface="Aptos" pitchFamily="34" charset="-120"/>
              </a:rPr>
              <a:t>Dùng trong đề tài</a:t>
            </a:r>
            <a:endParaRPr lang="en-US" sz="1200" dirty="0"/>
          </a:p>
        </p:txBody>
      </p:sp>
      <p:sp>
        <p:nvSpPr>
          <p:cNvPr id="26" name="Text 24"/>
          <p:cNvSpPr/>
          <p:nvPr/>
        </p:nvSpPr>
        <p:spPr>
          <a:xfrm>
            <a:off x="4335018" y="5120967"/>
            <a:ext cx="3582924" cy="632895"/>
          </a:xfrm>
          <a:prstGeom prst="rect">
            <a:avLst/>
          </a:prstGeom>
          <a:solidFill>
            <a:srgbClr val="0E2843"/>
          </a:solidFill>
          <a:ln>
            <a:solidFill>
              <a:srgbClr val="315B7B">
                <a:alpha val="75000"/>
              </a:srgbClr>
            </a:solidFill>
          </a:ln>
        </p:spPr>
        <p:txBody>
          <a:bodyPr wrap="square" lIns="699" tIns="699" rIns="699" bIns="699" rtlCol="0" anchor="ctr">
            <a:normAutofit/>
          </a:bodyPr>
          <a:lstStyle/>
          <a:p>
            <a:pPr marL="0" indent="0">
              <a:buNone/>
            </a:pPr>
            <a:r>
              <a:rPr lang="en-US" sz="1200" dirty="0">
                <a:solidFill>
                  <a:srgbClr val="F6FAFF"/>
                </a:solidFill>
                <a:latin typeface="Aptos" pitchFamily="34" charset="0"/>
                <a:ea typeface="Aptos" pitchFamily="34" charset="-122"/>
                <a:cs typeface="Aptos" pitchFamily="34" charset="-120"/>
              </a:rPr>
              <a:t>BHXH, STK, địa chỉ</a:t>
            </a:r>
            <a:endParaRPr lang="en-US" sz="1200" dirty="0"/>
          </a:p>
        </p:txBody>
      </p:sp>
      <p:sp>
        <p:nvSpPr>
          <p:cNvPr id="27" name="Text 25"/>
          <p:cNvSpPr/>
          <p:nvPr/>
        </p:nvSpPr>
        <p:spPr>
          <a:xfrm>
            <a:off x="7931658" y="5120967"/>
            <a:ext cx="3582924" cy="632895"/>
          </a:xfrm>
          <a:prstGeom prst="rect">
            <a:avLst/>
          </a:prstGeom>
          <a:solidFill>
            <a:srgbClr val="0E2843"/>
          </a:solidFill>
          <a:ln>
            <a:solidFill>
              <a:srgbClr val="315B7B">
                <a:alpha val="75000"/>
              </a:srgbClr>
            </a:solidFill>
          </a:ln>
        </p:spPr>
        <p:txBody>
          <a:bodyPr wrap="square" lIns="699" tIns="699" rIns="699" bIns="699" rtlCol="0" anchor="ctr">
            <a:normAutofit/>
          </a:bodyPr>
          <a:lstStyle/>
          <a:p>
            <a:pPr marL="0" indent="0">
              <a:buNone/>
            </a:pPr>
            <a:r>
              <a:rPr lang="en-US" sz="1200" dirty="0">
                <a:solidFill>
                  <a:srgbClr val="F6FAFF"/>
                </a:solidFill>
                <a:latin typeface="Aptos" pitchFamily="34" charset="0"/>
                <a:ea typeface="Aptos" pitchFamily="34" charset="-122"/>
                <a:cs typeface="Aptos" pitchFamily="34" charset="-120"/>
              </a:rPr>
              <a:t>CCCD/CMND</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071626"/>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2EE6E6">
              <a:alpha val="90000"/>
            </a:srgbClr>
          </a:solidFill>
          <a:ln w="12700">
            <a:solidFill>
              <a:srgbClr val="2EE6E6">
                <a:alpha val="0"/>
              </a:srgbClr>
            </a:solidFill>
            <a:prstDash val="solid"/>
          </a:ln>
        </p:spPr>
      </p:sp>
      <p:sp>
        <p:nvSpPr>
          <p:cNvPr id="3" name="Shape 1"/>
          <p:cNvSpPr/>
          <p:nvPr/>
        </p:nvSpPr>
        <p:spPr>
          <a:xfrm>
            <a:off x="0" y="6748272"/>
            <a:ext cx="12191695" cy="109728"/>
          </a:xfrm>
          <a:prstGeom prst="rect">
            <a:avLst/>
          </a:prstGeom>
          <a:solidFill>
            <a:srgbClr val="2EE6E6">
              <a:alpha val="70000"/>
            </a:srgbClr>
          </a:solidFill>
          <a:ln w="12700">
            <a:solidFill>
              <a:srgbClr val="2EE6E6">
                <a:alpha val="0"/>
              </a:srgbClr>
            </a:solidFill>
            <a:prstDash val="solid"/>
          </a:ln>
        </p:spPr>
      </p:sp>
      <p:sp>
        <p:nvSpPr>
          <p:cNvPr id="4" name="Text 2"/>
          <p:cNvSpPr/>
          <p:nvPr/>
        </p:nvSpPr>
        <p:spPr>
          <a:xfrm>
            <a:off x="502920" y="320040"/>
            <a:ext cx="8778240" cy="420624"/>
          </a:xfrm>
          <a:prstGeom prst="rect">
            <a:avLst/>
          </a:prstGeom>
          <a:noFill/>
          <a:ln/>
        </p:spPr>
        <p:txBody>
          <a:bodyPr wrap="square" lIns="254" tIns="254" rIns="254" bIns="254" rtlCol="0" anchor="ctr">
            <a:normAutofit/>
          </a:bodyPr>
          <a:lstStyle/>
          <a:p>
            <a:pPr marL="0" indent="0">
              <a:buNone/>
            </a:pPr>
            <a:r>
              <a:rPr lang="en-US" sz="2500" b="1" dirty="0">
                <a:solidFill>
                  <a:srgbClr val="F6FAFF"/>
                </a:solidFill>
                <a:latin typeface="Aptos Display" pitchFamily="34" charset="0"/>
                <a:ea typeface="Aptos Display" pitchFamily="34" charset="-122"/>
                <a:cs typeface="Aptos Display" pitchFamily="34" charset="-120"/>
              </a:rPr>
              <a:t>Ánh xạ thuật toán vào từng loại dữ liệu</a:t>
            </a:r>
            <a:endParaRPr lang="en-US" sz="2500" dirty="0"/>
          </a:p>
        </p:txBody>
      </p:sp>
      <p:sp>
        <p:nvSpPr>
          <p:cNvPr id="5" name="Text 3"/>
          <p:cNvSpPr/>
          <p:nvPr/>
        </p:nvSpPr>
        <p:spPr>
          <a:xfrm>
            <a:off x="530352" y="795528"/>
            <a:ext cx="8046720" cy="219456"/>
          </a:xfrm>
          <a:prstGeom prst="rect">
            <a:avLst/>
          </a:prstGeom>
          <a:noFill/>
          <a:ln/>
        </p:spPr>
        <p:txBody>
          <a:bodyPr wrap="square" lIns="127" tIns="127" rIns="127" bIns="127" rtlCol="0" anchor="ctr">
            <a:normAutofit/>
          </a:bodyPr>
          <a:lstStyle/>
          <a:p>
            <a:pPr marL="0" indent="0">
              <a:buNone/>
            </a:pPr>
            <a:r>
              <a:rPr lang="en-US" sz="1400" dirty="0">
                <a:solidFill>
                  <a:srgbClr val="B8C7D9"/>
                </a:solidFill>
              </a:rPr>
              <a:t>Mỗi thuật toán được dùng với mục đích khác nhau trong hệ thống.</a:t>
            </a:r>
            <a:endParaRPr lang="en-US" sz="1400" dirty="0"/>
          </a:p>
        </p:txBody>
      </p:sp>
      <p:sp>
        <p:nvSpPr>
          <p:cNvPr id="6" name="Text 4"/>
          <p:cNvSpPr/>
          <p:nvPr/>
        </p:nvSpPr>
        <p:spPr>
          <a:xfrm>
            <a:off x="502920" y="6528816"/>
            <a:ext cx="6583680" cy="164592"/>
          </a:xfrm>
          <a:prstGeom prst="rect">
            <a:avLst/>
          </a:prstGeom>
          <a:noFill/>
          <a:ln/>
        </p:spPr>
        <p:txBody>
          <a:bodyPr wrap="square" lIns="0" tIns="0" rIns="0" bIns="0" rtlCol="0" anchor="ctr">
            <a:normAutofit/>
          </a:bodyPr>
          <a:lstStyle/>
          <a:p>
            <a:pPr marL="0" indent="0">
              <a:buNone/>
            </a:pPr>
            <a:r>
              <a:rPr lang="en-US" sz="750" dirty="0">
                <a:solidFill>
                  <a:srgbClr val="B8C7D9"/>
                </a:solidFill>
              </a:rPr>
              <a:t>Đề tài 22 · Triple DES &amp; AES · 11</a:t>
            </a:r>
            <a:endParaRPr lang="en-US" sz="750" dirty="0"/>
          </a:p>
        </p:txBody>
      </p:sp>
      <p:sp>
        <p:nvSpPr>
          <p:cNvPr id="7" name="Text 5"/>
          <p:cNvSpPr/>
          <p:nvPr/>
        </p:nvSpPr>
        <p:spPr>
          <a:xfrm>
            <a:off x="731520" y="1234440"/>
            <a:ext cx="5303520" cy="4343400"/>
          </a:xfrm>
          <a:prstGeom prst="rect">
            <a:avLst/>
          </a:prstGeom>
          <a:solidFill>
            <a:srgbClr val="102B46"/>
          </a:solidFill>
          <a:ln>
            <a:solidFill>
              <a:srgbClr val="2A6F9A">
                <a:alpha val="75000"/>
              </a:srgbClr>
            </a:solidFill>
          </a:ln>
        </p:spPr>
        <p:txBody>
          <a:bodyPr wrap="square" lIns="1905" tIns="1905" rIns="1905" bIns="1905" rtlCol="0" anchor="ctr">
            <a:normAutofit/>
          </a:bodyPr>
          <a:lstStyle/>
          <a:p>
            <a:pPr marL="0" indent="0">
              <a:buNone/>
            </a:pPr>
            <a:r>
              <a:rPr lang="en-US" sz="2400" b="1" dirty="0">
                <a:solidFill>
                  <a:srgbClr val="FFB347"/>
                </a:solidFill>
                <a:latin typeface="Aptos" pitchFamily="34" charset="0"/>
                <a:ea typeface="Aptos" pitchFamily="34" charset="-122"/>
                <a:cs typeface="Aptos" pitchFamily="34" charset="-120"/>
              </a:rPr>
              <a:t>CCCD/CMND → Triple DES
</a:t>
            </a:r>
            <a:r>
              <a:rPr lang="en-US" sz="2400" dirty="0">
                <a:solidFill>
                  <a:srgbClr val="B8C7D9"/>
                </a:solidFill>
                <a:latin typeface="Aptos" pitchFamily="34" charset="0"/>
                <a:ea typeface="Aptos" pitchFamily="34" charset="-122"/>
                <a:cs typeface="Aptos" pitchFamily="34" charset="-120"/>
              </a:rPr>
              <a:t>• Theo yêu cầu đề tài</a:t>
            </a:r>
            <a:endParaRPr lang="en-US" sz="2400" dirty="0"/>
          </a:p>
          <a:p>
            <a:pPr marL="0" indent="0">
              <a:buNone/>
            </a:pPr>
            <a:r>
              <a:rPr lang="en-US" sz="2400" dirty="0">
                <a:solidFill>
                  <a:srgbClr val="B8C7D9"/>
                </a:solidFill>
                <a:latin typeface="Aptos" pitchFamily="34" charset="0"/>
                <a:ea typeface="Aptos" pitchFamily="34" charset="-122"/>
                <a:cs typeface="Aptos" pitchFamily="34" charset="-120"/>
              </a:rPr>
              <a:t>• Minh họa tương thích hệ thống cũ</a:t>
            </a:r>
            <a:endParaRPr lang="en-US" sz="2400" dirty="0"/>
          </a:p>
          <a:p>
            <a:pPr marL="0" indent="0">
              <a:buNone/>
            </a:pPr>
            <a:r>
              <a:rPr lang="en-US" sz="2400" dirty="0">
                <a:solidFill>
                  <a:srgbClr val="B8C7D9"/>
                </a:solidFill>
                <a:latin typeface="Aptos" pitchFamily="34" charset="0"/>
                <a:ea typeface="Aptos" pitchFamily="34" charset="-122"/>
                <a:cs typeface="Aptos" pitchFamily="34" charset="-120"/>
              </a:rPr>
              <a:t>• Phù hợp trường hợp hệ thống kế thừa đang dùng 3DES</a:t>
            </a:r>
            <a:endParaRPr lang="en-US" sz="2400" dirty="0"/>
          </a:p>
          <a:p>
            <a:pPr marL="0" indent="0">
              <a:buNone/>
            </a:pPr>
            <a:r>
              <a:rPr lang="en-US" sz="2400" dirty="0">
                <a:solidFill>
                  <a:srgbClr val="B8C7D9"/>
                </a:solidFill>
                <a:latin typeface="Aptos" pitchFamily="34" charset="0"/>
                <a:ea typeface="Aptos" pitchFamily="34" charset="-122"/>
                <a:cs typeface="Aptos" pitchFamily="34" charset="-120"/>
              </a:rPr>
              <a:t>• Dữ liệu định danh cần ổn định, ít thay đổi</a:t>
            </a:r>
            <a:endParaRPr lang="en-US" sz="2400" dirty="0"/>
          </a:p>
        </p:txBody>
      </p:sp>
      <p:sp>
        <p:nvSpPr>
          <p:cNvPr id="8" name="Text 6"/>
          <p:cNvSpPr/>
          <p:nvPr/>
        </p:nvSpPr>
        <p:spPr>
          <a:xfrm>
            <a:off x="6355080" y="1234440"/>
            <a:ext cx="5120640" cy="4343400"/>
          </a:xfrm>
          <a:prstGeom prst="rect">
            <a:avLst/>
          </a:prstGeom>
          <a:solidFill>
            <a:srgbClr val="102B46"/>
          </a:solidFill>
          <a:ln>
            <a:solidFill>
              <a:srgbClr val="2A6F9A">
                <a:alpha val="75000"/>
              </a:srgbClr>
            </a:solidFill>
          </a:ln>
        </p:spPr>
        <p:txBody>
          <a:bodyPr wrap="square" lIns="1905" tIns="1905" rIns="1905" bIns="1905" rtlCol="0" anchor="ctr">
            <a:normAutofit/>
          </a:bodyPr>
          <a:lstStyle/>
          <a:p>
            <a:pPr marL="0" indent="0">
              <a:buNone/>
            </a:pPr>
            <a:r>
              <a:rPr lang="en-US" sz="2400" b="1" dirty="0">
                <a:solidFill>
                  <a:srgbClr val="2EE6E6"/>
                </a:solidFill>
                <a:latin typeface="Aptos" pitchFamily="34" charset="0"/>
                <a:ea typeface="Aptos" pitchFamily="34" charset="-122"/>
                <a:cs typeface="Aptos" pitchFamily="34" charset="-120"/>
              </a:rPr>
              <a:t>BHXH, STK, địa chỉ → AES-256
</a:t>
            </a:r>
            <a:r>
              <a:rPr lang="en-US" sz="2400" dirty="0">
                <a:solidFill>
                  <a:srgbClr val="B8C7D9"/>
                </a:solidFill>
                <a:latin typeface="Aptos" pitchFamily="34" charset="0"/>
                <a:ea typeface="Aptos" pitchFamily="34" charset="-122"/>
                <a:cs typeface="Aptos" pitchFamily="34" charset="-120"/>
              </a:rPr>
              <a:t>• Cần độ an toàn cao</a:t>
            </a:r>
            <a:endParaRPr lang="en-US" sz="2400" dirty="0"/>
          </a:p>
          <a:p>
            <a:pPr marL="0" indent="0">
              <a:buNone/>
            </a:pPr>
            <a:r>
              <a:rPr lang="en-US" sz="2400" dirty="0">
                <a:solidFill>
                  <a:srgbClr val="B8C7D9"/>
                </a:solidFill>
                <a:latin typeface="Aptos" pitchFamily="34" charset="0"/>
                <a:ea typeface="Aptos" pitchFamily="34" charset="-122"/>
                <a:cs typeface="Aptos" pitchFamily="34" charset="-120"/>
              </a:rPr>
              <a:t>• Cần hiệu năng tốt</a:t>
            </a:r>
            <a:endParaRPr lang="en-US" sz="2400" dirty="0"/>
          </a:p>
          <a:p>
            <a:pPr marL="0" indent="0">
              <a:buNone/>
            </a:pPr>
            <a:r>
              <a:rPr lang="en-US" sz="2400" dirty="0">
                <a:solidFill>
                  <a:srgbClr val="B8C7D9"/>
                </a:solidFill>
                <a:latin typeface="Aptos" pitchFamily="34" charset="0"/>
                <a:ea typeface="Aptos" pitchFamily="34" charset="-122"/>
                <a:cs typeface="Aptos" pitchFamily="34" charset="-120"/>
              </a:rPr>
              <a:t>• Phù hợp hệ thống hiện đại</a:t>
            </a:r>
            <a:endParaRPr lang="en-US" sz="2400" dirty="0"/>
          </a:p>
          <a:p>
            <a:pPr marL="0" indent="0">
              <a:buNone/>
            </a:pPr>
            <a:r>
              <a:rPr lang="en-US" sz="2400" dirty="0">
                <a:solidFill>
                  <a:srgbClr val="B8C7D9"/>
                </a:solidFill>
                <a:latin typeface="Aptos" pitchFamily="34" charset="0"/>
                <a:ea typeface="Aptos" pitchFamily="34" charset="-122"/>
                <a:cs typeface="Aptos" pitchFamily="34" charset="-120"/>
              </a:rPr>
              <a:t>• Có thể truy xuất nhiều lần khi người dùng xem/sửa thông tin</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071626"/>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2EE6E6">
              <a:alpha val="90000"/>
            </a:srgbClr>
          </a:solidFill>
          <a:ln w="12700">
            <a:solidFill>
              <a:srgbClr val="2EE6E6">
                <a:alpha val="0"/>
              </a:srgbClr>
            </a:solidFill>
            <a:prstDash val="solid"/>
          </a:ln>
        </p:spPr>
      </p:sp>
      <p:sp>
        <p:nvSpPr>
          <p:cNvPr id="3" name="Shape 1"/>
          <p:cNvSpPr/>
          <p:nvPr/>
        </p:nvSpPr>
        <p:spPr>
          <a:xfrm>
            <a:off x="0" y="6748272"/>
            <a:ext cx="12191695" cy="109728"/>
          </a:xfrm>
          <a:prstGeom prst="rect">
            <a:avLst/>
          </a:prstGeom>
          <a:solidFill>
            <a:srgbClr val="2EE6E6">
              <a:alpha val="70000"/>
            </a:srgbClr>
          </a:solidFill>
          <a:ln w="12700">
            <a:solidFill>
              <a:srgbClr val="2EE6E6">
                <a:alpha val="0"/>
              </a:srgbClr>
            </a:solidFill>
            <a:prstDash val="solid"/>
          </a:ln>
        </p:spPr>
      </p:sp>
      <p:sp>
        <p:nvSpPr>
          <p:cNvPr id="4" name="Text 2"/>
          <p:cNvSpPr/>
          <p:nvPr/>
        </p:nvSpPr>
        <p:spPr>
          <a:xfrm>
            <a:off x="502920" y="320040"/>
            <a:ext cx="8778240" cy="420624"/>
          </a:xfrm>
          <a:prstGeom prst="rect">
            <a:avLst/>
          </a:prstGeom>
          <a:noFill/>
          <a:ln/>
        </p:spPr>
        <p:txBody>
          <a:bodyPr wrap="square" lIns="254" tIns="254" rIns="254" bIns="254" rtlCol="0" anchor="ctr">
            <a:normAutofit/>
          </a:bodyPr>
          <a:lstStyle/>
          <a:p>
            <a:pPr marL="0" indent="0">
              <a:buNone/>
            </a:pPr>
            <a:r>
              <a:rPr lang="en-US" sz="2500" b="1" dirty="0">
                <a:solidFill>
                  <a:srgbClr val="F6FAFF"/>
                </a:solidFill>
                <a:latin typeface="Aptos Display" pitchFamily="34" charset="0"/>
                <a:ea typeface="Aptos Display" pitchFamily="34" charset="-122"/>
                <a:cs typeface="Aptos Display" pitchFamily="34" charset="-120"/>
              </a:rPr>
              <a:t>Kiến trúc tổng thể của hệ thống</a:t>
            </a:r>
            <a:endParaRPr lang="en-US" sz="2500" dirty="0"/>
          </a:p>
        </p:txBody>
      </p:sp>
      <p:sp>
        <p:nvSpPr>
          <p:cNvPr id="5" name="Text 3"/>
          <p:cNvSpPr/>
          <p:nvPr/>
        </p:nvSpPr>
        <p:spPr>
          <a:xfrm>
            <a:off x="530352" y="795528"/>
            <a:ext cx="8046720" cy="219456"/>
          </a:xfrm>
          <a:prstGeom prst="rect">
            <a:avLst/>
          </a:prstGeom>
          <a:noFill/>
          <a:ln/>
        </p:spPr>
        <p:txBody>
          <a:bodyPr wrap="square" lIns="127" tIns="127" rIns="127" bIns="127" rtlCol="0" anchor="ctr">
            <a:normAutofit/>
          </a:bodyPr>
          <a:lstStyle/>
          <a:p>
            <a:pPr marL="0" indent="0">
              <a:buNone/>
            </a:pPr>
            <a:r>
              <a:rPr lang="en-US" sz="950" dirty="0">
                <a:solidFill>
                  <a:srgbClr val="B8C7D9"/>
                </a:solidFill>
              </a:rPr>
              <a:t>Luồng chính: người dùng → server mã hóa/giải mã → database lưu bản mã.</a:t>
            </a:r>
            <a:endParaRPr lang="en-US" sz="950" dirty="0"/>
          </a:p>
        </p:txBody>
      </p:sp>
      <p:sp>
        <p:nvSpPr>
          <p:cNvPr id="6" name="Text 4"/>
          <p:cNvSpPr/>
          <p:nvPr/>
        </p:nvSpPr>
        <p:spPr>
          <a:xfrm>
            <a:off x="502920" y="6528816"/>
            <a:ext cx="6583680" cy="164592"/>
          </a:xfrm>
          <a:prstGeom prst="rect">
            <a:avLst/>
          </a:prstGeom>
          <a:noFill/>
          <a:ln/>
        </p:spPr>
        <p:txBody>
          <a:bodyPr wrap="square" lIns="0" tIns="0" rIns="0" bIns="0" rtlCol="0" anchor="ctr">
            <a:normAutofit/>
          </a:bodyPr>
          <a:lstStyle/>
          <a:p>
            <a:pPr marL="0" indent="0">
              <a:buNone/>
            </a:pPr>
            <a:r>
              <a:rPr lang="en-US" sz="750" dirty="0">
                <a:solidFill>
                  <a:srgbClr val="B8C7D9"/>
                </a:solidFill>
              </a:rPr>
              <a:t>Đề tài 22 · Triple DES &amp; AES · 12</a:t>
            </a:r>
            <a:endParaRPr lang="en-US" sz="750" dirty="0"/>
          </a:p>
        </p:txBody>
      </p:sp>
      <p:sp>
        <p:nvSpPr>
          <p:cNvPr id="7" name="Text 5"/>
          <p:cNvSpPr/>
          <p:nvPr/>
        </p:nvSpPr>
        <p:spPr>
          <a:xfrm>
            <a:off x="731520" y="1828800"/>
            <a:ext cx="2468880" cy="1417320"/>
          </a:xfrm>
          <a:prstGeom prst="rect">
            <a:avLst/>
          </a:prstGeom>
          <a:solidFill>
            <a:srgbClr val="102B46"/>
          </a:solidFill>
          <a:ln>
            <a:solidFill>
              <a:srgbClr val="2A6F9A">
                <a:alpha val="75000"/>
              </a:srgbClr>
            </a:solidFill>
          </a:ln>
        </p:spPr>
        <p:txBody>
          <a:bodyPr wrap="square" lIns="1905" tIns="1905" rIns="1905" bIns="1905" rtlCol="0" anchor="ctr">
            <a:normAutofit/>
          </a:bodyPr>
          <a:lstStyle/>
          <a:p>
            <a:pPr marL="0" indent="0">
              <a:buNone/>
            </a:pPr>
            <a:r>
              <a:rPr lang="en-US" sz="1400" b="1" dirty="0">
                <a:solidFill>
                  <a:srgbClr val="2EE6E6"/>
                </a:solidFill>
                <a:latin typeface="Aptos" pitchFamily="34" charset="0"/>
                <a:ea typeface="Aptos" pitchFamily="34" charset="-122"/>
                <a:cs typeface="Aptos" pitchFamily="34" charset="-120"/>
              </a:rPr>
              <a:t> 1. Người dùng
 </a:t>
            </a:r>
            <a:r>
              <a:rPr lang="en-US" sz="1120" dirty="0" err="1">
                <a:solidFill>
                  <a:srgbClr val="B8C7D9"/>
                </a:solidFill>
                <a:latin typeface="Aptos" pitchFamily="34" charset="0"/>
                <a:ea typeface="Aptos" pitchFamily="34" charset="-122"/>
                <a:cs typeface="Aptos" pitchFamily="34" charset="-120"/>
              </a:rPr>
              <a:t>Đăng</a:t>
            </a:r>
            <a:r>
              <a:rPr lang="en-US" sz="1120" dirty="0">
                <a:solidFill>
                  <a:srgbClr val="B8C7D9"/>
                </a:solidFill>
                <a:latin typeface="Aptos" pitchFamily="34" charset="0"/>
                <a:ea typeface="Aptos" pitchFamily="34" charset="-122"/>
                <a:cs typeface="Aptos" pitchFamily="34" charset="-120"/>
              </a:rPr>
              <a:t> ký, đăng nhập, xem/sửa/xóa thông tin</a:t>
            </a:r>
            <a:endParaRPr lang="en-US" sz="1400" dirty="0"/>
          </a:p>
        </p:txBody>
      </p:sp>
      <p:sp>
        <p:nvSpPr>
          <p:cNvPr id="8" name="Text 6"/>
          <p:cNvSpPr/>
          <p:nvPr/>
        </p:nvSpPr>
        <p:spPr>
          <a:xfrm>
            <a:off x="3566160" y="1828800"/>
            <a:ext cx="2468880" cy="1417320"/>
          </a:xfrm>
          <a:prstGeom prst="rect">
            <a:avLst/>
          </a:prstGeom>
          <a:solidFill>
            <a:srgbClr val="102B46"/>
          </a:solidFill>
          <a:ln>
            <a:solidFill>
              <a:srgbClr val="2A6F9A">
                <a:alpha val="75000"/>
              </a:srgbClr>
            </a:solidFill>
          </a:ln>
        </p:spPr>
        <p:txBody>
          <a:bodyPr wrap="square" lIns="1905" tIns="1905" rIns="1905" bIns="1905" rtlCol="0" anchor="ctr">
            <a:normAutofit/>
          </a:bodyPr>
          <a:lstStyle/>
          <a:p>
            <a:pPr marL="0" indent="0">
              <a:buNone/>
            </a:pPr>
            <a:r>
              <a:rPr lang="en-US" sz="1400" b="1" dirty="0">
                <a:solidFill>
                  <a:srgbClr val="5CC8FF"/>
                </a:solidFill>
                <a:latin typeface="Aptos" pitchFamily="34" charset="0"/>
                <a:ea typeface="Aptos" pitchFamily="34" charset="-122"/>
                <a:cs typeface="Aptos" pitchFamily="34" charset="-120"/>
              </a:rPr>
              <a:t> 2. Giao diện
 </a:t>
            </a:r>
            <a:r>
              <a:rPr lang="en-US" sz="1120" dirty="0">
                <a:solidFill>
                  <a:srgbClr val="B8C7D9"/>
                </a:solidFill>
                <a:latin typeface="Aptos" pitchFamily="34" charset="0"/>
                <a:ea typeface="Aptos" pitchFamily="34" charset="-122"/>
                <a:cs typeface="Aptos" pitchFamily="34" charset="-120"/>
              </a:rPr>
              <a:t>Form nhập thông tin, trang cá nhân, trang admin</a:t>
            </a:r>
            <a:endParaRPr lang="en-US" sz="1400" dirty="0"/>
          </a:p>
        </p:txBody>
      </p:sp>
      <p:sp>
        <p:nvSpPr>
          <p:cNvPr id="9" name="Text 7"/>
          <p:cNvSpPr/>
          <p:nvPr/>
        </p:nvSpPr>
        <p:spPr>
          <a:xfrm>
            <a:off x="6400800" y="1828800"/>
            <a:ext cx="2468880" cy="1417320"/>
          </a:xfrm>
          <a:prstGeom prst="rect">
            <a:avLst/>
          </a:prstGeom>
          <a:solidFill>
            <a:srgbClr val="102B46"/>
          </a:solidFill>
          <a:ln>
            <a:solidFill>
              <a:srgbClr val="2A6F9A">
                <a:alpha val="75000"/>
              </a:srgbClr>
            </a:solidFill>
          </a:ln>
        </p:spPr>
        <p:txBody>
          <a:bodyPr wrap="square" lIns="1905" tIns="1905" rIns="1905" bIns="1905" rtlCol="0" anchor="ctr">
            <a:normAutofit/>
          </a:bodyPr>
          <a:lstStyle/>
          <a:p>
            <a:pPr marL="0" indent="0">
              <a:buNone/>
            </a:pPr>
            <a:r>
              <a:rPr lang="en-US" sz="1400" b="1" dirty="0">
                <a:solidFill>
                  <a:srgbClr val="FFB347"/>
                </a:solidFill>
                <a:latin typeface="Aptos" pitchFamily="34" charset="0"/>
                <a:ea typeface="Aptos" pitchFamily="34" charset="-122"/>
                <a:cs typeface="Aptos" pitchFamily="34" charset="-120"/>
              </a:rPr>
              <a:t> 3. Server xử lý
 </a:t>
            </a:r>
            <a:r>
              <a:rPr lang="en-US" sz="1120" dirty="0" err="1">
                <a:solidFill>
                  <a:srgbClr val="B8C7D9"/>
                </a:solidFill>
                <a:latin typeface="Aptos" pitchFamily="34" charset="0"/>
                <a:ea typeface="Aptos" pitchFamily="34" charset="-122"/>
                <a:cs typeface="Aptos" pitchFamily="34" charset="-120"/>
              </a:rPr>
              <a:t>Xác</a:t>
            </a:r>
            <a:r>
              <a:rPr lang="en-US" sz="1120" dirty="0">
                <a:solidFill>
                  <a:srgbClr val="B8C7D9"/>
                </a:solidFill>
                <a:latin typeface="Aptos" pitchFamily="34" charset="0"/>
                <a:ea typeface="Aptos" pitchFamily="34" charset="-122"/>
                <a:cs typeface="Aptos" pitchFamily="34" charset="-120"/>
              </a:rPr>
              <a:t> thực, mã hóa, giải mã, ghi log</a:t>
            </a:r>
            <a:endParaRPr lang="en-US" sz="1400" dirty="0"/>
          </a:p>
        </p:txBody>
      </p:sp>
      <p:sp>
        <p:nvSpPr>
          <p:cNvPr id="10" name="Text 8"/>
          <p:cNvSpPr/>
          <p:nvPr/>
        </p:nvSpPr>
        <p:spPr>
          <a:xfrm>
            <a:off x="9235440" y="1828800"/>
            <a:ext cx="2468880" cy="1417320"/>
          </a:xfrm>
          <a:prstGeom prst="rect">
            <a:avLst/>
          </a:prstGeom>
          <a:solidFill>
            <a:srgbClr val="102B46"/>
          </a:solidFill>
          <a:ln>
            <a:solidFill>
              <a:srgbClr val="2A6F9A">
                <a:alpha val="75000"/>
              </a:srgbClr>
            </a:solidFill>
          </a:ln>
        </p:spPr>
        <p:txBody>
          <a:bodyPr wrap="square" lIns="1905" tIns="1905" rIns="1905" bIns="1905" rtlCol="0" anchor="ctr">
            <a:normAutofit/>
          </a:bodyPr>
          <a:lstStyle/>
          <a:p>
            <a:pPr marL="0" indent="0">
              <a:buNone/>
            </a:pPr>
            <a:r>
              <a:rPr lang="en-US" sz="1400" b="1" dirty="0">
                <a:solidFill>
                  <a:srgbClr val="63D471"/>
                </a:solidFill>
                <a:latin typeface="Aptos" pitchFamily="34" charset="0"/>
                <a:ea typeface="Aptos" pitchFamily="34" charset="-122"/>
                <a:cs typeface="Aptos" pitchFamily="34" charset="-120"/>
              </a:rPr>
              <a:t> 4. Database
 </a:t>
            </a:r>
            <a:r>
              <a:rPr lang="en-US" sz="1120" dirty="0">
                <a:solidFill>
                  <a:srgbClr val="B8C7D9"/>
                </a:solidFill>
                <a:latin typeface="Aptos" pitchFamily="34" charset="0"/>
                <a:ea typeface="Aptos" pitchFamily="34" charset="-122"/>
                <a:cs typeface="Aptos" pitchFamily="34" charset="-120"/>
              </a:rPr>
              <a:t>Lưu dữ liệu mã hóa và log hệ thống</a:t>
            </a:r>
            <a:endParaRPr lang="en-US" sz="1400" dirty="0"/>
          </a:p>
        </p:txBody>
      </p:sp>
      <p:sp>
        <p:nvSpPr>
          <p:cNvPr id="11" name="Shape 9"/>
          <p:cNvSpPr/>
          <p:nvPr/>
        </p:nvSpPr>
        <p:spPr>
          <a:xfrm>
            <a:off x="3218688" y="2542032"/>
            <a:ext cx="283464" cy="0"/>
          </a:xfrm>
          <a:prstGeom prst="line">
            <a:avLst/>
          </a:prstGeom>
          <a:noFill/>
          <a:ln w="12700">
            <a:solidFill>
              <a:srgbClr val="B8C7D9"/>
            </a:solidFill>
            <a:prstDash val="solid"/>
            <a:tailEnd type="triangle"/>
          </a:ln>
        </p:spPr>
      </p:sp>
      <p:sp>
        <p:nvSpPr>
          <p:cNvPr id="12" name="Shape 10"/>
          <p:cNvSpPr/>
          <p:nvPr/>
        </p:nvSpPr>
        <p:spPr>
          <a:xfrm>
            <a:off x="6053328" y="2542032"/>
            <a:ext cx="283464" cy="0"/>
          </a:xfrm>
          <a:prstGeom prst="line">
            <a:avLst/>
          </a:prstGeom>
          <a:noFill/>
          <a:ln w="12700">
            <a:solidFill>
              <a:srgbClr val="B8C7D9"/>
            </a:solidFill>
            <a:prstDash val="solid"/>
            <a:tailEnd type="triangle"/>
          </a:ln>
        </p:spPr>
      </p:sp>
      <p:sp>
        <p:nvSpPr>
          <p:cNvPr id="13" name="Shape 11"/>
          <p:cNvSpPr/>
          <p:nvPr/>
        </p:nvSpPr>
        <p:spPr>
          <a:xfrm>
            <a:off x="8887968" y="2542032"/>
            <a:ext cx="283464" cy="0"/>
          </a:xfrm>
          <a:prstGeom prst="line">
            <a:avLst/>
          </a:prstGeom>
          <a:noFill/>
          <a:ln w="12700">
            <a:solidFill>
              <a:srgbClr val="B8C7D9"/>
            </a:solidFill>
            <a:prstDash val="solid"/>
            <a:tailEnd type="triangle"/>
          </a:ln>
        </p:spPr>
      </p:sp>
      <p:sp>
        <p:nvSpPr>
          <p:cNvPr id="14" name="Text 12"/>
          <p:cNvSpPr/>
          <p:nvPr/>
        </p:nvSpPr>
        <p:spPr>
          <a:xfrm>
            <a:off x="1097280" y="4297680"/>
            <a:ext cx="9966960" cy="822960"/>
          </a:xfrm>
          <a:prstGeom prst="rect">
            <a:avLst/>
          </a:prstGeom>
          <a:solidFill>
            <a:srgbClr val="102B46"/>
          </a:solidFill>
          <a:ln>
            <a:solidFill>
              <a:srgbClr val="2A6F9A">
                <a:alpha val="75000"/>
              </a:srgbClr>
            </a:solidFill>
          </a:ln>
        </p:spPr>
        <p:txBody>
          <a:bodyPr wrap="square" lIns="1905" tIns="1905" rIns="1905" bIns="1905" rtlCol="0" anchor="ctr">
            <a:normAutofit/>
          </a:bodyPr>
          <a:lstStyle/>
          <a:p>
            <a:pPr marL="0" indent="0">
              <a:buNone/>
            </a:pPr>
            <a:r>
              <a:rPr lang="en-US" sz="1600" b="1" dirty="0">
                <a:solidFill>
                  <a:srgbClr val="2EE6E6"/>
                </a:solidFill>
                <a:latin typeface="Aptos" pitchFamily="34" charset="0"/>
                <a:ea typeface="Aptos" pitchFamily="34" charset="-122"/>
                <a:cs typeface="Aptos" pitchFamily="34" charset="-120"/>
              </a:rPr>
              <a:t> </a:t>
            </a:r>
            <a:r>
              <a:rPr lang="en-US" sz="1600" b="1" dirty="0" err="1">
                <a:solidFill>
                  <a:srgbClr val="2EE6E6"/>
                </a:solidFill>
                <a:latin typeface="Aptos" pitchFamily="34" charset="0"/>
                <a:ea typeface="Aptos" pitchFamily="34" charset="-122"/>
                <a:cs typeface="Aptos" pitchFamily="34" charset="-120"/>
              </a:rPr>
              <a:t>Điểm</a:t>
            </a:r>
            <a:r>
              <a:rPr lang="en-US" sz="1600" b="1" dirty="0">
                <a:solidFill>
                  <a:srgbClr val="2EE6E6"/>
                </a:solidFill>
                <a:latin typeface="Aptos" pitchFamily="34" charset="0"/>
                <a:ea typeface="Aptos" pitchFamily="34" charset="-122"/>
                <a:cs typeface="Aptos" pitchFamily="34" charset="-120"/>
              </a:rPr>
              <a:t> bảo mật quan trọng
 </a:t>
            </a:r>
            <a:r>
              <a:rPr lang="en-US" sz="1450" dirty="0">
                <a:solidFill>
                  <a:srgbClr val="B8C7D9"/>
                </a:solidFill>
                <a:latin typeface="Aptos" pitchFamily="34" charset="0"/>
                <a:ea typeface="Aptos" pitchFamily="34" charset="-122"/>
                <a:cs typeface="Aptos" pitchFamily="34" charset="-120"/>
              </a:rPr>
              <a:t>Server là nơi kiểm soát xác thực, mã hóa/giải mã và ghi log. Database không nhận dữ liệu nhạy cảm dạng rõ.</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071626"/>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2EE6E6">
              <a:alpha val="90000"/>
            </a:srgbClr>
          </a:solidFill>
          <a:ln w="12700">
            <a:solidFill>
              <a:srgbClr val="2EE6E6">
                <a:alpha val="0"/>
              </a:srgbClr>
            </a:solidFill>
            <a:prstDash val="solid"/>
          </a:ln>
        </p:spPr>
      </p:sp>
      <p:sp>
        <p:nvSpPr>
          <p:cNvPr id="3" name="Shape 1"/>
          <p:cNvSpPr/>
          <p:nvPr/>
        </p:nvSpPr>
        <p:spPr>
          <a:xfrm>
            <a:off x="0" y="6748272"/>
            <a:ext cx="12191695" cy="109728"/>
          </a:xfrm>
          <a:prstGeom prst="rect">
            <a:avLst/>
          </a:prstGeom>
          <a:solidFill>
            <a:srgbClr val="2EE6E6">
              <a:alpha val="70000"/>
            </a:srgbClr>
          </a:solidFill>
          <a:ln w="12700">
            <a:solidFill>
              <a:srgbClr val="2EE6E6">
                <a:alpha val="0"/>
              </a:srgbClr>
            </a:solidFill>
            <a:prstDash val="solid"/>
          </a:ln>
        </p:spPr>
      </p:sp>
      <p:sp>
        <p:nvSpPr>
          <p:cNvPr id="4" name="Text 2"/>
          <p:cNvSpPr/>
          <p:nvPr/>
        </p:nvSpPr>
        <p:spPr>
          <a:xfrm>
            <a:off x="502920" y="320040"/>
            <a:ext cx="8778240" cy="420624"/>
          </a:xfrm>
          <a:prstGeom prst="rect">
            <a:avLst/>
          </a:prstGeom>
          <a:noFill/>
          <a:ln/>
        </p:spPr>
        <p:txBody>
          <a:bodyPr wrap="square" lIns="254" tIns="254" rIns="254" bIns="254" rtlCol="0" anchor="ctr">
            <a:normAutofit/>
          </a:bodyPr>
          <a:lstStyle/>
          <a:p>
            <a:pPr marL="0" indent="0">
              <a:buNone/>
            </a:pPr>
            <a:r>
              <a:rPr lang="en-US" sz="2500" b="1" dirty="0">
                <a:solidFill>
                  <a:srgbClr val="F6FAFF"/>
                </a:solidFill>
                <a:latin typeface="Aptos Display" pitchFamily="34" charset="0"/>
                <a:ea typeface="Aptos Display" pitchFamily="34" charset="-122"/>
                <a:cs typeface="Aptos Display" pitchFamily="34" charset="-120"/>
              </a:rPr>
              <a:t>Thiết kế cơ sở dữ liệu</a:t>
            </a:r>
            <a:endParaRPr lang="en-US" sz="2500" dirty="0"/>
          </a:p>
        </p:txBody>
      </p:sp>
      <p:sp>
        <p:nvSpPr>
          <p:cNvPr id="5" name="Text 3"/>
          <p:cNvSpPr/>
          <p:nvPr/>
        </p:nvSpPr>
        <p:spPr>
          <a:xfrm>
            <a:off x="530352" y="795528"/>
            <a:ext cx="8046720" cy="219456"/>
          </a:xfrm>
          <a:prstGeom prst="rect">
            <a:avLst/>
          </a:prstGeom>
          <a:noFill/>
          <a:ln/>
        </p:spPr>
        <p:txBody>
          <a:bodyPr wrap="square" lIns="127" tIns="127" rIns="127" bIns="127" rtlCol="0" anchor="ctr">
            <a:normAutofit/>
          </a:bodyPr>
          <a:lstStyle/>
          <a:p>
            <a:pPr marL="0" indent="0">
              <a:buNone/>
            </a:pPr>
            <a:r>
              <a:rPr lang="en-US" sz="950" dirty="0">
                <a:solidFill>
                  <a:srgbClr val="B8C7D9"/>
                </a:solidFill>
              </a:rPr>
              <a:t>Database tách dữ liệu người dùng và lịch sử truy cập/thay đổi.</a:t>
            </a:r>
            <a:endParaRPr lang="en-US" sz="950" dirty="0"/>
          </a:p>
        </p:txBody>
      </p:sp>
      <p:sp>
        <p:nvSpPr>
          <p:cNvPr id="6" name="Text 4"/>
          <p:cNvSpPr/>
          <p:nvPr/>
        </p:nvSpPr>
        <p:spPr>
          <a:xfrm>
            <a:off x="502920" y="6528816"/>
            <a:ext cx="6583680" cy="164592"/>
          </a:xfrm>
          <a:prstGeom prst="rect">
            <a:avLst/>
          </a:prstGeom>
          <a:noFill/>
          <a:ln/>
        </p:spPr>
        <p:txBody>
          <a:bodyPr wrap="square" lIns="0" tIns="0" rIns="0" bIns="0" rtlCol="0" anchor="ctr">
            <a:normAutofit/>
          </a:bodyPr>
          <a:lstStyle/>
          <a:p>
            <a:pPr marL="0" indent="0">
              <a:buNone/>
            </a:pPr>
            <a:r>
              <a:rPr lang="en-US" sz="750" dirty="0">
                <a:solidFill>
                  <a:srgbClr val="B8C7D9"/>
                </a:solidFill>
              </a:rPr>
              <a:t>Đề tài 22 · Triple DES &amp; AES · 13</a:t>
            </a:r>
            <a:endParaRPr lang="en-US" sz="750" dirty="0"/>
          </a:p>
        </p:txBody>
      </p:sp>
      <p:sp>
        <p:nvSpPr>
          <p:cNvPr id="7" name="Text 5"/>
          <p:cNvSpPr/>
          <p:nvPr/>
        </p:nvSpPr>
        <p:spPr>
          <a:xfrm>
            <a:off x="601218" y="1195578"/>
            <a:ext cx="2798064" cy="609219"/>
          </a:xfrm>
          <a:prstGeom prst="rect">
            <a:avLst/>
          </a:prstGeom>
          <a:solidFill>
            <a:srgbClr val="0E3354"/>
          </a:solidFill>
          <a:ln>
            <a:solidFill>
              <a:srgbClr val="315B7B">
                <a:alpha val="75000"/>
              </a:srgbClr>
            </a:solidFill>
          </a:ln>
        </p:spPr>
        <p:txBody>
          <a:bodyPr wrap="square" lIns="699" tIns="699" rIns="699" bIns="699" rtlCol="0" anchor="ctr">
            <a:normAutofit/>
          </a:bodyPr>
          <a:lstStyle/>
          <a:p>
            <a:pPr marL="0" indent="0">
              <a:buNone/>
            </a:pPr>
            <a:r>
              <a:rPr lang="en-US" sz="980" b="1" dirty="0">
                <a:solidFill>
                  <a:srgbClr val="2EE6E6"/>
                </a:solidFill>
                <a:latin typeface="Aptos" pitchFamily="34" charset="0"/>
                <a:ea typeface="Aptos" pitchFamily="34" charset="-122"/>
                <a:cs typeface="Aptos" pitchFamily="34" charset="-120"/>
              </a:rPr>
              <a:t>Bảng users</a:t>
            </a:r>
            <a:endParaRPr lang="en-US" sz="980" dirty="0"/>
          </a:p>
        </p:txBody>
      </p:sp>
      <p:sp>
        <p:nvSpPr>
          <p:cNvPr id="8" name="Text 6"/>
          <p:cNvSpPr/>
          <p:nvPr/>
        </p:nvSpPr>
        <p:spPr>
          <a:xfrm>
            <a:off x="3412998" y="1195578"/>
            <a:ext cx="2798064" cy="609219"/>
          </a:xfrm>
          <a:prstGeom prst="rect">
            <a:avLst/>
          </a:prstGeom>
          <a:solidFill>
            <a:srgbClr val="0E3354"/>
          </a:solidFill>
          <a:ln>
            <a:solidFill>
              <a:srgbClr val="315B7B">
                <a:alpha val="75000"/>
              </a:srgbClr>
            </a:solidFill>
          </a:ln>
        </p:spPr>
        <p:txBody>
          <a:bodyPr wrap="square" lIns="699" tIns="699" rIns="699" bIns="699" rtlCol="0" anchor="ctr">
            <a:normAutofit/>
          </a:bodyPr>
          <a:lstStyle/>
          <a:p>
            <a:pPr marL="0" indent="0">
              <a:buNone/>
            </a:pPr>
            <a:r>
              <a:rPr lang="en-US" sz="980" b="1" dirty="0">
                <a:solidFill>
                  <a:srgbClr val="2EE6E6"/>
                </a:solidFill>
                <a:latin typeface="Aptos" pitchFamily="34" charset="0"/>
                <a:ea typeface="Aptos" pitchFamily="34" charset="-122"/>
                <a:cs typeface="Aptos" pitchFamily="34" charset="-120"/>
              </a:rPr>
              <a:t>Ý nghĩa</a:t>
            </a:r>
            <a:endParaRPr lang="en-US" sz="980" dirty="0"/>
          </a:p>
        </p:txBody>
      </p:sp>
      <p:sp>
        <p:nvSpPr>
          <p:cNvPr id="9" name="Text 7"/>
          <p:cNvSpPr/>
          <p:nvPr/>
        </p:nvSpPr>
        <p:spPr>
          <a:xfrm>
            <a:off x="601218" y="1818513"/>
            <a:ext cx="2798064" cy="609219"/>
          </a:xfrm>
          <a:prstGeom prst="rect">
            <a:avLst/>
          </a:prstGeom>
          <a:solidFill>
            <a:srgbClr val="102B46"/>
          </a:solidFill>
          <a:ln>
            <a:solidFill>
              <a:srgbClr val="315B7B">
                <a:alpha val="75000"/>
              </a:srgbClr>
            </a:solidFill>
          </a:ln>
        </p:spPr>
        <p:txBody>
          <a:bodyPr wrap="square" lIns="699" tIns="699" rIns="699" bIns="699" rtlCol="0" anchor="ctr">
            <a:normAutofit/>
          </a:bodyPr>
          <a:lstStyle/>
          <a:p>
            <a:pPr marL="0" indent="0">
              <a:buNone/>
            </a:pPr>
            <a:r>
              <a:rPr lang="en-US" sz="980" dirty="0">
                <a:solidFill>
                  <a:srgbClr val="F6FAFF"/>
                </a:solidFill>
                <a:latin typeface="Aptos" pitchFamily="34" charset="0"/>
                <a:ea typeface="Aptos" pitchFamily="34" charset="-122"/>
                <a:cs typeface="Aptos" pitchFamily="34" charset="-120"/>
              </a:rPr>
              <a:t>id, username</a:t>
            </a:r>
            <a:endParaRPr lang="en-US" sz="980" dirty="0"/>
          </a:p>
        </p:txBody>
      </p:sp>
      <p:sp>
        <p:nvSpPr>
          <p:cNvPr id="10" name="Text 8"/>
          <p:cNvSpPr/>
          <p:nvPr/>
        </p:nvSpPr>
        <p:spPr>
          <a:xfrm>
            <a:off x="3412998" y="1818513"/>
            <a:ext cx="2798064" cy="609219"/>
          </a:xfrm>
          <a:prstGeom prst="rect">
            <a:avLst/>
          </a:prstGeom>
          <a:solidFill>
            <a:srgbClr val="102B46"/>
          </a:solidFill>
          <a:ln>
            <a:solidFill>
              <a:srgbClr val="315B7B">
                <a:alpha val="75000"/>
              </a:srgbClr>
            </a:solidFill>
          </a:ln>
        </p:spPr>
        <p:txBody>
          <a:bodyPr wrap="square" lIns="699" tIns="699" rIns="699" bIns="699" rtlCol="0" anchor="ctr">
            <a:normAutofit/>
          </a:bodyPr>
          <a:lstStyle/>
          <a:p>
            <a:pPr marL="0" indent="0">
              <a:buNone/>
            </a:pPr>
            <a:r>
              <a:rPr lang="en-US" sz="980" dirty="0">
                <a:solidFill>
                  <a:srgbClr val="F6FAFF"/>
                </a:solidFill>
                <a:latin typeface="Aptos" pitchFamily="34" charset="0"/>
                <a:ea typeface="Aptos" pitchFamily="34" charset="-122"/>
                <a:cs typeface="Aptos" pitchFamily="34" charset="-120"/>
              </a:rPr>
              <a:t>Mã người dùng, tên đăng nhập</a:t>
            </a:r>
            <a:endParaRPr lang="en-US" sz="980" dirty="0"/>
          </a:p>
        </p:txBody>
      </p:sp>
      <p:sp>
        <p:nvSpPr>
          <p:cNvPr id="11" name="Text 9"/>
          <p:cNvSpPr/>
          <p:nvPr/>
        </p:nvSpPr>
        <p:spPr>
          <a:xfrm>
            <a:off x="601218" y="2441448"/>
            <a:ext cx="2798064" cy="609219"/>
          </a:xfrm>
          <a:prstGeom prst="rect">
            <a:avLst/>
          </a:prstGeom>
          <a:solidFill>
            <a:srgbClr val="0E2843"/>
          </a:solidFill>
          <a:ln>
            <a:solidFill>
              <a:srgbClr val="315B7B">
                <a:alpha val="75000"/>
              </a:srgbClr>
            </a:solidFill>
          </a:ln>
        </p:spPr>
        <p:txBody>
          <a:bodyPr wrap="square" lIns="699" tIns="699" rIns="699" bIns="699" rtlCol="0" anchor="ctr">
            <a:normAutofit/>
          </a:bodyPr>
          <a:lstStyle/>
          <a:p>
            <a:pPr marL="0" indent="0">
              <a:buNone/>
            </a:pPr>
            <a:r>
              <a:rPr lang="en-US" sz="980" dirty="0">
                <a:solidFill>
                  <a:srgbClr val="F6FAFF"/>
                </a:solidFill>
                <a:latin typeface="Aptos" pitchFamily="34" charset="0"/>
                <a:ea typeface="Aptos" pitchFamily="34" charset="-122"/>
                <a:cs typeface="Aptos" pitchFamily="34" charset="-120"/>
              </a:rPr>
              <a:t>password_hash</a:t>
            </a:r>
            <a:endParaRPr lang="en-US" sz="980" dirty="0"/>
          </a:p>
        </p:txBody>
      </p:sp>
      <p:sp>
        <p:nvSpPr>
          <p:cNvPr id="12" name="Text 10"/>
          <p:cNvSpPr/>
          <p:nvPr/>
        </p:nvSpPr>
        <p:spPr>
          <a:xfrm>
            <a:off x="3412998" y="2441448"/>
            <a:ext cx="2798064" cy="609219"/>
          </a:xfrm>
          <a:prstGeom prst="rect">
            <a:avLst/>
          </a:prstGeom>
          <a:solidFill>
            <a:srgbClr val="0E2843"/>
          </a:solidFill>
          <a:ln>
            <a:solidFill>
              <a:srgbClr val="315B7B">
                <a:alpha val="75000"/>
              </a:srgbClr>
            </a:solidFill>
          </a:ln>
        </p:spPr>
        <p:txBody>
          <a:bodyPr wrap="square" lIns="699" tIns="699" rIns="699" bIns="699" rtlCol="0" anchor="ctr">
            <a:normAutofit/>
          </a:bodyPr>
          <a:lstStyle/>
          <a:p>
            <a:pPr marL="0" indent="0">
              <a:buNone/>
            </a:pPr>
            <a:r>
              <a:rPr lang="en-US" sz="980" dirty="0">
                <a:solidFill>
                  <a:srgbClr val="F6FAFF"/>
                </a:solidFill>
                <a:latin typeface="Aptos" pitchFamily="34" charset="0"/>
                <a:ea typeface="Aptos" pitchFamily="34" charset="-122"/>
                <a:cs typeface="Aptos" pitchFamily="34" charset="-120"/>
              </a:rPr>
              <a:t>Mật khẩu đã băm, không lưu rõ</a:t>
            </a:r>
            <a:endParaRPr lang="en-US" sz="980" dirty="0"/>
          </a:p>
        </p:txBody>
      </p:sp>
      <p:sp>
        <p:nvSpPr>
          <p:cNvPr id="13" name="Text 11"/>
          <p:cNvSpPr/>
          <p:nvPr/>
        </p:nvSpPr>
        <p:spPr>
          <a:xfrm>
            <a:off x="601218" y="3064383"/>
            <a:ext cx="2798064" cy="609219"/>
          </a:xfrm>
          <a:prstGeom prst="rect">
            <a:avLst/>
          </a:prstGeom>
          <a:solidFill>
            <a:srgbClr val="102B46"/>
          </a:solidFill>
          <a:ln>
            <a:solidFill>
              <a:srgbClr val="315B7B">
                <a:alpha val="75000"/>
              </a:srgbClr>
            </a:solidFill>
          </a:ln>
        </p:spPr>
        <p:txBody>
          <a:bodyPr wrap="square" lIns="699" tIns="699" rIns="699" bIns="699" rtlCol="0" anchor="ctr">
            <a:normAutofit/>
          </a:bodyPr>
          <a:lstStyle/>
          <a:p>
            <a:pPr marL="0" indent="0">
              <a:buNone/>
            </a:pPr>
            <a:r>
              <a:rPr lang="en-US" sz="980" dirty="0">
                <a:solidFill>
                  <a:srgbClr val="F6FAFF"/>
                </a:solidFill>
                <a:latin typeface="Aptos" pitchFamily="34" charset="0"/>
                <a:ea typeface="Aptos" pitchFamily="34" charset="-122"/>
                <a:cs typeface="Aptos" pitchFamily="34" charset="-120"/>
              </a:rPr>
              <a:t>name</a:t>
            </a:r>
            <a:endParaRPr lang="en-US" sz="980" dirty="0"/>
          </a:p>
        </p:txBody>
      </p:sp>
      <p:sp>
        <p:nvSpPr>
          <p:cNvPr id="14" name="Text 12"/>
          <p:cNvSpPr/>
          <p:nvPr/>
        </p:nvSpPr>
        <p:spPr>
          <a:xfrm>
            <a:off x="3412998" y="3064383"/>
            <a:ext cx="2798064" cy="609219"/>
          </a:xfrm>
          <a:prstGeom prst="rect">
            <a:avLst/>
          </a:prstGeom>
          <a:solidFill>
            <a:srgbClr val="102B46"/>
          </a:solidFill>
          <a:ln>
            <a:solidFill>
              <a:srgbClr val="315B7B">
                <a:alpha val="75000"/>
              </a:srgbClr>
            </a:solidFill>
          </a:ln>
        </p:spPr>
        <p:txBody>
          <a:bodyPr wrap="square" lIns="699" tIns="699" rIns="699" bIns="699" rtlCol="0" anchor="ctr">
            <a:normAutofit/>
          </a:bodyPr>
          <a:lstStyle/>
          <a:p>
            <a:pPr marL="0" indent="0">
              <a:buNone/>
            </a:pPr>
            <a:r>
              <a:rPr lang="en-US" sz="980" dirty="0">
                <a:solidFill>
                  <a:srgbClr val="F6FAFF"/>
                </a:solidFill>
                <a:latin typeface="Aptos" pitchFamily="34" charset="0"/>
                <a:ea typeface="Aptos" pitchFamily="34" charset="-122"/>
                <a:cs typeface="Aptos" pitchFamily="34" charset="-120"/>
              </a:rPr>
              <a:t>Họ tên</a:t>
            </a:r>
            <a:endParaRPr lang="en-US" sz="980" dirty="0"/>
          </a:p>
        </p:txBody>
      </p:sp>
      <p:sp>
        <p:nvSpPr>
          <p:cNvPr id="15" name="Text 13"/>
          <p:cNvSpPr/>
          <p:nvPr/>
        </p:nvSpPr>
        <p:spPr>
          <a:xfrm>
            <a:off x="601218" y="3687318"/>
            <a:ext cx="2798064" cy="609219"/>
          </a:xfrm>
          <a:prstGeom prst="rect">
            <a:avLst/>
          </a:prstGeom>
          <a:solidFill>
            <a:srgbClr val="0E2843"/>
          </a:solidFill>
          <a:ln>
            <a:solidFill>
              <a:srgbClr val="315B7B">
                <a:alpha val="75000"/>
              </a:srgbClr>
            </a:solidFill>
          </a:ln>
        </p:spPr>
        <p:txBody>
          <a:bodyPr wrap="square" lIns="699" tIns="699" rIns="699" bIns="699" rtlCol="0" anchor="ctr">
            <a:normAutofit/>
          </a:bodyPr>
          <a:lstStyle/>
          <a:p>
            <a:pPr marL="0" indent="0">
              <a:buNone/>
            </a:pPr>
            <a:r>
              <a:rPr lang="en-US" sz="980" dirty="0">
                <a:solidFill>
                  <a:srgbClr val="F6FAFF"/>
                </a:solidFill>
                <a:latin typeface="Aptos" pitchFamily="34" charset="0"/>
                <a:ea typeface="Aptos" pitchFamily="34" charset="-122"/>
                <a:cs typeface="Aptos" pitchFamily="34" charset="-120"/>
              </a:rPr>
              <a:t>cmnd_encrypted</a:t>
            </a:r>
            <a:endParaRPr lang="en-US" sz="980" dirty="0"/>
          </a:p>
        </p:txBody>
      </p:sp>
      <p:sp>
        <p:nvSpPr>
          <p:cNvPr id="16" name="Text 14"/>
          <p:cNvSpPr/>
          <p:nvPr/>
        </p:nvSpPr>
        <p:spPr>
          <a:xfrm>
            <a:off x="3412998" y="3687318"/>
            <a:ext cx="2798064" cy="609219"/>
          </a:xfrm>
          <a:prstGeom prst="rect">
            <a:avLst/>
          </a:prstGeom>
          <a:solidFill>
            <a:srgbClr val="0E2843"/>
          </a:solidFill>
          <a:ln>
            <a:solidFill>
              <a:srgbClr val="315B7B">
                <a:alpha val="75000"/>
              </a:srgbClr>
            </a:solidFill>
          </a:ln>
        </p:spPr>
        <p:txBody>
          <a:bodyPr wrap="square" lIns="699" tIns="699" rIns="699" bIns="699" rtlCol="0" anchor="ctr">
            <a:normAutofit/>
          </a:bodyPr>
          <a:lstStyle/>
          <a:p>
            <a:pPr marL="0" indent="0">
              <a:buNone/>
            </a:pPr>
            <a:r>
              <a:rPr lang="en-US" sz="980" dirty="0">
                <a:solidFill>
                  <a:srgbClr val="F6FAFF"/>
                </a:solidFill>
                <a:latin typeface="Aptos" pitchFamily="34" charset="0"/>
                <a:ea typeface="Aptos" pitchFamily="34" charset="-122"/>
                <a:cs typeface="Aptos" pitchFamily="34" charset="-120"/>
              </a:rPr>
              <a:t>CCCD/CMND đã mã hóa Triple DES</a:t>
            </a:r>
            <a:endParaRPr lang="en-US" sz="980" dirty="0"/>
          </a:p>
        </p:txBody>
      </p:sp>
      <p:sp>
        <p:nvSpPr>
          <p:cNvPr id="17" name="Text 15"/>
          <p:cNvSpPr/>
          <p:nvPr/>
        </p:nvSpPr>
        <p:spPr>
          <a:xfrm>
            <a:off x="601218" y="4310253"/>
            <a:ext cx="2798064" cy="609219"/>
          </a:xfrm>
          <a:prstGeom prst="rect">
            <a:avLst/>
          </a:prstGeom>
          <a:solidFill>
            <a:srgbClr val="102B46"/>
          </a:solidFill>
          <a:ln>
            <a:solidFill>
              <a:srgbClr val="315B7B">
                <a:alpha val="75000"/>
              </a:srgbClr>
            </a:solidFill>
          </a:ln>
        </p:spPr>
        <p:txBody>
          <a:bodyPr wrap="square" lIns="699" tIns="699" rIns="699" bIns="699" rtlCol="0" anchor="ctr">
            <a:normAutofit/>
          </a:bodyPr>
          <a:lstStyle/>
          <a:p>
            <a:pPr marL="0" indent="0">
              <a:buNone/>
            </a:pPr>
            <a:r>
              <a:rPr lang="en-US" sz="980" dirty="0">
                <a:solidFill>
                  <a:srgbClr val="F6FAFF"/>
                </a:solidFill>
                <a:latin typeface="Aptos" pitchFamily="34" charset="0"/>
                <a:ea typeface="Aptos" pitchFamily="34" charset="-122"/>
                <a:cs typeface="Aptos" pitchFamily="34" charset="-120"/>
              </a:rPr>
              <a:t>bhxh_encrypted</a:t>
            </a:r>
            <a:endParaRPr lang="en-US" sz="980" dirty="0"/>
          </a:p>
        </p:txBody>
      </p:sp>
      <p:sp>
        <p:nvSpPr>
          <p:cNvPr id="18" name="Text 16"/>
          <p:cNvSpPr/>
          <p:nvPr/>
        </p:nvSpPr>
        <p:spPr>
          <a:xfrm>
            <a:off x="3412998" y="4310253"/>
            <a:ext cx="2798064" cy="609219"/>
          </a:xfrm>
          <a:prstGeom prst="rect">
            <a:avLst/>
          </a:prstGeom>
          <a:solidFill>
            <a:srgbClr val="102B46"/>
          </a:solidFill>
          <a:ln>
            <a:solidFill>
              <a:srgbClr val="315B7B">
                <a:alpha val="75000"/>
              </a:srgbClr>
            </a:solidFill>
          </a:ln>
        </p:spPr>
        <p:txBody>
          <a:bodyPr wrap="square" lIns="699" tIns="699" rIns="699" bIns="699" rtlCol="0" anchor="ctr">
            <a:normAutofit/>
          </a:bodyPr>
          <a:lstStyle/>
          <a:p>
            <a:pPr marL="0" indent="0">
              <a:buNone/>
            </a:pPr>
            <a:r>
              <a:rPr lang="en-US" sz="980" dirty="0">
                <a:solidFill>
                  <a:srgbClr val="F6FAFF"/>
                </a:solidFill>
                <a:latin typeface="Aptos" pitchFamily="34" charset="0"/>
                <a:ea typeface="Aptos" pitchFamily="34" charset="-122"/>
                <a:cs typeface="Aptos" pitchFamily="34" charset="-120"/>
              </a:rPr>
              <a:t>BHXH đã mã hóa AES-256</a:t>
            </a:r>
            <a:endParaRPr lang="en-US" sz="980" dirty="0"/>
          </a:p>
        </p:txBody>
      </p:sp>
      <p:sp>
        <p:nvSpPr>
          <p:cNvPr id="19" name="Text 17"/>
          <p:cNvSpPr/>
          <p:nvPr/>
        </p:nvSpPr>
        <p:spPr>
          <a:xfrm>
            <a:off x="601218" y="4933188"/>
            <a:ext cx="2798064" cy="609219"/>
          </a:xfrm>
          <a:prstGeom prst="rect">
            <a:avLst/>
          </a:prstGeom>
          <a:solidFill>
            <a:srgbClr val="0E2843"/>
          </a:solidFill>
          <a:ln>
            <a:solidFill>
              <a:srgbClr val="315B7B">
                <a:alpha val="75000"/>
              </a:srgbClr>
            </a:solidFill>
          </a:ln>
        </p:spPr>
        <p:txBody>
          <a:bodyPr wrap="square" lIns="699" tIns="699" rIns="699" bIns="699" rtlCol="0" anchor="ctr">
            <a:normAutofit/>
          </a:bodyPr>
          <a:lstStyle/>
          <a:p>
            <a:pPr marL="0" indent="0">
              <a:buNone/>
            </a:pPr>
            <a:r>
              <a:rPr lang="en-US" sz="980" dirty="0">
                <a:solidFill>
                  <a:srgbClr val="F6FAFF"/>
                </a:solidFill>
                <a:latin typeface="Aptos" pitchFamily="34" charset="0"/>
                <a:ea typeface="Aptos" pitchFamily="34" charset="-122"/>
                <a:cs typeface="Aptos" pitchFamily="34" charset="-120"/>
              </a:rPr>
              <a:t>stk_encrypted</a:t>
            </a:r>
            <a:endParaRPr lang="en-US" sz="980" dirty="0"/>
          </a:p>
        </p:txBody>
      </p:sp>
      <p:sp>
        <p:nvSpPr>
          <p:cNvPr id="20" name="Text 18"/>
          <p:cNvSpPr/>
          <p:nvPr/>
        </p:nvSpPr>
        <p:spPr>
          <a:xfrm>
            <a:off x="3412998" y="4933188"/>
            <a:ext cx="2798064" cy="609219"/>
          </a:xfrm>
          <a:prstGeom prst="rect">
            <a:avLst/>
          </a:prstGeom>
          <a:solidFill>
            <a:srgbClr val="0E2843"/>
          </a:solidFill>
          <a:ln>
            <a:solidFill>
              <a:srgbClr val="315B7B">
                <a:alpha val="75000"/>
              </a:srgbClr>
            </a:solidFill>
          </a:ln>
        </p:spPr>
        <p:txBody>
          <a:bodyPr wrap="square" lIns="699" tIns="699" rIns="699" bIns="699" rtlCol="0" anchor="ctr">
            <a:normAutofit/>
          </a:bodyPr>
          <a:lstStyle/>
          <a:p>
            <a:pPr marL="0" indent="0">
              <a:buNone/>
            </a:pPr>
            <a:r>
              <a:rPr lang="en-US" sz="980" dirty="0">
                <a:solidFill>
                  <a:srgbClr val="F6FAFF"/>
                </a:solidFill>
                <a:latin typeface="Aptos" pitchFamily="34" charset="0"/>
                <a:ea typeface="Aptos" pitchFamily="34" charset="-122"/>
                <a:cs typeface="Aptos" pitchFamily="34" charset="-120"/>
              </a:rPr>
              <a:t>Số tài khoản đã mã hóa AES-256</a:t>
            </a:r>
            <a:endParaRPr lang="en-US" sz="980" dirty="0"/>
          </a:p>
        </p:txBody>
      </p:sp>
      <p:sp>
        <p:nvSpPr>
          <p:cNvPr id="21" name="Text 19"/>
          <p:cNvSpPr/>
          <p:nvPr/>
        </p:nvSpPr>
        <p:spPr>
          <a:xfrm>
            <a:off x="601218" y="5556123"/>
            <a:ext cx="2798064" cy="609219"/>
          </a:xfrm>
          <a:prstGeom prst="rect">
            <a:avLst/>
          </a:prstGeom>
          <a:solidFill>
            <a:srgbClr val="102B46"/>
          </a:solidFill>
          <a:ln>
            <a:solidFill>
              <a:srgbClr val="315B7B">
                <a:alpha val="75000"/>
              </a:srgbClr>
            </a:solidFill>
          </a:ln>
        </p:spPr>
        <p:txBody>
          <a:bodyPr wrap="square" lIns="699" tIns="699" rIns="699" bIns="699" rtlCol="0" anchor="ctr">
            <a:normAutofit/>
          </a:bodyPr>
          <a:lstStyle/>
          <a:p>
            <a:pPr marL="0" indent="0">
              <a:buNone/>
            </a:pPr>
            <a:r>
              <a:rPr lang="en-US" sz="980" dirty="0">
                <a:solidFill>
                  <a:srgbClr val="F6FAFF"/>
                </a:solidFill>
                <a:latin typeface="Aptos" pitchFamily="34" charset="0"/>
                <a:ea typeface="Aptos" pitchFamily="34" charset="-122"/>
                <a:cs typeface="Aptos" pitchFamily="34" charset="-120"/>
              </a:rPr>
              <a:t>diachi_encrypted</a:t>
            </a:r>
            <a:endParaRPr lang="en-US" sz="980" dirty="0"/>
          </a:p>
        </p:txBody>
      </p:sp>
      <p:sp>
        <p:nvSpPr>
          <p:cNvPr id="22" name="Text 20"/>
          <p:cNvSpPr/>
          <p:nvPr/>
        </p:nvSpPr>
        <p:spPr>
          <a:xfrm>
            <a:off x="3412998" y="5556123"/>
            <a:ext cx="2798064" cy="609219"/>
          </a:xfrm>
          <a:prstGeom prst="rect">
            <a:avLst/>
          </a:prstGeom>
          <a:solidFill>
            <a:srgbClr val="102B46"/>
          </a:solidFill>
          <a:ln>
            <a:solidFill>
              <a:srgbClr val="315B7B">
                <a:alpha val="75000"/>
              </a:srgbClr>
            </a:solidFill>
          </a:ln>
        </p:spPr>
        <p:txBody>
          <a:bodyPr wrap="square" lIns="699" tIns="699" rIns="699" bIns="699" rtlCol="0" anchor="ctr">
            <a:normAutofit/>
          </a:bodyPr>
          <a:lstStyle/>
          <a:p>
            <a:pPr marL="0" indent="0">
              <a:buNone/>
            </a:pPr>
            <a:r>
              <a:rPr lang="en-US" sz="980" dirty="0">
                <a:solidFill>
                  <a:srgbClr val="F6FAFF"/>
                </a:solidFill>
                <a:latin typeface="Aptos" pitchFamily="34" charset="0"/>
                <a:ea typeface="Aptos" pitchFamily="34" charset="-122"/>
                <a:cs typeface="Aptos" pitchFamily="34" charset="-120"/>
              </a:rPr>
              <a:t>Địa chỉ đã mã hóa AES-256</a:t>
            </a:r>
            <a:endParaRPr lang="en-US" sz="980" dirty="0"/>
          </a:p>
        </p:txBody>
      </p:sp>
      <p:sp>
        <p:nvSpPr>
          <p:cNvPr id="23" name="Text 21"/>
          <p:cNvSpPr/>
          <p:nvPr/>
        </p:nvSpPr>
        <p:spPr>
          <a:xfrm>
            <a:off x="6453378" y="1195578"/>
            <a:ext cx="2546604" cy="698210"/>
          </a:xfrm>
          <a:prstGeom prst="rect">
            <a:avLst/>
          </a:prstGeom>
          <a:solidFill>
            <a:srgbClr val="0E3354"/>
          </a:solidFill>
          <a:ln>
            <a:solidFill>
              <a:srgbClr val="315B7B">
                <a:alpha val="75000"/>
              </a:srgbClr>
            </a:solidFill>
          </a:ln>
        </p:spPr>
        <p:txBody>
          <a:bodyPr wrap="square" lIns="699" tIns="699" rIns="699" bIns="699" rtlCol="0" anchor="ctr">
            <a:normAutofit/>
          </a:bodyPr>
          <a:lstStyle/>
          <a:p>
            <a:pPr marL="0" indent="0">
              <a:buNone/>
            </a:pPr>
            <a:r>
              <a:rPr lang="en-US" sz="980" b="1" dirty="0">
                <a:solidFill>
                  <a:srgbClr val="FFB347"/>
                </a:solidFill>
                <a:latin typeface="Aptos" pitchFamily="34" charset="0"/>
                <a:ea typeface="Aptos" pitchFamily="34" charset="-122"/>
                <a:cs typeface="Aptos" pitchFamily="34" charset="-120"/>
              </a:rPr>
              <a:t>Bảng logs</a:t>
            </a:r>
            <a:endParaRPr lang="en-US" sz="980" dirty="0"/>
          </a:p>
        </p:txBody>
      </p:sp>
      <p:sp>
        <p:nvSpPr>
          <p:cNvPr id="24" name="Text 22"/>
          <p:cNvSpPr/>
          <p:nvPr/>
        </p:nvSpPr>
        <p:spPr>
          <a:xfrm>
            <a:off x="9013698" y="1195578"/>
            <a:ext cx="2546604" cy="698210"/>
          </a:xfrm>
          <a:prstGeom prst="rect">
            <a:avLst/>
          </a:prstGeom>
          <a:solidFill>
            <a:srgbClr val="0E3354"/>
          </a:solidFill>
          <a:ln>
            <a:solidFill>
              <a:srgbClr val="315B7B">
                <a:alpha val="75000"/>
              </a:srgbClr>
            </a:solidFill>
          </a:ln>
        </p:spPr>
        <p:txBody>
          <a:bodyPr wrap="square" lIns="699" tIns="699" rIns="699" bIns="699" rtlCol="0" anchor="ctr">
            <a:normAutofit/>
          </a:bodyPr>
          <a:lstStyle/>
          <a:p>
            <a:pPr marL="0" indent="0">
              <a:buNone/>
            </a:pPr>
            <a:r>
              <a:rPr lang="en-US" sz="980" b="1" dirty="0">
                <a:solidFill>
                  <a:srgbClr val="FFB347"/>
                </a:solidFill>
                <a:latin typeface="Aptos" pitchFamily="34" charset="0"/>
                <a:ea typeface="Aptos" pitchFamily="34" charset="-122"/>
                <a:cs typeface="Aptos" pitchFamily="34" charset="-120"/>
              </a:rPr>
              <a:t>Ý nghĩa</a:t>
            </a:r>
            <a:endParaRPr lang="en-US" sz="980" dirty="0"/>
          </a:p>
        </p:txBody>
      </p:sp>
      <p:sp>
        <p:nvSpPr>
          <p:cNvPr id="25" name="Text 23"/>
          <p:cNvSpPr/>
          <p:nvPr/>
        </p:nvSpPr>
        <p:spPr>
          <a:xfrm>
            <a:off x="6453378" y="1907504"/>
            <a:ext cx="2546604" cy="698210"/>
          </a:xfrm>
          <a:prstGeom prst="rect">
            <a:avLst/>
          </a:prstGeom>
          <a:solidFill>
            <a:srgbClr val="102B46"/>
          </a:solidFill>
          <a:ln>
            <a:solidFill>
              <a:srgbClr val="315B7B">
                <a:alpha val="75000"/>
              </a:srgbClr>
            </a:solidFill>
          </a:ln>
        </p:spPr>
        <p:txBody>
          <a:bodyPr wrap="square" lIns="699" tIns="699" rIns="699" bIns="699" rtlCol="0" anchor="ctr">
            <a:normAutofit/>
          </a:bodyPr>
          <a:lstStyle/>
          <a:p>
            <a:pPr marL="0" indent="0">
              <a:buNone/>
            </a:pPr>
            <a:r>
              <a:rPr lang="en-US" sz="980" dirty="0">
                <a:solidFill>
                  <a:srgbClr val="F6FAFF"/>
                </a:solidFill>
                <a:latin typeface="Aptos" pitchFamily="34" charset="0"/>
                <a:ea typeface="Aptos" pitchFamily="34" charset="-122"/>
                <a:cs typeface="Aptos" pitchFamily="34" charset="-120"/>
              </a:rPr>
              <a:t>actor</a:t>
            </a:r>
            <a:endParaRPr lang="en-US" sz="980" dirty="0"/>
          </a:p>
        </p:txBody>
      </p:sp>
      <p:sp>
        <p:nvSpPr>
          <p:cNvPr id="26" name="Text 24"/>
          <p:cNvSpPr/>
          <p:nvPr/>
        </p:nvSpPr>
        <p:spPr>
          <a:xfrm>
            <a:off x="9013698" y="1907504"/>
            <a:ext cx="2546604" cy="698210"/>
          </a:xfrm>
          <a:prstGeom prst="rect">
            <a:avLst/>
          </a:prstGeom>
          <a:solidFill>
            <a:srgbClr val="102B46"/>
          </a:solidFill>
          <a:ln>
            <a:solidFill>
              <a:srgbClr val="315B7B">
                <a:alpha val="75000"/>
              </a:srgbClr>
            </a:solidFill>
          </a:ln>
        </p:spPr>
        <p:txBody>
          <a:bodyPr wrap="square" lIns="699" tIns="699" rIns="699" bIns="699" rtlCol="0" anchor="ctr">
            <a:normAutofit/>
          </a:bodyPr>
          <a:lstStyle/>
          <a:p>
            <a:pPr marL="0" indent="0">
              <a:buNone/>
            </a:pPr>
            <a:r>
              <a:rPr lang="en-US" sz="980" dirty="0">
                <a:solidFill>
                  <a:srgbClr val="F6FAFF"/>
                </a:solidFill>
                <a:latin typeface="Aptos" pitchFamily="34" charset="0"/>
                <a:ea typeface="Aptos" pitchFamily="34" charset="-122"/>
                <a:cs typeface="Aptos" pitchFamily="34" charset="-120"/>
              </a:rPr>
              <a:t>Người thực hiện</a:t>
            </a:r>
            <a:endParaRPr lang="en-US" sz="980" dirty="0"/>
          </a:p>
        </p:txBody>
      </p:sp>
      <p:sp>
        <p:nvSpPr>
          <p:cNvPr id="27" name="Text 25"/>
          <p:cNvSpPr/>
          <p:nvPr/>
        </p:nvSpPr>
        <p:spPr>
          <a:xfrm>
            <a:off x="6453378" y="2619429"/>
            <a:ext cx="2546604" cy="698210"/>
          </a:xfrm>
          <a:prstGeom prst="rect">
            <a:avLst/>
          </a:prstGeom>
          <a:solidFill>
            <a:srgbClr val="0E2843"/>
          </a:solidFill>
          <a:ln>
            <a:solidFill>
              <a:srgbClr val="315B7B">
                <a:alpha val="75000"/>
              </a:srgbClr>
            </a:solidFill>
          </a:ln>
        </p:spPr>
        <p:txBody>
          <a:bodyPr wrap="square" lIns="699" tIns="699" rIns="699" bIns="699" rtlCol="0" anchor="ctr">
            <a:normAutofit/>
          </a:bodyPr>
          <a:lstStyle/>
          <a:p>
            <a:pPr marL="0" indent="0">
              <a:buNone/>
            </a:pPr>
            <a:r>
              <a:rPr lang="en-US" sz="980" dirty="0">
                <a:solidFill>
                  <a:srgbClr val="F6FAFF"/>
                </a:solidFill>
                <a:latin typeface="Aptos" pitchFamily="34" charset="0"/>
                <a:ea typeface="Aptos" pitchFamily="34" charset="-122"/>
                <a:cs typeface="Aptos" pitchFamily="34" charset="-120"/>
              </a:rPr>
              <a:t>action</a:t>
            </a:r>
            <a:endParaRPr lang="en-US" sz="980" dirty="0"/>
          </a:p>
        </p:txBody>
      </p:sp>
      <p:sp>
        <p:nvSpPr>
          <p:cNvPr id="28" name="Text 26"/>
          <p:cNvSpPr/>
          <p:nvPr/>
        </p:nvSpPr>
        <p:spPr>
          <a:xfrm>
            <a:off x="9013698" y="2619429"/>
            <a:ext cx="2546604" cy="698210"/>
          </a:xfrm>
          <a:prstGeom prst="rect">
            <a:avLst/>
          </a:prstGeom>
          <a:solidFill>
            <a:srgbClr val="0E2843"/>
          </a:solidFill>
          <a:ln>
            <a:solidFill>
              <a:srgbClr val="315B7B">
                <a:alpha val="75000"/>
              </a:srgbClr>
            </a:solidFill>
          </a:ln>
        </p:spPr>
        <p:txBody>
          <a:bodyPr wrap="square" lIns="699" tIns="699" rIns="699" bIns="699" rtlCol="0" anchor="ctr">
            <a:normAutofit/>
          </a:bodyPr>
          <a:lstStyle/>
          <a:p>
            <a:pPr marL="0" indent="0">
              <a:buNone/>
            </a:pPr>
            <a:r>
              <a:rPr lang="en-US" sz="980" dirty="0">
                <a:solidFill>
                  <a:srgbClr val="F6FAFF"/>
                </a:solidFill>
                <a:latin typeface="Aptos" pitchFamily="34" charset="0"/>
                <a:ea typeface="Aptos" pitchFamily="34" charset="-122"/>
                <a:cs typeface="Aptos" pitchFamily="34" charset="-120"/>
              </a:rPr>
              <a:t>VIEW / UPDATE / DELETE</a:t>
            </a:r>
            <a:endParaRPr lang="en-US" sz="980" dirty="0"/>
          </a:p>
        </p:txBody>
      </p:sp>
      <p:sp>
        <p:nvSpPr>
          <p:cNvPr id="29" name="Text 27"/>
          <p:cNvSpPr/>
          <p:nvPr/>
        </p:nvSpPr>
        <p:spPr>
          <a:xfrm>
            <a:off x="6453378" y="3331355"/>
            <a:ext cx="2546604" cy="698210"/>
          </a:xfrm>
          <a:prstGeom prst="rect">
            <a:avLst/>
          </a:prstGeom>
          <a:solidFill>
            <a:srgbClr val="102B46"/>
          </a:solidFill>
          <a:ln>
            <a:solidFill>
              <a:srgbClr val="315B7B">
                <a:alpha val="75000"/>
              </a:srgbClr>
            </a:solidFill>
          </a:ln>
        </p:spPr>
        <p:txBody>
          <a:bodyPr wrap="square" lIns="699" tIns="699" rIns="699" bIns="699" rtlCol="0" anchor="ctr">
            <a:normAutofit/>
          </a:bodyPr>
          <a:lstStyle/>
          <a:p>
            <a:pPr marL="0" indent="0">
              <a:buNone/>
            </a:pPr>
            <a:r>
              <a:rPr lang="en-US" sz="980" dirty="0">
                <a:solidFill>
                  <a:srgbClr val="F6FAFF"/>
                </a:solidFill>
                <a:latin typeface="Aptos" pitchFamily="34" charset="0"/>
                <a:ea typeface="Aptos" pitchFamily="34" charset="-122"/>
                <a:cs typeface="Aptos" pitchFamily="34" charset="-120"/>
              </a:rPr>
              <a:t>target_user</a:t>
            </a:r>
            <a:endParaRPr lang="en-US" sz="980" dirty="0"/>
          </a:p>
        </p:txBody>
      </p:sp>
      <p:sp>
        <p:nvSpPr>
          <p:cNvPr id="30" name="Text 28"/>
          <p:cNvSpPr/>
          <p:nvPr/>
        </p:nvSpPr>
        <p:spPr>
          <a:xfrm>
            <a:off x="9013698" y="3331355"/>
            <a:ext cx="2546604" cy="698210"/>
          </a:xfrm>
          <a:prstGeom prst="rect">
            <a:avLst/>
          </a:prstGeom>
          <a:solidFill>
            <a:srgbClr val="102B46"/>
          </a:solidFill>
          <a:ln>
            <a:solidFill>
              <a:srgbClr val="315B7B">
                <a:alpha val="75000"/>
              </a:srgbClr>
            </a:solidFill>
          </a:ln>
        </p:spPr>
        <p:txBody>
          <a:bodyPr wrap="square" lIns="699" tIns="699" rIns="699" bIns="699" rtlCol="0" anchor="ctr">
            <a:normAutofit/>
          </a:bodyPr>
          <a:lstStyle/>
          <a:p>
            <a:pPr marL="0" indent="0">
              <a:buNone/>
            </a:pPr>
            <a:r>
              <a:rPr lang="en-US" sz="980" dirty="0">
                <a:solidFill>
                  <a:srgbClr val="F6FAFF"/>
                </a:solidFill>
                <a:latin typeface="Aptos" pitchFamily="34" charset="0"/>
                <a:ea typeface="Aptos" pitchFamily="34" charset="-122"/>
                <a:cs typeface="Aptos" pitchFamily="34" charset="-120"/>
              </a:rPr>
              <a:t>Người bị tác động</a:t>
            </a:r>
            <a:endParaRPr lang="en-US" sz="980" dirty="0"/>
          </a:p>
        </p:txBody>
      </p:sp>
      <p:sp>
        <p:nvSpPr>
          <p:cNvPr id="31" name="Text 29"/>
          <p:cNvSpPr/>
          <p:nvPr/>
        </p:nvSpPr>
        <p:spPr>
          <a:xfrm>
            <a:off x="6453378" y="4043281"/>
            <a:ext cx="2546604" cy="698210"/>
          </a:xfrm>
          <a:prstGeom prst="rect">
            <a:avLst/>
          </a:prstGeom>
          <a:solidFill>
            <a:srgbClr val="0E2843"/>
          </a:solidFill>
          <a:ln>
            <a:solidFill>
              <a:srgbClr val="315B7B">
                <a:alpha val="75000"/>
              </a:srgbClr>
            </a:solidFill>
          </a:ln>
        </p:spPr>
        <p:txBody>
          <a:bodyPr wrap="square" lIns="699" tIns="699" rIns="699" bIns="699" rtlCol="0" anchor="ctr">
            <a:normAutofit/>
          </a:bodyPr>
          <a:lstStyle/>
          <a:p>
            <a:pPr marL="0" indent="0">
              <a:buNone/>
            </a:pPr>
            <a:r>
              <a:rPr lang="en-US" sz="980" dirty="0">
                <a:solidFill>
                  <a:srgbClr val="F6FAFF"/>
                </a:solidFill>
                <a:latin typeface="Aptos" pitchFamily="34" charset="0"/>
                <a:ea typeface="Aptos" pitchFamily="34" charset="-122"/>
                <a:cs typeface="Aptos" pitchFamily="34" charset="-120"/>
              </a:rPr>
              <a:t>sensitive_field</a:t>
            </a:r>
            <a:endParaRPr lang="en-US" sz="980" dirty="0"/>
          </a:p>
        </p:txBody>
      </p:sp>
      <p:sp>
        <p:nvSpPr>
          <p:cNvPr id="32" name="Text 30"/>
          <p:cNvSpPr/>
          <p:nvPr/>
        </p:nvSpPr>
        <p:spPr>
          <a:xfrm>
            <a:off x="9013698" y="4043281"/>
            <a:ext cx="2546604" cy="698210"/>
          </a:xfrm>
          <a:prstGeom prst="rect">
            <a:avLst/>
          </a:prstGeom>
          <a:solidFill>
            <a:srgbClr val="0E2843"/>
          </a:solidFill>
          <a:ln>
            <a:solidFill>
              <a:srgbClr val="315B7B">
                <a:alpha val="75000"/>
              </a:srgbClr>
            </a:solidFill>
          </a:ln>
        </p:spPr>
        <p:txBody>
          <a:bodyPr wrap="square" lIns="699" tIns="699" rIns="699" bIns="699" rtlCol="0" anchor="ctr">
            <a:normAutofit/>
          </a:bodyPr>
          <a:lstStyle/>
          <a:p>
            <a:pPr marL="0" indent="0">
              <a:buNone/>
            </a:pPr>
            <a:r>
              <a:rPr lang="en-US" sz="980" dirty="0">
                <a:solidFill>
                  <a:srgbClr val="F6FAFF"/>
                </a:solidFill>
                <a:latin typeface="Aptos" pitchFamily="34" charset="0"/>
                <a:ea typeface="Aptos" pitchFamily="34" charset="-122"/>
                <a:cs typeface="Aptos" pitchFamily="34" charset="-120"/>
              </a:rPr>
              <a:t>Trường dữ liệu liên quan</a:t>
            </a:r>
            <a:endParaRPr lang="en-US" sz="980" dirty="0"/>
          </a:p>
        </p:txBody>
      </p:sp>
      <p:sp>
        <p:nvSpPr>
          <p:cNvPr id="33" name="Text 31"/>
          <p:cNvSpPr/>
          <p:nvPr/>
        </p:nvSpPr>
        <p:spPr>
          <a:xfrm>
            <a:off x="6453378" y="4755207"/>
            <a:ext cx="2546604" cy="698210"/>
          </a:xfrm>
          <a:prstGeom prst="rect">
            <a:avLst/>
          </a:prstGeom>
          <a:solidFill>
            <a:srgbClr val="102B46"/>
          </a:solidFill>
          <a:ln>
            <a:solidFill>
              <a:srgbClr val="315B7B">
                <a:alpha val="75000"/>
              </a:srgbClr>
            </a:solidFill>
          </a:ln>
        </p:spPr>
        <p:txBody>
          <a:bodyPr wrap="square" lIns="699" tIns="699" rIns="699" bIns="699" rtlCol="0" anchor="ctr">
            <a:normAutofit/>
          </a:bodyPr>
          <a:lstStyle/>
          <a:p>
            <a:pPr marL="0" indent="0">
              <a:buNone/>
            </a:pPr>
            <a:r>
              <a:rPr lang="en-US" sz="980" dirty="0">
                <a:solidFill>
                  <a:srgbClr val="F6FAFF"/>
                </a:solidFill>
                <a:latin typeface="Aptos" pitchFamily="34" charset="0"/>
                <a:ea typeface="Aptos" pitchFamily="34" charset="-122"/>
                <a:cs typeface="Aptos" pitchFamily="34" charset="-120"/>
              </a:rPr>
              <a:t>timestamp</a:t>
            </a:r>
            <a:endParaRPr lang="en-US" sz="980" dirty="0"/>
          </a:p>
        </p:txBody>
      </p:sp>
      <p:sp>
        <p:nvSpPr>
          <p:cNvPr id="34" name="Text 32"/>
          <p:cNvSpPr/>
          <p:nvPr/>
        </p:nvSpPr>
        <p:spPr>
          <a:xfrm>
            <a:off x="9013698" y="4755207"/>
            <a:ext cx="2546604" cy="698210"/>
          </a:xfrm>
          <a:prstGeom prst="rect">
            <a:avLst/>
          </a:prstGeom>
          <a:solidFill>
            <a:srgbClr val="102B46"/>
          </a:solidFill>
          <a:ln>
            <a:solidFill>
              <a:srgbClr val="315B7B">
                <a:alpha val="75000"/>
              </a:srgbClr>
            </a:solidFill>
          </a:ln>
        </p:spPr>
        <p:txBody>
          <a:bodyPr wrap="square" lIns="699" tIns="699" rIns="699" bIns="699" rtlCol="0" anchor="ctr">
            <a:normAutofit/>
          </a:bodyPr>
          <a:lstStyle/>
          <a:p>
            <a:pPr marL="0" indent="0">
              <a:buNone/>
            </a:pPr>
            <a:r>
              <a:rPr lang="en-US" sz="980" dirty="0">
                <a:solidFill>
                  <a:srgbClr val="F6FAFF"/>
                </a:solidFill>
                <a:latin typeface="Aptos" pitchFamily="34" charset="0"/>
                <a:ea typeface="Aptos" pitchFamily="34" charset="-122"/>
                <a:cs typeface="Aptos" pitchFamily="34" charset="-120"/>
              </a:rPr>
              <a:t>Thời gian</a:t>
            </a:r>
            <a:endParaRPr lang="en-US" sz="980" dirty="0"/>
          </a:p>
        </p:txBody>
      </p:sp>
      <p:sp>
        <p:nvSpPr>
          <p:cNvPr id="35" name="Text 33"/>
          <p:cNvSpPr/>
          <p:nvPr/>
        </p:nvSpPr>
        <p:spPr>
          <a:xfrm>
            <a:off x="6453378" y="5467132"/>
            <a:ext cx="2546604" cy="698210"/>
          </a:xfrm>
          <a:prstGeom prst="rect">
            <a:avLst/>
          </a:prstGeom>
          <a:solidFill>
            <a:srgbClr val="0E2843"/>
          </a:solidFill>
          <a:ln>
            <a:solidFill>
              <a:srgbClr val="315B7B">
                <a:alpha val="75000"/>
              </a:srgbClr>
            </a:solidFill>
          </a:ln>
        </p:spPr>
        <p:txBody>
          <a:bodyPr wrap="square" lIns="699" tIns="699" rIns="699" bIns="699" rtlCol="0" anchor="ctr">
            <a:normAutofit/>
          </a:bodyPr>
          <a:lstStyle/>
          <a:p>
            <a:pPr marL="0" indent="0">
              <a:buNone/>
            </a:pPr>
            <a:r>
              <a:rPr lang="en-US" sz="980" dirty="0">
                <a:solidFill>
                  <a:srgbClr val="F6FAFF"/>
                </a:solidFill>
                <a:latin typeface="Aptos" pitchFamily="34" charset="0"/>
                <a:ea typeface="Aptos" pitchFamily="34" charset="-122"/>
                <a:cs typeface="Aptos" pitchFamily="34" charset="-120"/>
              </a:rPr>
              <a:t>detail</a:t>
            </a:r>
            <a:endParaRPr lang="en-US" sz="980" dirty="0"/>
          </a:p>
        </p:txBody>
      </p:sp>
      <p:sp>
        <p:nvSpPr>
          <p:cNvPr id="36" name="Text 34"/>
          <p:cNvSpPr/>
          <p:nvPr/>
        </p:nvSpPr>
        <p:spPr>
          <a:xfrm>
            <a:off x="9013698" y="5467132"/>
            <a:ext cx="2546604" cy="698210"/>
          </a:xfrm>
          <a:prstGeom prst="rect">
            <a:avLst/>
          </a:prstGeom>
          <a:solidFill>
            <a:srgbClr val="0E2843"/>
          </a:solidFill>
          <a:ln>
            <a:solidFill>
              <a:srgbClr val="315B7B">
                <a:alpha val="75000"/>
              </a:srgbClr>
            </a:solidFill>
          </a:ln>
        </p:spPr>
        <p:txBody>
          <a:bodyPr wrap="square" lIns="699" tIns="699" rIns="699" bIns="699" rtlCol="0" anchor="ctr">
            <a:normAutofit/>
          </a:bodyPr>
          <a:lstStyle/>
          <a:p>
            <a:pPr marL="0" indent="0">
              <a:buNone/>
            </a:pPr>
            <a:r>
              <a:rPr lang="en-US" sz="980" dirty="0">
                <a:solidFill>
                  <a:srgbClr val="F6FAFF"/>
                </a:solidFill>
                <a:latin typeface="Aptos" pitchFamily="34" charset="0"/>
                <a:ea typeface="Aptos" pitchFamily="34" charset="-122"/>
                <a:cs typeface="Aptos" pitchFamily="34" charset="-120"/>
              </a:rPr>
              <a:t>Chi tiết hành động</a:t>
            </a:r>
            <a:endParaRPr lang="en-US" sz="98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071626"/>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2EE6E6">
              <a:alpha val="90000"/>
            </a:srgbClr>
          </a:solidFill>
          <a:ln w="12700">
            <a:solidFill>
              <a:srgbClr val="2EE6E6">
                <a:alpha val="0"/>
              </a:srgbClr>
            </a:solidFill>
            <a:prstDash val="solid"/>
          </a:ln>
        </p:spPr>
      </p:sp>
      <p:sp>
        <p:nvSpPr>
          <p:cNvPr id="3" name="Shape 1"/>
          <p:cNvSpPr/>
          <p:nvPr/>
        </p:nvSpPr>
        <p:spPr>
          <a:xfrm>
            <a:off x="0" y="6748272"/>
            <a:ext cx="12191695" cy="109728"/>
          </a:xfrm>
          <a:prstGeom prst="rect">
            <a:avLst/>
          </a:prstGeom>
          <a:solidFill>
            <a:srgbClr val="2EE6E6">
              <a:alpha val="70000"/>
            </a:srgbClr>
          </a:solidFill>
          <a:ln w="12700">
            <a:solidFill>
              <a:srgbClr val="2EE6E6">
                <a:alpha val="0"/>
              </a:srgbClr>
            </a:solidFill>
            <a:prstDash val="solid"/>
          </a:ln>
        </p:spPr>
      </p:sp>
      <p:sp>
        <p:nvSpPr>
          <p:cNvPr id="4" name="Text 2"/>
          <p:cNvSpPr/>
          <p:nvPr/>
        </p:nvSpPr>
        <p:spPr>
          <a:xfrm>
            <a:off x="502920" y="320040"/>
            <a:ext cx="8778240" cy="420624"/>
          </a:xfrm>
          <a:prstGeom prst="rect">
            <a:avLst/>
          </a:prstGeom>
          <a:noFill/>
          <a:ln/>
        </p:spPr>
        <p:txBody>
          <a:bodyPr wrap="square" lIns="254" tIns="254" rIns="254" bIns="254" rtlCol="0" anchor="ctr">
            <a:normAutofit/>
          </a:bodyPr>
          <a:lstStyle/>
          <a:p>
            <a:pPr marL="0" indent="0">
              <a:buNone/>
            </a:pPr>
            <a:r>
              <a:rPr lang="en-US" sz="2500" b="1" dirty="0">
                <a:solidFill>
                  <a:srgbClr val="F6FAFF"/>
                </a:solidFill>
                <a:latin typeface="Aptos Display" pitchFamily="34" charset="0"/>
                <a:ea typeface="Aptos Display" pitchFamily="34" charset="-122"/>
                <a:cs typeface="Aptos Display" pitchFamily="34" charset="-120"/>
              </a:rPr>
              <a:t>Quy trình đăng ký và mã hóa dữ liệu</a:t>
            </a:r>
            <a:endParaRPr lang="en-US" sz="2500" dirty="0"/>
          </a:p>
        </p:txBody>
      </p:sp>
      <p:sp>
        <p:nvSpPr>
          <p:cNvPr id="5" name="Text 3"/>
          <p:cNvSpPr/>
          <p:nvPr/>
        </p:nvSpPr>
        <p:spPr>
          <a:xfrm>
            <a:off x="530352" y="795528"/>
            <a:ext cx="8046720" cy="219456"/>
          </a:xfrm>
          <a:prstGeom prst="rect">
            <a:avLst/>
          </a:prstGeom>
          <a:noFill/>
          <a:ln/>
        </p:spPr>
        <p:txBody>
          <a:bodyPr wrap="square" lIns="127" tIns="127" rIns="127" bIns="127" rtlCol="0" anchor="ctr">
            <a:normAutofit/>
          </a:bodyPr>
          <a:lstStyle/>
          <a:p>
            <a:pPr marL="0" indent="0">
              <a:buNone/>
            </a:pPr>
            <a:r>
              <a:rPr lang="en-US" sz="950" dirty="0">
                <a:solidFill>
                  <a:srgbClr val="B8C7D9"/>
                </a:solidFill>
              </a:rPr>
              <a:t>Dữ liệu được xử lý bảo mật trước khi đi vào database.</a:t>
            </a:r>
            <a:endParaRPr lang="en-US" sz="950" dirty="0"/>
          </a:p>
        </p:txBody>
      </p:sp>
      <p:sp>
        <p:nvSpPr>
          <p:cNvPr id="6" name="Text 4"/>
          <p:cNvSpPr/>
          <p:nvPr/>
        </p:nvSpPr>
        <p:spPr>
          <a:xfrm>
            <a:off x="502920" y="6528816"/>
            <a:ext cx="6583680" cy="164592"/>
          </a:xfrm>
          <a:prstGeom prst="rect">
            <a:avLst/>
          </a:prstGeom>
          <a:noFill/>
          <a:ln/>
        </p:spPr>
        <p:txBody>
          <a:bodyPr wrap="square" lIns="0" tIns="0" rIns="0" bIns="0" rtlCol="0" anchor="ctr">
            <a:normAutofit/>
          </a:bodyPr>
          <a:lstStyle/>
          <a:p>
            <a:pPr marL="0" indent="0">
              <a:buNone/>
            </a:pPr>
            <a:r>
              <a:rPr lang="en-US" sz="750" dirty="0">
                <a:solidFill>
                  <a:srgbClr val="B8C7D9"/>
                </a:solidFill>
              </a:rPr>
              <a:t>Đề tài 22 · Triple DES &amp; AES · 14</a:t>
            </a:r>
            <a:endParaRPr lang="en-US" sz="750" dirty="0"/>
          </a:p>
        </p:txBody>
      </p:sp>
      <p:sp>
        <p:nvSpPr>
          <p:cNvPr id="7" name="Text 5"/>
          <p:cNvSpPr/>
          <p:nvPr/>
        </p:nvSpPr>
        <p:spPr>
          <a:xfrm>
            <a:off x="777240" y="1325880"/>
            <a:ext cx="3246120" cy="1417320"/>
          </a:xfrm>
          <a:prstGeom prst="rect">
            <a:avLst/>
          </a:prstGeom>
          <a:solidFill>
            <a:srgbClr val="102B46"/>
          </a:solidFill>
          <a:ln>
            <a:solidFill>
              <a:srgbClr val="2A6F9A">
                <a:alpha val="75000"/>
              </a:srgbClr>
            </a:solidFill>
          </a:ln>
        </p:spPr>
        <p:txBody>
          <a:bodyPr wrap="square" lIns="1905" tIns="1905" rIns="1905" bIns="1905" rtlCol="0" anchor="ctr">
            <a:normAutofit/>
          </a:bodyPr>
          <a:lstStyle/>
          <a:p>
            <a:pPr marL="0" indent="0">
              <a:buNone/>
            </a:pPr>
            <a:r>
              <a:rPr lang="en-US" sz="1400" b="1" dirty="0">
                <a:solidFill>
                  <a:srgbClr val="2EE6E6"/>
                </a:solidFill>
                <a:latin typeface="Aptos" pitchFamily="34" charset="0"/>
                <a:ea typeface="Aptos" pitchFamily="34" charset="-122"/>
                <a:cs typeface="Aptos" pitchFamily="34" charset="-120"/>
              </a:rPr>
              <a:t>1. Nhập thông tin
</a:t>
            </a:r>
            <a:r>
              <a:rPr lang="en-US" sz="1150" dirty="0">
                <a:solidFill>
                  <a:srgbClr val="B8C7D9"/>
                </a:solidFill>
                <a:latin typeface="Aptos" pitchFamily="34" charset="0"/>
                <a:ea typeface="Aptos" pitchFamily="34" charset="-122"/>
                <a:cs typeface="Aptos" pitchFamily="34" charset="-120"/>
              </a:rPr>
              <a:t>name, cmnd, bhxh, stk_nganhang, diachi</a:t>
            </a:r>
            <a:endParaRPr lang="en-US" sz="1400" dirty="0"/>
          </a:p>
        </p:txBody>
      </p:sp>
      <p:sp>
        <p:nvSpPr>
          <p:cNvPr id="8" name="Text 6"/>
          <p:cNvSpPr/>
          <p:nvPr/>
        </p:nvSpPr>
        <p:spPr>
          <a:xfrm>
            <a:off x="4572000" y="1325880"/>
            <a:ext cx="3246120" cy="1417320"/>
          </a:xfrm>
          <a:prstGeom prst="rect">
            <a:avLst/>
          </a:prstGeom>
          <a:solidFill>
            <a:srgbClr val="102B46"/>
          </a:solidFill>
          <a:ln>
            <a:solidFill>
              <a:srgbClr val="2A6F9A">
                <a:alpha val="75000"/>
              </a:srgbClr>
            </a:solidFill>
          </a:ln>
        </p:spPr>
        <p:txBody>
          <a:bodyPr wrap="square" lIns="1905" tIns="1905" rIns="1905" bIns="1905" rtlCol="0" anchor="ctr">
            <a:normAutofit/>
          </a:bodyPr>
          <a:lstStyle/>
          <a:p>
            <a:pPr marL="0" indent="0">
              <a:buNone/>
            </a:pPr>
            <a:r>
              <a:rPr lang="en-US" sz="1400" b="1" dirty="0">
                <a:solidFill>
                  <a:srgbClr val="FFB347"/>
                </a:solidFill>
                <a:latin typeface="Aptos" pitchFamily="34" charset="0"/>
                <a:ea typeface="Aptos" pitchFamily="34" charset="-122"/>
                <a:cs typeface="Aptos" pitchFamily="34" charset="-120"/>
              </a:rPr>
              <a:t>2. Xử lý bảo mật
</a:t>
            </a:r>
            <a:r>
              <a:rPr lang="en-US" sz="1150" dirty="0">
                <a:solidFill>
                  <a:srgbClr val="B8C7D9"/>
                </a:solidFill>
                <a:latin typeface="Aptos" pitchFamily="34" charset="0"/>
                <a:ea typeface="Aptos" pitchFamily="34" charset="-122"/>
                <a:cs typeface="Aptos" pitchFamily="34" charset="-120"/>
              </a:rPr>
              <a:t>Hash mật khẩu; mã hóa CCCD bằng 3DES; mã hóa BHXH/STK/địa chỉ bằng AES-256</a:t>
            </a:r>
            <a:endParaRPr lang="en-US" sz="1400" dirty="0"/>
          </a:p>
        </p:txBody>
      </p:sp>
      <p:sp>
        <p:nvSpPr>
          <p:cNvPr id="9" name="Text 7"/>
          <p:cNvSpPr/>
          <p:nvPr/>
        </p:nvSpPr>
        <p:spPr>
          <a:xfrm>
            <a:off x="8366760" y="1325880"/>
            <a:ext cx="3246120" cy="1417320"/>
          </a:xfrm>
          <a:prstGeom prst="rect">
            <a:avLst/>
          </a:prstGeom>
          <a:solidFill>
            <a:srgbClr val="102B46"/>
          </a:solidFill>
          <a:ln>
            <a:solidFill>
              <a:srgbClr val="2A6F9A">
                <a:alpha val="75000"/>
              </a:srgbClr>
            </a:solidFill>
          </a:ln>
        </p:spPr>
        <p:txBody>
          <a:bodyPr wrap="square" lIns="1905" tIns="1905" rIns="1905" bIns="1905" rtlCol="0" anchor="ctr">
            <a:normAutofit/>
          </a:bodyPr>
          <a:lstStyle/>
          <a:p>
            <a:pPr marL="0" indent="0">
              <a:buNone/>
            </a:pPr>
            <a:r>
              <a:rPr lang="en-US" sz="1400" b="1" dirty="0">
                <a:solidFill>
                  <a:srgbClr val="63D471"/>
                </a:solidFill>
                <a:latin typeface="Aptos" pitchFamily="34" charset="0"/>
                <a:ea typeface="Aptos" pitchFamily="34" charset="-122"/>
                <a:cs typeface="Aptos" pitchFamily="34" charset="-120"/>
              </a:rPr>
              <a:t>3. Lưu database
</a:t>
            </a:r>
            <a:r>
              <a:rPr lang="en-US" sz="1150" dirty="0">
                <a:solidFill>
                  <a:srgbClr val="B8C7D9"/>
                </a:solidFill>
                <a:latin typeface="Aptos" pitchFamily="34" charset="0"/>
                <a:ea typeface="Aptos" pitchFamily="34" charset="-122"/>
                <a:cs typeface="Aptos" pitchFamily="34" charset="-120"/>
              </a:rPr>
              <a:t>Chỉ lưu password_hash và các trường *_encrypted</a:t>
            </a:r>
            <a:endParaRPr lang="en-US" sz="1400" dirty="0"/>
          </a:p>
        </p:txBody>
      </p:sp>
      <p:sp>
        <p:nvSpPr>
          <p:cNvPr id="10" name="Text 8"/>
          <p:cNvSpPr/>
          <p:nvPr/>
        </p:nvSpPr>
        <p:spPr>
          <a:xfrm>
            <a:off x="777240" y="3332988"/>
            <a:ext cx="10149840" cy="1234440"/>
          </a:xfrm>
          <a:prstGeom prst="rect">
            <a:avLst/>
          </a:prstGeom>
          <a:solidFill>
            <a:srgbClr val="06111E">
              <a:alpha val="95000"/>
            </a:srgbClr>
          </a:solidFill>
          <a:ln>
            <a:solidFill>
              <a:srgbClr val="2A6F9A">
                <a:alpha val="75000"/>
              </a:srgbClr>
            </a:solidFill>
          </a:ln>
        </p:spPr>
        <p:txBody>
          <a:bodyPr wrap="square" lIns="1270" tIns="1270" rIns="1270" bIns="1270" rtlCol="0" anchor="ctr">
            <a:normAutofit/>
          </a:bodyPr>
          <a:lstStyle/>
          <a:p>
            <a:pPr marL="0" indent="0">
              <a:buNone/>
            </a:pPr>
            <a:r>
              <a:rPr lang="en-US" sz="1600" dirty="0">
                <a:solidFill>
                  <a:srgbClr val="2EE6E6"/>
                </a:solidFill>
                <a:latin typeface="Consolas" pitchFamily="34" charset="0"/>
                <a:ea typeface="Consolas" pitchFamily="34" charset="-122"/>
                <a:cs typeface="Consolas" pitchFamily="34" charset="-120"/>
              </a:rPr>
              <a:t>cmnd_encrypted = TripleDES_Encrypt(cmnd, key1)</a:t>
            </a:r>
            <a:endParaRPr lang="en-US" sz="1600" dirty="0"/>
          </a:p>
          <a:p>
            <a:pPr marL="0" indent="0">
              <a:buNone/>
            </a:pPr>
            <a:r>
              <a:rPr lang="en-US" sz="1600" dirty="0">
                <a:solidFill>
                  <a:srgbClr val="2EE6E6"/>
                </a:solidFill>
                <a:latin typeface="Consolas" pitchFamily="34" charset="0"/>
                <a:ea typeface="Consolas" pitchFamily="34" charset="-122"/>
                <a:cs typeface="Consolas" pitchFamily="34" charset="-120"/>
              </a:rPr>
              <a:t>bhxh_encrypted = AES256_Encrypt(bhxh, key2)</a:t>
            </a:r>
            <a:endParaRPr lang="en-US" sz="1600" dirty="0"/>
          </a:p>
          <a:p>
            <a:pPr marL="0" indent="0">
              <a:buNone/>
            </a:pPr>
            <a:r>
              <a:rPr lang="en-US" sz="1600" dirty="0">
                <a:solidFill>
                  <a:srgbClr val="2EE6E6"/>
                </a:solidFill>
                <a:latin typeface="Consolas" pitchFamily="34" charset="0"/>
                <a:ea typeface="Consolas" pitchFamily="34" charset="-122"/>
                <a:cs typeface="Consolas" pitchFamily="34" charset="-120"/>
              </a:rPr>
              <a:t>stk_encrypted = AES256_Encrypt(stk, key2)</a:t>
            </a:r>
            <a:endParaRPr lang="en-US" sz="1600" dirty="0"/>
          </a:p>
          <a:p>
            <a:pPr marL="0" indent="0">
              <a:buNone/>
            </a:pPr>
            <a:r>
              <a:rPr lang="en-US" sz="1600" dirty="0">
                <a:solidFill>
                  <a:srgbClr val="2EE6E6"/>
                </a:solidFill>
                <a:latin typeface="Consolas" pitchFamily="34" charset="0"/>
                <a:ea typeface="Consolas" pitchFamily="34" charset="-122"/>
                <a:cs typeface="Consolas" pitchFamily="34" charset="-120"/>
              </a:rPr>
              <a:t>diachi_encrypted = AES256_Encrypt(diachi, key2)</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071626"/>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2EE6E6">
              <a:alpha val="90000"/>
            </a:srgbClr>
          </a:solidFill>
          <a:ln w="12700">
            <a:solidFill>
              <a:srgbClr val="2EE6E6">
                <a:alpha val="0"/>
              </a:srgbClr>
            </a:solidFill>
            <a:prstDash val="solid"/>
          </a:ln>
        </p:spPr>
      </p:sp>
      <p:sp>
        <p:nvSpPr>
          <p:cNvPr id="3" name="Shape 1"/>
          <p:cNvSpPr/>
          <p:nvPr/>
        </p:nvSpPr>
        <p:spPr>
          <a:xfrm>
            <a:off x="0" y="6748272"/>
            <a:ext cx="12191695" cy="109728"/>
          </a:xfrm>
          <a:prstGeom prst="rect">
            <a:avLst/>
          </a:prstGeom>
          <a:solidFill>
            <a:srgbClr val="2EE6E6">
              <a:alpha val="70000"/>
            </a:srgbClr>
          </a:solidFill>
          <a:ln w="12700">
            <a:solidFill>
              <a:srgbClr val="2EE6E6">
                <a:alpha val="0"/>
              </a:srgbClr>
            </a:solidFill>
            <a:prstDash val="solid"/>
          </a:ln>
        </p:spPr>
      </p:sp>
      <p:sp>
        <p:nvSpPr>
          <p:cNvPr id="4" name="Text 2"/>
          <p:cNvSpPr/>
          <p:nvPr/>
        </p:nvSpPr>
        <p:spPr>
          <a:xfrm>
            <a:off x="502920" y="320040"/>
            <a:ext cx="8778240" cy="420624"/>
          </a:xfrm>
          <a:prstGeom prst="rect">
            <a:avLst/>
          </a:prstGeom>
          <a:noFill/>
          <a:ln/>
        </p:spPr>
        <p:txBody>
          <a:bodyPr wrap="square" lIns="254" tIns="254" rIns="254" bIns="254" rtlCol="0" anchor="ctr">
            <a:normAutofit/>
          </a:bodyPr>
          <a:lstStyle/>
          <a:p>
            <a:pPr marL="0" indent="0">
              <a:buNone/>
            </a:pPr>
            <a:r>
              <a:rPr lang="en-US" sz="2500" b="1" dirty="0">
                <a:solidFill>
                  <a:srgbClr val="F6FAFF"/>
                </a:solidFill>
                <a:latin typeface="Aptos Display" pitchFamily="34" charset="0"/>
                <a:ea typeface="Aptos Display" pitchFamily="34" charset="-122"/>
                <a:cs typeface="Aptos Display" pitchFamily="34" charset="-120"/>
              </a:rPr>
              <a:t>Minh họa dữ liệu trước và sau mã hóa</a:t>
            </a:r>
            <a:endParaRPr lang="en-US" sz="2500" dirty="0"/>
          </a:p>
        </p:txBody>
      </p:sp>
      <p:sp>
        <p:nvSpPr>
          <p:cNvPr id="5" name="Text 3"/>
          <p:cNvSpPr/>
          <p:nvPr/>
        </p:nvSpPr>
        <p:spPr>
          <a:xfrm>
            <a:off x="530352" y="795528"/>
            <a:ext cx="8046720" cy="219456"/>
          </a:xfrm>
          <a:prstGeom prst="rect">
            <a:avLst/>
          </a:prstGeom>
          <a:noFill/>
          <a:ln/>
        </p:spPr>
        <p:txBody>
          <a:bodyPr wrap="square" lIns="127" tIns="127" rIns="127" bIns="127" rtlCol="0" anchor="ctr">
            <a:normAutofit/>
          </a:bodyPr>
          <a:lstStyle/>
          <a:p>
            <a:pPr marL="0" indent="0">
              <a:buNone/>
            </a:pPr>
            <a:r>
              <a:rPr lang="en-US" sz="950" dirty="0">
                <a:solidFill>
                  <a:srgbClr val="B8C7D9"/>
                </a:solidFill>
              </a:rPr>
              <a:t>Người dùng nhập dữ liệu thật, database chỉ lưu bản mã.</a:t>
            </a:r>
            <a:endParaRPr lang="en-US" sz="950" dirty="0"/>
          </a:p>
        </p:txBody>
      </p:sp>
      <p:sp>
        <p:nvSpPr>
          <p:cNvPr id="6" name="Text 4"/>
          <p:cNvSpPr/>
          <p:nvPr/>
        </p:nvSpPr>
        <p:spPr>
          <a:xfrm>
            <a:off x="502920" y="6528816"/>
            <a:ext cx="6583680" cy="164592"/>
          </a:xfrm>
          <a:prstGeom prst="rect">
            <a:avLst/>
          </a:prstGeom>
          <a:noFill/>
          <a:ln/>
        </p:spPr>
        <p:txBody>
          <a:bodyPr wrap="square" lIns="0" tIns="0" rIns="0" bIns="0" rtlCol="0" anchor="ctr">
            <a:normAutofit/>
          </a:bodyPr>
          <a:lstStyle/>
          <a:p>
            <a:pPr marL="0" indent="0">
              <a:buNone/>
            </a:pPr>
            <a:r>
              <a:rPr lang="en-US" sz="750" dirty="0">
                <a:solidFill>
                  <a:srgbClr val="B8C7D9"/>
                </a:solidFill>
              </a:rPr>
              <a:t>Đề tài 22 · Triple DES &amp; AES · 15</a:t>
            </a:r>
            <a:endParaRPr lang="en-US" sz="750" dirty="0"/>
          </a:p>
        </p:txBody>
      </p:sp>
      <p:sp>
        <p:nvSpPr>
          <p:cNvPr id="7" name="Text 5"/>
          <p:cNvSpPr/>
          <p:nvPr/>
        </p:nvSpPr>
        <p:spPr>
          <a:xfrm>
            <a:off x="692658" y="1332738"/>
            <a:ext cx="2615184" cy="656844"/>
          </a:xfrm>
          <a:prstGeom prst="rect">
            <a:avLst/>
          </a:prstGeom>
          <a:solidFill>
            <a:srgbClr val="0E3354"/>
          </a:solidFill>
          <a:ln>
            <a:solidFill>
              <a:srgbClr val="315B7B">
                <a:alpha val="75000"/>
              </a:srgbClr>
            </a:solidFill>
          </a:ln>
        </p:spPr>
        <p:txBody>
          <a:bodyPr wrap="square" lIns="699" tIns="699" rIns="699" bIns="699" rtlCol="0" anchor="ctr">
            <a:normAutofit/>
          </a:bodyPr>
          <a:lstStyle/>
          <a:p>
            <a:pPr marL="0" indent="0">
              <a:buNone/>
            </a:pPr>
            <a:r>
              <a:rPr lang="en-US" sz="1150" b="1" dirty="0">
                <a:solidFill>
                  <a:srgbClr val="2EE6E6"/>
                </a:solidFill>
                <a:latin typeface="Aptos" pitchFamily="34" charset="0"/>
                <a:ea typeface="Aptos" pitchFamily="34" charset="-122"/>
                <a:cs typeface="Aptos" pitchFamily="34" charset="-120"/>
              </a:rPr>
              <a:t>Dữ liệu người dùng nhập</a:t>
            </a:r>
            <a:endParaRPr lang="en-US" sz="1150" dirty="0"/>
          </a:p>
        </p:txBody>
      </p:sp>
      <p:sp>
        <p:nvSpPr>
          <p:cNvPr id="8" name="Text 6"/>
          <p:cNvSpPr/>
          <p:nvPr/>
        </p:nvSpPr>
        <p:spPr>
          <a:xfrm>
            <a:off x="3321558" y="1332738"/>
            <a:ext cx="2615184" cy="656844"/>
          </a:xfrm>
          <a:prstGeom prst="rect">
            <a:avLst/>
          </a:prstGeom>
          <a:solidFill>
            <a:srgbClr val="0E3354"/>
          </a:solidFill>
          <a:ln>
            <a:solidFill>
              <a:srgbClr val="315B7B">
                <a:alpha val="75000"/>
              </a:srgbClr>
            </a:solidFill>
          </a:ln>
        </p:spPr>
        <p:txBody>
          <a:bodyPr wrap="square" lIns="699" tIns="699" rIns="699" bIns="699" rtlCol="0" anchor="ctr">
            <a:normAutofit/>
          </a:bodyPr>
          <a:lstStyle/>
          <a:p>
            <a:pPr marL="0" indent="0">
              <a:buNone/>
            </a:pPr>
            <a:r>
              <a:rPr lang="en-US" sz="1150" b="1" dirty="0">
                <a:solidFill>
                  <a:srgbClr val="2EE6E6"/>
                </a:solidFill>
                <a:latin typeface="Aptos" pitchFamily="34" charset="0"/>
                <a:ea typeface="Aptos" pitchFamily="34" charset="-122"/>
                <a:cs typeface="Aptos" pitchFamily="34" charset="-120"/>
              </a:rPr>
              <a:t>Giá trị</a:t>
            </a:r>
            <a:endParaRPr lang="en-US" sz="1150" dirty="0"/>
          </a:p>
        </p:txBody>
      </p:sp>
      <p:sp>
        <p:nvSpPr>
          <p:cNvPr id="9" name="Text 7"/>
          <p:cNvSpPr/>
          <p:nvPr/>
        </p:nvSpPr>
        <p:spPr>
          <a:xfrm>
            <a:off x="692658" y="2003298"/>
            <a:ext cx="2615184" cy="656844"/>
          </a:xfrm>
          <a:prstGeom prst="rect">
            <a:avLst/>
          </a:prstGeom>
          <a:solidFill>
            <a:srgbClr val="102B46"/>
          </a:solidFill>
          <a:ln>
            <a:solidFill>
              <a:srgbClr val="315B7B">
                <a:alpha val="75000"/>
              </a:srgbClr>
            </a:solidFill>
          </a:ln>
        </p:spPr>
        <p:txBody>
          <a:bodyPr wrap="square" lIns="699" tIns="699" rIns="699" bIns="699" rtlCol="0" anchor="ctr">
            <a:normAutofit/>
          </a:bodyPr>
          <a:lstStyle/>
          <a:p>
            <a:pPr marL="0" indent="0">
              <a:buNone/>
            </a:pPr>
            <a:r>
              <a:rPr lang="en-US" sz="1150" dirty="0">
                <a:solidFill>
                  <a:srgbClr val="F6FAFF"/>
                </a:solidFill>
                <a:latin typeface="Aptos" pitchFamily="34" charset="0"/>
                <a:ea typeface="Aptos" pitchFamily="34" charset="-122"/>
                <a:cs typeface="Aptos" pitchFamily="34" charset="-120"/>
              </a:rPr>
              <a:t>Họ tên</a:t>
            </a:r>
            <a:endParaRPr lang="en-US" sz="1150" dirty="0"/>
          </a:p>
        </p:txBody>
      </p:sp>
      <p:sp>
        <p:nvSpPr>
          <p:cNvPr id="10" name="Text 8"/>
          <p:cNvSpPr/>
          <p:nvPr/>
        </p:nvSpPr>
        <p:spPr>
          <a:xfrm>
            <a:off x="3321558" y="2003298"/>
            <a:ext cx="2615184" cy="656844"/>
          </a:xfrm>
          <a:prstGeom prst="rect">
            <a:avLst/>
          </a:prstGeom>
          <a:solidFill>
            <a:srgbClr val="102B46"/>
          </a:solidFill>
          <a:ln>
            <a:solidFill>
              <a:srgbClr val="315B7B">
                <a:alpha val="75000"/>
              </a:srgbClr>
            </a:solidFill>
          </a:ln>
        </p:spPr>
        <p:txBody>
          <a:bodyPr wrap="square" lIns="699" tIns="699" rIns="699" bIns="699" rtlCol="0" anchor="ctr">
            <a:normAutofit/>
          </a:bodyPr>
          <a:lstStyle/>
          <a:p>
            <a:pPr marL="0" indent="0">
              <a:buNone/>
            </a:pPr>
            <a:r>
              <a:rPr lang="en-US" sz="1150" dirty="0">
                <a:solidFill>
                  <a:srgbClr val="F6FAFF"/>
                </a:solidFill>
                <a:latin typeface="Aptos" pitchFamily="34" charset="0"/>
                <a:ea typeface="Aptos" pitchFamily="34" charset="-122"/>
                <a:cs typeface="Aptos" pitchFamily="34" charset="-120"/>
              </a:rPr>
              <a:t>Nguyễn Văn A</a:t>
            </a:r>
            <a:endParaRPr lang="en-US" sz="1150" dirty="0"/>
          </a:p>
        </p:txBody>
      </p:sp>
      <p:sp>
        <p:nvSpPr>
          <p:cNvPr id="11" name="Text 9"/>
          <p:cNvSpPr/>
          <p:nvPr/>
        </p:nvSpPr>
        <p:spPr>
          <a:xfrm>
            <a:off x="692658" y="2673858"/>
            <a:ext cx="2615184" cy="656844"/>
          </a:xfrm>
          <a:prstGeom prst="rect">
            <a:avLst/>
          </a:prstGeom>
          <a:solidFill>
            <a:srgbClr val="0E2843"/>
          </a:solidFill>
          <a:ln>
            <a:solidFill>
              <a:srgbClr val="315B7B">
                <a:alpha val="75000"/>
              </a:srgbClr>
            </a:solidFill>
          </a:ln>
        </p:spPr>
        <p:txBody>
          <a:bodyPr wrap="square" lIns="699" tIns="699" rIns="699" bIns="699" rtlCol="0" anchor="ctr">
            <a:normAutofit/>
          </a:bodyPr>
          <a:lstStyle/>
          <a:p>
            <a:pPr marL="0" indent="0">
              <a:buNone/>
            </a:pPr>
            <a:r>
              <a:rPr lang="en-US" sz="1150" dirty="0">
                <a:solidFill>
                  <a:srgbClr val="F6FAFF"/>
                </a:solidFill>
                <a:latin typeface="Aptos" pitchFamily="34" charset="0"/>
                <a:ea typeface="Aptos" pitchFamily="34" charset="-122"/>
                <a:cs typeface="Aptos" pitchFamily="34" charset="-120"/>
              </a:rPr>
              <a:t>CCCD</a:t>
            </a:r>
            <a:endParaRPr lang="en-US" sz="1150" dirty="0"/>
          </a:p>
        </p:txBody>
      </p:sp>
      <p:sp>
        <p:nvSpPr>
          <p:cNvPr id="12" name="Text 10"/>
          <p:cNvSpPr/>
          <p:nvPr/>
        </p:nvSpPr>
        <p:spPr>
          <a:xfrm>
            <a:off x="3321558" y="2673858"/>
            <a:ext cx="2615184" cy="656844"/>
          </a:xfrm>
          <a:prstGeom prst="rect">
            <a:avLst/>
          </a:prstGeom>
          <a:solidFill>
            <a:srgbClr val="0E2843"/>
          </a:solidFill>
          <a:ln>
            <a:solidFill>
              <a:srgbClr val="315B7B">
                <a:alpha val="75000"/>
              </a:srgbClr>
            </a:solidFill>
          </a:ln>
        </p:spPr>
        <p:txBody>
          <a:bodyPr wrap="square" lIns="699" tIns="699" rIns="699" bIns="699" rtlCol="0" anchor="ctr">
            <a:normAutofit/>
          </a:bodyPr>
          <a:lstStyle/>
          <a:p>
            <a:pPr marL="0" indent="0">
              <a:buNone/>
            </a:pPr>
            <a:r>
              <a:rPr lang="en-US" sz="1150" dirty="0">
                <a:solidFill>
                  <a:srgbClr val="F6FAFF"/>
                </a:solidFill>
                <a:latin typeface="Aptos" pitchFamily="34" charset="0"/>
                <a:ea typeface="Aptos" pitchFamily="34" charset="-122"/>
                <a:cs typeface="Aptos" pitchFamily="34" charset="-120"/>
              </a:rPr>
              <a:t>012345678901</a:t>
            </a:r>
            <a:endParaRPr lang="en-US" sz="1150" dirty="0"/>
          </a:p>
        </p:txBody>
      </p:sp>
      <p:sp>
        <p:nvSpPr>
          <p:cNvPr id="13" name="Text 11"/>
          <p:cNvSpPr/>
          <p:nvPr/>
        </p:nvSpPr>
        <p:spPr>
          <a:xfrm>
            <a:off x="692658" y="3344418"/>
            <a:ext cx="2615184" cy="656844"/>
          </a:xfrm>
          <a:prstGeom prst="rect">
            <a:avLst/>
          </a:prstGeom>
          <a:solidFill>
            <a:srgbClr val="102B46"/>
          </a:solidFill>
          <a:ln>
            <a:solidFill>
              <a:srgbClr val="315B7B">
                <a:alpha val="75000"/>
              </a:srgbClr>
            </a:solidFill>
          </a:ln>
        </p:spPr>
        <p:txBody>
          <a:bodyPr wrap="square" lIns="699" tIns="699" rIns="699" bIns="699" rtlCol="0" anchor="ctr">
            <a:normAutofit/>
          </a:bodyPr>
          <a:lstStyle/>
          <a:p>
            <a:pPr marL="0" indent="0">
              <a:buNone/>
            </a:pPr>
            <a:r>
              <a:rPr lang="en-US" sz="1150" dirty="0">
                <a:solidFill>
                  <a:srgbClr val="F6FAFF"/>
                </a:solidFill>
                <a:latin typeface="Aptos" pitchFamily="34" charset="0"/>
                <a:ea typeface="Aptos" pitchFamily="34" charset="-122"/>
                <a:cs typeface="Aptos" pitchFamily="34" charset="-120"/>
              </a:rPr>
              <a:t>BHXH</a:t>
            </a:r>
            <a:endParaRPr lang="en-US" sz="1150" dirty="0"/>
          </a:p>
        </p:txBody>
      </p:sp>
      <p:sp>
        <p:nvSpPr>
          <p:cNvPr id="14" name="Text 12"/>
          <p:cNvSpPr/>
          <p:nvPr/>
        </p:nvSpPr>
        <p:spPr>
          <a:xfrm>
            <a:off x="3321558" y="3344418"/>
            <a:ext cx="2615184" cy="656844"/>
          </a:xfrm>
          <a:prstGeom prst="rect">
            <a:avLst/>
          </a:prstGeom>
          <a:solidFill>
            <a:srgbClr val="102B46"/>
          </a:solidFill>
          <a:ln>
            <a:solidFill>
              <a:srgbClr val="315B7B">
                <a:alpha val="75000"/>
              </a:srgbClr>
            </a:solidFill>
          </a:ln>
        </p:spPr>
        <p:txBody>
          <a:bodyPr wrap="square" lIns="699" tIns="699" rIns="699" bIns="699" rtlCol="0" anchor="ctr">
            <a:normAutofit/>
          </a:bodyPr>
          <a:lstStyle/>
          <a:p>
            <a:pPr marL="0" indent="0">
              <a:buNone/>
            </a:pPr>
            <a:r>
              <a:rPr lang="en-US" sz="1150" dirty="0">
                <a:solidFill>
                  <a:srgbClr val="F6FAFF"/>
                </a:solidFill>
                <a:latin typeface="Aptos" pitchFamily="34" charset="0"/>
                <a:ea typeface="Aptos" pitchFamily="34" charset="-122"/>
                <a:cs typeface="Aptos" pitchFamily="34" charset="-120"/>
              </a:rPr>
              <a:t>1234567890</a:t>
            </a:r>
            <a:endParaRPr lang="en-US" sz="1150" dirty="0"/>
          </a:p>
        </p:txBody>
      </p:sp>
      <p:sp>
        <p:nvSpPr>
          <p:cNvPr id="15" name="Text 13"/>
          <p:cNvSpPr/>
          <p:nvPr/>
        </p:nvSpPr>
        <p:spPr>
          <a:xfrm>
            <a:off x="692658" y="4014978"/>
            <a:ext cx="2615184" cy="656844"/>
          </a:xfrm>
          <a:prstGeom prst="rect">
            <a:avLst/>
          </a:prstGeom>
          <a:solidFill>
            <a:srgbClr val="0E2843"/>
          </a:solidFill>
          <a:ln>
            <a:solidFill>
              <a:srgbClr val="315B7B">
                <a:alpha val="75000"/>
              </a:srgbClr>
            </a:solidFill>
          </a:ln>
        </p:spPr>
        <p:txBody>
          <a:bodyPr wrap="square" lIns="699" tIns="699" rIns="699" bIns="699" rtlCol="0" anchor="ctr">
            <a:normAutofit/>
          </a:bodyPr>
          <a:lstStyle/>
          <a:p>
            <a:pPr marL="0" indent="0">
              <a:buNone/>
            </a:pPr>
            <a:r>
              <a:rPr lang="en-US" sz="1150" dirty="0">
                <a:solidFill>
                  <a:srgbClr val="F6FAFF"/>
                </a:solidFill>
                <a:latin typeface="Aptos" pitchFamily="34" charset="0"/>
                <a:ea typeface="Aptos" pitchFamily="34" charset="-122"/>
                <a:cs typeface="Aptos" pitchFamily="34" charset="-120"/>
              </a:rPr>
              <a:t>Số tài khoản</a:t>
            </a:r>
            <a:endParaRPr lang="en-US" sz="1150" dirty="0"/>
          </a:p>
        </p:txBody>
      </p:sp>
      <p:sp>
        <p:nvSpPr>
          <p:cNvPr id="16" name="Text 14"/>
          <p:cNvSpPr/>
          <p:nvPr/>
        </p:nvSpPr>
        <p:spPr>
          <a:xfrm>
            <a:off x="3321558" y="4014978"/>
            <a:ext cx="2615184" cy="656844"/>
          </a:xfrm>
          <a:prstGeom prst="rect">
            <a:avLst/>
          </a:prstGeom>
          <a:solidFill>
            <a:srgbClr val="0E2843"/>
          </a:solidFill>
          <a:ln>
            <a:solidFill>
              <a:srgbClr val="315B7B">
                <a:alpha val="75000"/>
              </a:srgbClr>
            </a:solidFill>
          </a:ln>
        </p:spPr>
        <p:txBody>
          <a:bodyPr wrap="square" lIns="699" tIns="699" rIns="699" bIns="699" rtlCol="0" anchor="ctr">
            <a:normAutofit/>
          </a:bodyPr>
          <a:lstStyle/>
          <a:p>
            <a:pPr marL="0" indent="0">
              <a:buNone/>
            </a:pPr>
            <a:r>
              <a:rPr lang="en-US" sz="1150" dirty="0">
                <a:solidFill>
                  <a:srgbClr val="F6FAFF"/>
                </a:solidFill>
                <a:latin typeface="Aptos" pitchFamily="34" charset="0"/>
                <a:ea typeface="Aptos" pitchFamily="34" charset="-122"/>
                <a:cs typeface="Aptos" pitchFamily="34" charset="-120"/>
              </a:rPr>
              <a:t>9876543210</a:t>
            </a:r>
            <a:endParaRPr lang="en-US" sz="1150" dirty="0"/>
          </a:p>
        </p:txBody>
      </p:sp>
      <p:sp>
        <p:nvSpPr>
          <p:cNvPr id="17" name="Text 15"/>
          <p:cNvSpPr/>
          <p:nvPr/>
        </p:nvSpPr>
        <p:spPr>
          <a:xfrm>
            <a:off x="692658" y="4685538"/>
            <a:ext cx="2615184" cy="656844"/>
          </a:xfrm>
          <a:prstGeom prst="rect">
            <a:avLst/>
          </a:prstGeom>
          <a:solidFill>
            <a:srgbClr val="102B46"/>
          </a:solidFill>
          <a:ln>
            <a:solidFill>
              <a:srgbClr val="315B7B">
                <a:alpha val="75000"/>
              </a:srgbClr>
            </a:solidFill>
          </a:ln>
        </p:spPr>
        <p:txBody>
          <a:bodyPr wrap="square" lIns="699" tIns="699" rIns="699" bIns="699" rtlCol="0" anchor="ctr">
            <a:normAutofit/>
          </a:bodyPr>
          <a:lstStyle/>
          <a:p>
            <a:pPr marL="0" indent="0">
              <a:buNone/>
            </a:pPr>
            <a:r>
              <a:rPr lang="en-US" sz="1150" dirty="0">
                <a:solidFill>
                  <a:srgbClr val="F6FAFF"/>
                </a:solidFill>
                <a:latin typeface="Aptos" pitchFamily="34" charset="0"/>
                <a:ea typeface="Aptos" pitchFamily="34" charset="-122"/>
                <a:cs typeface="Aptos" pitchFamily="34" charset="-120"/>
              </a:rPr>
              <a:t>Địa chỉ</a:t>
            </a:r>
            <a:endParaRPr lang="en-US" sz="1150" dirty="0"/>
          </a:p>
        </p:txBody>
      </p:sp>
      <p:sp>
        <p:nvSpPr>
          <p:cNvPr id="18" name="Text 16"/>
          <p:cNvSpPr/>
          <p:nvPr/>
        </p:nvSpPr>
        <p:spPr>
          <a:xfrm>
            <a:off x="3321558" y="4685538"/>
            <a:ext cx="2615184" cy="656844"/>
          </a:xfrm>
          <a:prstGeom prst="rect">
            <a:avLst/>
          </a:prstGeom>
          <a:solidFill>
            <a:srgbClr val="102B46"/>
          </a:solidFill>
          <a:ln>
            <a:solidFill>
              <a:srgbClr val="315B7B">
                <a:alpha val="75000"/>
              </a:srgbClr>
            </a:solidFill>
          </a:ln>
        </p:spPr>
        <p:txBody>
          <a:bodyPr wrap="square" lIns="699" tIns="699" rIns="699" bIns="699" rtlCol="0" anchor="ctr">
            <a:normAutofit/>
          </a:bodyPr>
          <a:lstStyle/>
          <a:p>
            <a:pPr marL="0" indent="0">
              <a:buNone/>
            </a:pPr>
            <a:r>
              <a:rPr lang="en-US" sz="1150" dirty="0">
                <a:solidFill>
                  <a:srgbClr val="F6FAFF"/>
                </a:solidFill>
                <a:latin typeface="Aptos" pitchFamily="34" charset="0"/>
                <a:ea typeface="Aptos" pitchFamily="34" charset="-122"/>
                <a:cs typeface="Aptos" pitchFamily="34" charset="-120"/>
              </a:rPr>
              <a:t>Hà Nội</a:t>
            </a:r>
            <a:endParaRPr lang="en-US" sz="1150" dirty="0"/>
          </a:p>
        </p:txBody>
      </p:sp>
      <p:sp>
        <p:nvSpPr>
          <p:cNvPr id="19" name="Text 17"/>
          <p:cNvSpPr/>
          <p:nvPr/>
        </p:nvSpPr>
        <p:spPr>
          <a:xfrm>
            <a:off x="6270498" y="1332738"/>
            <a:ext cx="2615184" cy="656844"/>
          </a:xfrm>
          <a:prstGeom prst="rect">
            <a:avLst/>
          </a:prstGeom>
          <a:solidFill>
            <a:srgbClr val="0E3354"/>
          </a:solidFill>
          <a:ln>
            <a:solidFill>
              <a:srgbClr val="315B7B">
                <a:alpha val="75000"/>
              </a:srgbClr>
            </a:solidFill>
          </a:ln>
        </p:spPr>
        <p:txBody>
          <a:bodyPr wrap="square" lIns="699" tIns="699" rIns="699" bIns="699" rtlCol="0" anchor="ctr">
            <a:normAutofit/>
          </a:bodyPr>
          <a:lstStyle/>
          <a:p>
            <a:pPr marL="0" indent="0">
              <a:buNone/>
            </a:pPr>
            <a:r>
              <a:rPr lang="en-US" sz="1150" b="1" dirty="0">
                <a:solidFill>
                  <a:srgbClr val="FFB347"/>
                </a:solidFill>
                <a:latin typeface="Aptos" pitchFamily="34" charset="0"/>
                <a:ea typeface="Aptos" pitchFamily="34" charset="-122"/>
                <a:cs typeface="Aptos" pitchFamily="34" charset="-120"/>
              </a:rPr>
              <a:t>Dữ liệu lưu trong database</a:t>
            </a:r>
            <a:endParaRPr lang="en-US" sz="1150" dirty="0"/>
          </a:p>
        </p:txBody>
      </p:sp>
      <p:sp>
        <p:nvSpPr>
          <p:cNvPr id="20" name="Text 18"/>
          <p:cNvSpPr/>
          <p:nvPr/>
        </p:nvSpPr>
        <p:spPr>
          <a:xfrm>
            <a:off x="8899398" y="1332738"/>
            <a:ext cx="2615184" cy="656844"/>
          </a:xfrm>
          <a:prstGeom prst="rect">
            <a:avLst/>
          </a:prstGeom>
          <a:solidFill>
            <a:srgbClr val="0E3354"/>
          </a:solidFill>
          <a:ln>
            <a:solidFill>
              <a:srgbClr val="315B7B">
                <a:alpha val="75000"/>
              </a:srgbClr>
            </a:solidFill>
          </a:ln>
        </p:spPr>
        <p:txBody>
          <a:bodyPr wrap="square" lIns="699" tIns="699" rIns="699" bIns="699" rtlCol="0" anchor="ctr">
            <a:normAutofit/>
          </a:bodyPr>
          <a:lstStyle/>
          <a:p>
            <a:pPr marL="0" indent="0">
              <a:buNone/>
            </a:pPr>
            <a:r>
              <a:rPr lang="en-US" sz="1150" b="1" dirty="0">
                <a:solidFill>
                  <a:srgbClr val="FFB347"/>
                </a:solidFill>
                <a:latin typeface="Aptos" pitchFamily="34" charset="0"/>
                <a:ea typeface="Aptos" pitchFamily="34" charset="-122"/>
                <a:cs typeface="Aptos" pitchFamily="34" charset="-120"/>
              </a:rPr>
              <a:t>Giá trị</a:t>
            </a:r>
            <a:endParaRPr lang="en-US" sz="1150" dirty="0"/>
          </a:p>
        </p:txBody>
      </p:sp>
      <p:sp>
        <p:nvSpPr>
          <p:cNvPr id="21" name="Text 19"/>
          <p:cNvSpPr/>
          <p:nvPr/>
        </p:nvSpPr>
        <p:spPr>
          <a:xfrm>
            <a:off x="6270498" y="2003298"/>
            <a:ext cx="2615184" cy="656844"/>
          </a:xfrm>
          <a:prstGeom prst="rect">
            <a:avLst/>
          </a:prstGeom>
          <a:solidFill>
            <a:srgbClr val="102B46"/>
          </a:solidFill>
          <a:ln>
            <a:solidFill>
              <a:srgbClr val="315B7B">
                <a:alpha val="75000"/>
              </a:srgbClr>
            </a:solidFill>
          </a:ln>
        </p:spPr>
        <p:txBody>
          <a:bodyPr wrap="square" lIns="699" tIns="699" rIns="699" bIns="699" rtlCol="0" anchor="ctr">
            <a:normAutofit/>
          </a:bodyPr>
          <a:lstStyle/>
          <a:p>
            <a:pPr marL="0" indent="0">
              <a:buNone/>
            </a:pPr>
            <a:r>
              <a:rPr lang="en-US" sz="1150" dirty="0">
                <a:solidFill>
                  <a:srgbClr val="F6FAFF"/>
                </a:solidFill>
                <a:latin typeface="Aptos" pitchFamily="34" charset="0"/>
                <a:ea typeface="Aptos" pitchFamily="34" charset="-122"/>
                <a:cs typeface="Aptos" pitchFamily="34" charset="-120"/>
              </a:rPr>
              <a:t>Họ tên</a:t>
            </a:r>
            <a:endParaRPr lang="en-US" sz="1150" dirty="0"/>
          </a:p>
        </p:txBody>
      </p:sp>
      <p:sp>
        <p:nvSpPr>
          <p:cNvPr id="22" name="Text 20"/>
          <p:cNvSpPr/>
          <p:nvPr/>
        </p:nvSpPr>
        <p:spPr>
          <a:xfrm>
            <a:off x="8899398" y="2003298"/>
            <a:ext cx="2615184" cy="656844"/>
          </a:xfrm>
          <a:prstGeom prst="rect">
            <a:avLst/>
          </a:prstGeom>
          <a:solidFill>
            <a:srgbClr val="102B46"/>
          </a:solidFill>
          <a:ln>
            <a:solidFill>
              <a:srgbClr val="315B7B">
                <a:alpha val="75000"/>
              </a:srgbClr>
            </a:solidFill>
          </a:ln>
        </p:spPr>
        <p:txBody>
          <a:bodyPr wrap="square" lIns="699" tIns="699" rIns="699" bIns="699" rtlCol="0" anchor="ctr">
            <a:normAutofit/>
          </a:bodyPr>
          <a:lstStyle/>
          <a:p>
            <a:pPr marL="0" indent="0">
              <a:buNone/>
            </a:pPr>
            <a:r>
              <a:rPr lang="en-US" sz="1150" dirty="0">
                <a:solidFill>
                  <a:srgbClr val="F6FAFF"/>
                </a:solidFill>
                <a:latin typeface="Aptos" pitchFamily="34" charset="0"/>
                <a:ea typeface="Aptos" pitchFamily="34" charset="-122"/>
                <a:cs typeface="Aptos" pitchFamily="34" charset="-120"/>
              </a:rPr>
              <a:t>Nguyễn Văn A</a:t>
            </a:r>
            <a:endParaRPr lang="en-US" sz="1150" dirty="0"/>
          </a:p>
        </p:txBody>
      </p:sp>
      <p:sp>
        <p:nvSpPr>
          <p:cNvPr id="23" name="Text 21"/>
          <p:cNvSpPr/>
          <p:nvPr/>
        </p:nvSpPr>
        <p:spPr>
          <a:xfrm>
            <a:off x="6270498" y="2673858"/>
            <a:ext cx="2615184" cy="656844"/>
          </a:xfrm>
          <a:prstGeom prst="rect">
            <a:avLst/>
          </a:prstGeom>
          <a:solidFill>
            <a:srgbClr val="0E2843"/>
          </a:solidFill>
          <a:ln>
            <a:solidFill>
              <a:srgbClr val="315B7B">
                <a:alpha val="75000"/>
              </a:srgbClr>
            </a:solidFill>
          </a:ln>
        </p:spPr>
        <p:txBody>
          <a:bodyPr wrap="square" lIns="699" tIns="699" rIns="699" bIns="699" rtlCol="0" anchor="ctr">
            <a:normAutofit/>
          </a:bodyPr>
          <a:lstStyle/>
          <a:p>
            <a:pPr marL="0" indent="0">
              <a:buNone/>
            </a:pPr>
            <a:r>
              <a:rPr lang="en-US" sz="1150" dirty="0">
                <a:solidFill>
                  <a:srgbClr val="F6FAFF"/>
                </a:solidFill>
                <a:latin typeface="Aptos" pitchFamily="34" charset="0"/>
                <a:ea typeface="Aptos" pitchFamily="34" charset="-122"/>
                <a:cs typeface="Aptos" pitchFamily="34" charset="-120"/>
              </a:rPr>
              <a:t>CCCD</a:t>
            </a:r>
            <a:endParaRPr lang="en-US" sz="1150" dirty="0"/>
          </a:p>
        </p:txBody>
      </p:sp>
      <p:sp>
        <p:nvSpPr>
          <p:cNvPr id="24" name="Text 22"/>
          <p:cNvSpPr/>
          <p:nvPr/>
        </p:nvSpPr>
        <p:spPr>
          <a:xfrm>
            <a:off x="8899398" y="2673858"/>
            <a:ext cx="2615184" cy="656844"/>
          </a:xfrm>
          <a:prstGeom prst="rect">
            <a:avLst/>
          </a:prstGeom>
          <a:solidFill>
            <a:srgbClr val="0E2843"/>
          </a:solidFill>
          <a:ln>
            <a:solidFill>
              <a:srgbClr val="315B7B">
                <a:alpha val="75000"/>
              </a:srgbClr>
            </a:solidFill>
          </a:ln>
        </p:spPr>
        <p:txBody>
          <a:bodyPr wrap="square" lIns="699" tIns="699" rIns="699" bIns="699" rtlCol="0" anchor="ctr">
            <a:normAutofit/>
          </a:bodyPr>
          <a:lstStyle/>
          <a:p>
            <a:pPr marL="0" indent="0">
              <a:buNone/>
            </a:pPr>
            <a:r>
              <a:rPr lang="en-US" sz="1150" dirty="0">
                <a:solidFill>
                  <a:srgbClr val="F6FAFF"/>
                </a:solidFill>
                <a:latin typeface="Aptos" pitchFamily="34" charset="0"/>
                <a:ea typeface="Aptos" pitchFamily="34" charset="-122"/>
                <a:cs typeface="Aptos" pitchFamily="34" charset="-120"/>
              </a:rPr>
              <a:t>U2FsdGVkX1+9x...</a:t>
            </a:r>
            <a:endParaRPr lang="en-US" sz="1150" dirty="0"/>
          </a:p>
        </p:txBody>
      </p:sp>
      <p:sp>
        <p:nvSpPr>
          <p:cNvPr id="25" name="Text 23"/>
          <p:cNvSpPr/>
          <p:nvPr/>
        </p:nvSpPr>
        <p:spPr>
          <a:xfrm>
            <a:off x="6270498" y="3344418"/>
            <a:ext cx="2615184" cy="656844"/>
          </a:xfrm>
          <a:prstGeom prst="rect">
            <a:avLst/>
          </a:prstGeom>
          <a:solidFill>
            <a:srgbClr val="102B46"/>
          </a:solidFill>
          <a:ln>
            <a:solidFill>
              <a:srgbClr val="315B7B">
                <a:alpha val="75000"/>
              </a:srgbClr>
            </a:solidFill>
          </a:ln>
        </p:spPr>
        <p:txBody>
          <a:bodyPr wrap="square" lIns="699" tIns="699" rIns="699" bIns="699" rtlCol="0" anchor="ctr">
            <a:normAutofit/>
          </a:bodyPr>
          <a:lstStyle/>
          <a:p>
            <a:pPr marL="0" indent="0">
              <a:buNone/>
            </a:pPr>
            <a:r>
              <a:rPr lang="en-US" sz="1150" dirty="0">
                <a:solidFill>
                  <a:srgbClr val="F6FAFF"/>
                </a:solidFill>
                <a:latin typeface="Aptos" pitchFamily="34" charset="0"/>
                <a:ea typeface="Aptos" pitchFamily="34" charset="-122"/>
                <a:cs typeface="Aptos" pitchFamily="34" charset="-120"/>
              </a:rPr>
              <a:t>BHXH</a:t>
            </a:r>
            <a:endParaRPr lang="en-US" sz="1150" dirty="0"/>
          </a:p>
        </p:txBody>
      </p:sp>
      <p:sp>
        <p:nvSpPr>
          <p:cNvPr id="26" name="Text 24"/>
          <p:cNvSpPr/>
          <p:nvPr/>
        </p:nvSpPr>
        <p:spPr>
          <a:xfrm>
            <a:off x="8899398" y="3344418"/>
            <a:ext cx="2615184" cy="656844"/>
          </a:xfrm>
          <a:prstGeom prst="rect">
            <a:avLst/>
          </a:prstGeom>
          <a:solidFill>
            <a:srgbClr val="102B46"/>
          </a:solidFill>
          <a:ln>
            <a:solidFill>
              <a:srgbClr val="315B7B">
                <a:alpha val="75000"/>
              </a:srgbClr>
            </a:solidFill>
          </a:ln>
        </p:spPr>
        <p:txBody>
          <a:bodyPr wrap="square" lIns="699" tIns="699" rIns="699" bIns="699" rtlCol="0" anchor="ctr">
            <a:normAutofit/>
          </a:bodyPr>
          <a:lstStyle/>
          <a:p>
            <a:pPr marL="0" indent="0">
              <a:buNone/>
            </a:pPr>
            <a:r>
              <a:rPr lang="en-US" sz="1150" dirty="0">
                <a:solidFill>
                  <a:srgbClr val="F6FAFF"/>
                </a:solidFill>
                <a:latin typeface="Aptos" pitchFamily="34" charset="0"/>
                <a:ea typeface="Aptos" pitchFamily="34" charset="-122"/>
                <a:cs typeface="Aptos" pitchFamily="34" charset="-120"/>
              </a:rPr>
              <a:t>a8f3Dk91m...</a:t>
            </a:r>
            <a:endParaRPr lang="en-US" sz="1150" dirty="0"/>
          </a:p>
        </p:txBody>
      </p:sp>
      <p:sp>
        <p:nvSpPr>
          <p:cNvPr id="27" name="Text 25"/>
          <p:cNvSpPr/>
          <p:nvPr/>
        </p:nvSpPr>
        <p:spPr>
          <a:xfrm>
            <a:off x="6270498" y="4014978"/>
            <a:ext cx="2615184" cy="656844"/>
          </a:xfrm>
          <a:prstGeom prst="rect">
            <a:avLst/>
          </a:prstGeom>
          <a:solidFill>
            <a:srgbClr val="0E2843"/>
          </a:solidFill>
          <a:ln>
            <a:solidFill>
              <a:srgbClr val="315B7B">
                <a:alpha val="75000"/>
              </a:srgbClr>
            </a:solidFill>
          </a:ln>
        </p:spPr>
        <p:txBody>
          <a:bodyPr wrap="square" lIns="699" tIns="699" rIns="699" bIns="699" rtlCol="0" anchor="ctr">
            <a:normAutofit/>
          </a:bodyPr>
          <a:lstStyle/>
          <a:p>
            <a:pPr marL="0" indent="0">
              <a:buNone/>
            </a:pPr>
            <a:r>
              <a:rPr lang="en-US" sz="1150" dirty="0">
                <a:solidFill>
                  <a:srgbClr val="F6FAFF"/>
                </a:solidFill>
                <a:latin typeface="Aptos" pitchFamily="34" charset="0"/>
                <a:ea typeface="Aptos" pitchFamily="34" charset="-122"/>
                <a:cs typeface="Aptos" pitchFamily="34" charset="-120"/>
              </a:rPr>
              <a:t>Số tài khoản</a:t>
            </a:r>
            <a:endParaRPr lang="en-US" sz="1150" dirty="0"/>
          </a:p>
        </p:txBody>
      </p:sp>
      <p:sp>
        <p:nvSpPr>
          <p:cNvPr id="28" name="Text 26"/>
          <p:cNvSpPr/>
          <p:nvPr/>
        </p:nvSpPr>
        <p:spPr>
          <a:xfrm>
            <a:off x="8899398" y="4014978"/>
            <a:ext cx="2615184" cy="656844"/>
          </a:xfrm>
          <a:prstGeom prst="rect">
            <a:avLst/>
          </a:prstGeom>
          <a:solidFill>
            <a:srgbClr val="0E2843"/>
          </a:solidFill>
          <a:ln>
            <a:solidFill>
              <a:srgbClr val="315B7B">
                <a:alpha val="75000"/>
              </a:srgbClr>
            </a:solidFill>
          </a:ln>
        </p:spPr>
        <p:txBody>
          <a:bodyPr wrap="square" lIns="699" tIns="699" rIns="699" bIns="699" rtlCol="0" anchor="ctr">
            <a:normAutofit/>
          </a:bodyPr>
          <a:lstStyle/>
          <a:p>
            <a:pPr marL="0" indent="0">
              <a:buNone/>
            </a:pPr>
            <a:r>
              <a:rPr lang="en-US" sz="1150" dirty="0">
                <a:solidFill>
                  <a:srgbClr val="F6FAFF"/>
                </a:solidFill>
                <a:latin typeface="Aptos" pitchFamily="34" charset="0"/>
                <a:ea typeface="Aptos" pitchFamily="34" charset="-122"/>
                <a:cs typeface="Aptos" pitchFamily="34" charset="-120"/>
              </a:rPr>
              <a:t>pL29xaS0...</a:t>
            </a:r>
            <a:endParaRPr lang="en-US" sz="1150" dirty="0"/>
          </a:p>
        </p:txBody>
      </p:sp>
      <p:sp>
        <p:nvSpPr>
          <p:cNvPr id="29" name="Text 27"/>
          <p:cNvSpPr/>
          <p:nvPr/>
        </p:nvSpPr>
        <p:spPr>
          <a:xfrm>
            <a:off x="6270498" y="4685538"/>
            <a:ext cx="2615184" cy="656844"/>
          </a:xfrm>
          <a:prstGeom prst="rect">
            <a:avLst/>
          </a:prstGeom>
          <a:solidFill>
            <a:srgbClr val="102B46"/>
          </a:solidFill>
          <a:ln>
            <a:solidFill>
              <a:srgbClr val="315B7B">
                <a:alpha val="75000"/>
              </a:srgbClr>
            </a:solidFill>
          </a:ln>
        </p:spPr>
        <p:txBody>
          <a:bodyPr wrap="square" lIns="699" tIns="699" rIns="699" bIns="699" rtlCol="0" anchor="ctr">
            <a:normAutofit/>
          </a:bodyPr>
          <a:lstStyle/>
          <a:p>
            <a:pPr marL="0" indent="0">
              <a:buNone/>
            </a:pPr>
            <a:r>
              <a:rPr lang="en-US" sz="1150" dirty="0">
                <a:solidFill>
                  <a:srgbClr val="F6FAFF"/>
                </a:solidFill>
                <a:latin typeface="Aptos" pitchFamily="34" charset="0"/>
                <a:ea typeface="Aptos" pitchFamily="34" charset="-122"/>
                <a:cs typeface="Aptos" pitchFamily="34" charset="-120"/>
              </a:rPr>
              <a:t>Địa chỉ</a:t>
            </a:r>
            <a:endParaRPr lang="en-US" sz="1150" dirty="0"/>
          </a:p>
        </p:txBody>
      </p:sp>
      <p:sp>
        <p:nvSpPr>
          <p:cNvPr id="30" name="Text 28"/>
          <p:cNvSpPr/>
          <p:nvPr/>
        </p:nvSpPr>
        <p:spPr>
          <a:xfrm>
            <a:off x="8899398" y="4685538"/>
            <a:ext cx="2615184" cy="656844"/>
          </a:xfrm>
          <a:prstGeom prst="rect">
            <a:avLst/>
          </a:prstGeom>
          <a:solidFill>
            <a:srgbClr val="102B46"/>
          </a:solidFill>
          <a:ln>
            <a:solidFill>
              <a:srgbClr val="315B7B">
                <a:alpha val="75000"/>
              </a:srgbClr>
            </a:solidFill>
          </a:ln>
        </p:spPr>
        <p:txBody>
          <a:bodyPr wrap="square" lIns="699" tIns="699" rIns="699" bIns="699" rtlCol="0" anchor="ctr">
            <a:normAutofit/>
          </a:bodyPr>
          <a:lstStyle/>
          <a:p>
            <a:pPr marL="0" indent="0">
              <a:buNone/>
            </a:pPr>
            <a:r>
              <a:rPr lang="en-US" sz="1150" dirty="0">
                <a:solidFill>
                  <a:srgbClr val="F6FAFF"/>
                </a:solidFill>
                <a:latin typeface="Aptos" pitchFamily="34" charset="0"/>
                <a:ea typeface="Aptos" pitchFamily="34" charset="-122"/>
                <a:cs typeface="Aptos" pitchFamily="34" charset="-120"/>
              </a:rPr>
              <a:t>k92LsAq...</a:t>
            </a:r>
            <a:endParaRPr lang="en-US" sz="1150" dirty="0"/>
          </a:p>
        </p:txBody>
      </p:sp>
      <p:sp>
        <p:nvSpPr>
          <p:cNvPr id="31" name="Shape 29"/>
          <p:cNvSpPr/>
          <p:nvPr/>
        </p:nvSpPr>
        <p:spPr>
          <a:xfrm>
            <a:off x="5715000" y="3072384"/>
            <a:ext cx="457200" cy="0"/>
          </a:xfrm>
          <a:prstGeom prst="line">
            <a:avLst/>
          </a:prstGeom>
          <a:noFill/>
          <a:ln w="12700">
            <a:solidFill>
              <a:srgbClr val="B8C7D9"/>
            </a:solidFill>
            <a:prstDash val="solid"/>
            <a:tailEnd type="triangle"/>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071626"/>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2EE6E6">
              <a:alpha val="90000"/>
            </a:srgbClr>
          </a:solidFill>
          <a:ln w="12700">
            <a:solidFill>
              <a:srgbClr val="2EE6E6">
                <a:alpha val="0"/>
              </a:srgbClr>
            </a:solidFill>
            <a:prstDash val="solid"/>
          </a:ln>
        </p:spPr>
      </p:sp>
      <p:sp>
        <p:nvSpPr>
          <p:cNvPr id="3" name="Shape 1"/>
          <p:cNvSpPr/>
          <p:nvPr/>
        </p:nvSpPr>
        <p:spPr>
          <a:xfrm>
            <a:off x="0" y="6748272"/>
            <a:ext cx="12191695" cy="109728"/>
          </a:xfrm>
          <a:prstGeom prst="rect">
            <a:avLst/>
          </a:prstGeom>
          <a:solidFill>
            <a:srgbClr val="2EE6E6">
              <a:alpha val="70000"/>
            </a:srgbClr>
          </a:solidFill>
          <a:ln w="12700">
            <a:solidFill>
              <a:srgbClr val="2EE6E6">
                <a:alpha val="0"/>
              </a:srgbClr>
            </a:solidFill>
            <a:prstDash val="solid"/>
          </a:ln>
        </p:spPr>
      </p:sp>
      <p:sp>
        <p:nvSpPr>
          <p:cNvPr id="4" name="Text 2"/>
          <p:cNvSpPr/>
          <p:nvPr/>
        </p:nvSpPr>
        <p:spPr>
          <a:xfrm>
            <a:off x="502920" y="320040"/>
            <a:ext cx="8778240" cy="420624"/>
          </a:xfrm>
          <a:prstGeom prst="rect">
            <a:avLst/>
          </a:prstGeom>
          <a:noFill/>
          <a:ln/>
        </p:spPr>
        <p:txBody>
          <a:bodyPr wrap="square" lIns="254" tIns="254" rIns="254" bIns="254" rtlCol="0" anchor="ctr">
            <a:normAutofit/>
          </a:bodyPr>
          <a:lstStyle/>
          <a:p>
            <a:pPr marL="0" indent="0">
              <a:buNone/>
            </a:pPr>
            <a:r>
              <a:rPr lang="en-US" sz="2500" b="1" dirty="0">
                <a:solidFill>
                  <a:srgbClr val="F6FAFF"/>
                </a:solidFill>
                <a:latin typeface="Aptos Display" pitchFamily="34" charset="0"/>
                <a:ea typeface="Aptos Display" pitchFamily="34" charset="-122"/>
                <a:cs typeface="Aptos Display" pitchFamily="34" charset="-120"/>
              </a:rPr>
              <a:t>Quy trình đăng nhập và giải mã</a:t>
            </a:r>
            <a:endParaRPr lang="en-US" sz="2500" dirty="0"/>
          </a:p>
        </p:txBody>
      </p:sp>
      <p:sp>
        <p:nvSpPr>
          <p:cNvPr id="5" name="Text 3"/>
          <p:cNvSpPr/>
          <p:nvPr/>
        </p:nvSpPr>
        <p:spPr>
          <a:xfrm>
            <a:off x="530352" y="795528"/>
            <a:ext cx="8046720" cy="219456"/>
          </a:xfrm>
          <a:prstGeom prst="rect">
            <a:avLst/>
          </a:prstGeom>
          <a:noFill/>
          <a:ln/>
        </p:spPr>
        <p:txBody>
          <a:bodyPr wrap="square" lIns="127" tIns="127" rIns="127" bIns="127" rtlCol="0" anchor="ctr">
            <a:normAutofit/>
          </a:bodyPr>
          <a:lstStyle/>
          <a:p>
            <a:pPr marL="0" indent="0">
              <a:buNone/>
            </a:pPr>
            <a:r>
              <a:rPr lang="en-US" sz="950" dirty="0">
                <a:solidFill>
                  <a:srgbClr val="B8C7D9"/>
                </a:solidFill>
              </a:rPr>
              <a:t>Chỉ người dùng hợp lệ mới được xem dữ liệu đã giải mã của chính mình.</a:t>
            </a:r>
            <a:endParaRPr lang="en-US" sz="950" dirty="0"/>
          </a:p>
        </p:txBody>
      </p:sp>
      <p:sp>
        <p:nvSpPr>
          <p:cNvPr id="6" name="Text 4"/>
          <p:cNvSpPr/>
          <p:nvPr/>
        </p:nvSpPr>
        <p:spPr>
          <a:xfrm>
            <a:off x="502920" y="6528816"/>
            <a:ext cx="6583680" cy="164592"/>
          </a:xfrm>
          <a:prstGeom prst="rect">
            <a:avLst/>
          </a:prstGeom>
          <a:noFill/>
          <a:ln/>
        </p:spPr>
        <p:txBody>
          <a:bodyPr wrap="square" lIns="0" tIns="0" rIns="0" bIns="0" rtlCol="0" anchor="ctr">
            <a:normAutofit/>
          </a:bodyPr>
          <a:lstStyle/>
          <a:p>
            <a:pPr marL="0" indent="0">
              <a:buNone/>
            </a:pPr>
            <a:r>
              <a:rPr lang="en-US" sz="750" dirty="0">
                <a:solidFill>
                  <a:srgbClr val="B8C7D9"/>
                </a:solidFill>
              </a:rPr>
              <a:t>Đề tài 22 · Triple DES &amp; AES · 16</a:t>
            </a:r>
            <a:endParaRPr lang="en-US" sz="750" dirty="0"/>
          </a:p>
        </p:txBody>
      </p:sp>
      <p:sp>
        <p:nvSpPr>
          <p:cNvPr id="7" name="Text 5"/>
          <p:cNvSpPr/>
          <p:nvPr/>
        </p:nvSpPr>
        <p:spPr>
          <a:xfrm>
            <a:off x="640080" y="1417320"/>
            <a:ext cx="1874520" cy="1005840"/>
          </a:xfrm>
          <a:prstGeom prst="rect">
            <a:avLst/>
          </a:prstGeom>
          <a:solidFill>
            <a:srgbClr val="102B46"/>
          </a:solidFill>
          <a:ln>
            <a:solidFill>
              <a:srgbClr val="2A6F9A">
                <a:alpha val="75000"/>
              </a:srgbClr>
            </a:solidFill>
          </a:ln>
        </p:spPr>
        <p:txBody>
          <a:bodyPr wrap="square" lIns="1905" tIns="1905" rIns="1905" bIns="1905" rtlCol="0" anchor="ctr">
            <a:normAutofit/>
          </a:bodyPr>
          <a:lstStyle/>
          <a:p>
            <a:pPr marL="0" indent="0">
              <a:buNone/>
            </a:pPr>
            <a:r>
              <a:rPr lang="en-US" sz="1230" b="1" dirty="0">
                <a:solidFill>
                  <a:srgbClr val="2EE6E6"/>
                </a:solidFill>
                <a:latin typeface="Aptos" pitchFamily="34" charset="0"/>
                <a:ea typeface="Aptos" pitchFamily="34" charset="-122"/>
                <a:cs typeface="Aptos" pitchFamily="34" charset="-120"/>
              </a:rPr>
              <a:t>1. Đăng nhập
</a:t>
            </a:r>
            <a:endParaRPr lang="en-US" sz="1230" dirty="0"/>
          </a:p>
        </p:txBody>
      </p:sp>
      <p:sp>
        <p:nvSpPr>
          <p:cNvPr id="8" name="Shape 6"/>
          <p:cNvSpPr/>
          <p:nvPr/>
        </p:nvSpPr>
        <p:spPr>
          <a:xfrm>
            <a:off x="2542032" y="1920240"/>
            <a:ext cx="274320" cy="0"/>
          </a:xfrm>
          <a:prstGeom prst="line">
            <a:avLst/>
          </a:prstGeom>
          <a:noFill/>
          <a:ln w="12700">
            <a:solidFill>
              <a:srgbClr val="B8C7D9"/>
            </a:solidFill>
            <a:prstDash val="solid"/>
            <a:tailEnd type="triangle"/>
          </a:ln>
        </p:spPr>
      </p:sp>
      <p:sp>
        <p:nvSpPr>
          <p:cNvPr id="9" name="Text 7"/>
          <p:cNvSpPr/>
          <p:nvPr/>
        </p:nvSpPr>
        <p:spPr>
          <a:xfrm>
            <a:off x="2944368" y="1417320"/>
            <a:ext cx="1874520" cy="1005840"/>
          </a:xfrm>
          <a:prstGeom prst="rect">
            <a:avLst/>
          </a:prstGeom>
          <a:solidFill>
            <a:srgbClr val="102B46"/>
          </a:solidFill>
          <a:ln>
            <a:solidFill>
              <a:srgbClr val="2A6F9A">
                <a:alpha val="75000"/>
              </a:srgbClr>
            </a:solidFill>
          </a:ln>
        </p:spPr>
        <p:txBody>
          <a:bodyPr wrap="square" lIns="1905" tIns="1905" rIns="1905" bIns="1905" rtlCol="0" anchor="ctr">
            <a:normAutofit/>
          </a:bodyPr>
          <a:lstStyle/>
          <a:p>
            <a:pPr marL="0" indent="0">
              <a:buNone/>
            </a:pPr>
            <a:r>
              <a:rPr lang="en-US" sz="1230" b="1" dirty="0">
                <a:solidFill>
                  <a:srgbClr val="5CC8FF"/>
                </a:solidFill>
                <a:latin typeface="Aptos" pitchFamily="34" charset="0"/>
                <a:ea typeface="Aptos" pitchFamily="34" charset="-122"/>
                <a:cs typeface="Aptos" pitchFamily="34" charset="-120"/>
              </a:rPr>
              <a:t>2. Kiểm tra mật khẩu
</a:t>
            </a:r>
            <a:endParaRPr lang="en-US" sz="1230" dirty="0"/>
          </a:p>
        </p:txBody>
      </p:sp>
      <p:sp>
        <p:nvSpPr>
          <p:cNvPr id="10" name="Shape 8"/>
          <p:cNvSpPr/>
          <p:nvPr/>
        </p:nvSpPr>
        <p:spPr>
          <a:xfrm>
            <a:off x="4846320" y="1920240"/>
            <a:ext cx="274320" cy="0"/>
          </a:xfrm>
          <a:prstGeom prst="line">
            <a:avLst/>
          </a:prstGeom>
          <a:noFill/>
          <a:ln w="12700">
            <a:solidFill>
              <a:srgbClr val="B8C7D9"/>
            </a:solidFill>
            <a:prstDash val="solid"/>
            <a:tailEnd type="triangle"/>
          </a:ln>
        </p:spPr>
      </p:sp>
      <p:sp>
        <p:nvSpPr>
          <p:cNvPr id="11" name="Text 9"/>
          <p:cNvSpPr/>
          <p:nvPr/>
        </p:nvSpPr>
        <p:spPr>
          <a:xfrm>
            <a:off x="5248656" y="1417320"/>
            <a:ext cx="1874520" cy="1005840"/>
          </a:xfrm>
          <a:prstGeom prst="rect">
            <a:avLst/>
          </a:prstGeom>
          <a:solidFill>
            <a:srgbClr val="102B46"/>
          </a:solidFill>
          <a:ln>
            <a:solidFill>
              <a:srgbClr val="2A6F9A">
                <a:alpha val="75000"/>
              </a:srgbClr>
            </a:solidFill>
          </a:ln>
        </p:spPr>
        <p:txBody>
          <a:bodyPr wrap="square" lIns="1905" tIns="1905" rIns="1905" bIns="1905" rtlCol="0" anchor="ctr">
            <a:normAutofit/>
          </a:bodyPr>
          <a:lstStyle/>
          <a:p>
            <a:pPr marL="0" indent="0">
              <a:buNone/>
            </a:pPr>
            <a:r>
              <a:rPr lang="en-US" sz="1230" b="1" dirty="0">
                <a:solidFill>
                  <a:srgbClr val="FFB347"/>
                </a:solidFill>
                <a:latin typeface="Aptos" pitchFamily="34" charset="0"/>
                <a:ea typeface="Aptos" pitchFamily="34" charset="-122"/>
                <a:cs typeface="Aptos" pitchFamily="34" charset="-120"/>
              </a:rPr>
              <a:t>3. Lấy bản mã từ DB
</a:t>
            </a:r>
            <a:endParaRPr lang="en-US" sz="1230" dirty="0"/>
          </a:p>
        </p:txBody>
      </p:sp>
      <p:sp>
        <p:nvSpPr>
          <p:cNvPr id="12" name="Shape 10"/>
          <p:cNvSpPr/>
          <p:nvPr/>
        </p:nvSpPr>
        <p:spPr>
          <a:xfrm>
            <a:off x="7150608" y="1920240"/>
            <a:ext cx="274320" cy="0"/>
          </a:xfrm>
          <a:prstGeom prst="line">
            <a:avLst/>
          </a:prstGeom>
          <a:noFill/>
          <a:ln w="12700">
            <a:solidFill>
              <a:srgbClr val="B8C7D9"/>
            </a:solidFill>
            <a:prstDash val="solid"/>
            <a:tailEnd type="triangle"/>
          </a:ln>
        </p:spPr>
      </p:sp>
      <p:sp>
        <p:nvSpPr>
          <p:cNvPr id="13" name="Text 11"/>
          <p:cNvSpPr/>
          <p:nvPr/>
        </p:nvSpPr>
        <p:spPr>
          <a:xfrm>
            <a:off x="7552944" y="1417320"/>
            <a:ext cx="1874520" cy="1005840"/>
          </a:xfrm>
          <a:prstGeom prst="rect">
            <a:avLst/>
          </a:prstGeom>
          <a:solidFill>
            <a:srgbClr val="102B46"/>
          </a:solidFill>
          <a:ln>
            <a:solidFill>
              <a:srgbClr val="2A6F9A">
                <a:alpha val="75000"/>
              </a:srgbClr>
            </a:solidFill>
          </a:ln>
        </p:spPr>
        <p:txBody>
          <a:bodyPr wrap="square" lIns="1905" tIns="1905" rIns="1905" bIns="1905" rtlCol="0" anchor="ctr">
            <a:normAutofit/>
          </a:bodyPr>
          <a:lstStyle/>
          <a:p>
            <a:pPr marL="0" indent="0">
              <a:buNone/>
            </a:pPr>
            <a:r>
              <a:rPr lang="en-US" sz="1230" b="1" dirty="0">
                <a:solidFill>
                  <a:srgbClr val="63D471"/>
                </a:solidFill>
                <a:latin typeface="Aptos" pitchFamily="34" charset="0"/>
                <a:ea typeface="Aptos" pitchFamily="34" charset="-122"/>
                <a:cs typeface="Aptos" pitchFamily="34" charset="-120"/>
              </a:rPr>
              <a:t>4. Giải mã bằng khóa
</a:t>
            </a:r>
            <a:endParaRPr lang="en-US" sz="1230" dirty="0"/>
          </a:p>
        </p:txBody>
      </p:sp>
      <p:sp>
        <p:nvSpPr>
          <p:cNvPr id="14" name="Shape 12"/>
          <p:cNvSpPr/>
          <p:nvPr/>
        </p:nvSpPr>
        <p:spPr>
          <a:xfrm>
            <a:off x="9454896" y="1920240"/>
            <a:ext cx="274320" cy="0"/>
          </a:xfrm>
          <a:prstGeom prst="line">
            <a:avLst/>
          </a:prstGeom>
          <a:noFill/>
          <a:ln w="12700">
            <a:solidFill>
              <a:srgbClr val="B8C7D9"/>
            </a:solidFill>
            <a:prstDash val="solid"/>
            <a:tailEnd type="triangle"/>
          </a:ln>
        </p:spPr>
      </p:sp>
      <p:sp>
        <p:nvSpPr>
          <p:cNvPr id="15" name="Text 13"/>
          <p:cNvSpPr/>
          <p:nvPr/>
        </p:nvSpPr>
        <p:spPr>
          <a:xfrm>
            <a:off x="9857232" y="1417320"/>
            <a:ext cx="1874520" cy="1005840"/>
          </a:xfrm>
          <a:prstGeom prst="rect">
            <a:avLst/>
          </a:prstGeom>
          <a:solidFill>
            <a:srgbClr val="102B46"/>
          </a:solidFill>
          <a:ln>
            <a:solidFill>
              <a:srgbClr val="2A6F9A">
                <a:alpha val="75000"/>
              </a:srgbClr>
            </a:solidFill>
          </a:ln>
        </p:spPr>
        <p:txBody>
          <a:bodyPr wrap="square" lIns="1905" tIns="1905" rIns="1905" bIns="1905" rtlCol="0" anchor="ctr">
            <a:normAutofit/>
          </a:bodyPr>
          <a:lstStyle/>
          <a:p>
            <a:pPr marL="0" indent="0">
              <a:buNone/>
            </a:pPr>
            <a:r>
              <a:rPr lang="en-US" sz="1230" b="1" dirty="0">
                <a:solidFill>
                  <a:srgbClr val="2EE6E6"/>
                </a:solidFill>
                <a:latin typeface="Aptos" pitchFamily="34" charset="0"/>
                <a:ea typeface="Aptos" pitchFamily="34" charset="-122"/>
                <a:cs typeface="Aptos" pitchFamily="34" charset="-120"/>
              </a:rPr>
              <a:t>5. Hiển thị thông tin
</a:t>
            </a:r>
            <a:r>
              <a:rPr lang="en-US" sz="950" dirty="0">
                <a:solidFill>
                  <a:srgbClr val="B8C7D9"/>
                </a:solidFill>
                <a:latin typeface="Aptos" pitchFamily="34" charset="0"/>
                <a:ea typeface="Aptos" pitchFamily="34" charset="-122"/>
                <a:cs typeface="Aptos" pitchFamily="34" charset="-120"/>
              </a:rPr>
              <a:t>Đúng người dùng</a:t>
            </a:r>
            <a:endParaRPr lang="en-US" sz="1230" dirty="0"/>
          </a:p>
        </p:txBody>
      </p:sp>
      <p:sp>
        <p:nvSpPr>
          <p:cNvPr id="16" name="Text 14"/>
          <p:cNvSpPr/>
          <p:nvPr/>
        </p:nvSpPr>
        <p:spPr>
          <a:xfrm>
            <a:off x="640080" y="3328416"/>
            <a:ext cx="10332720" cy="1234440"/>
          </a:xfrm>
          <a:prstGeom prst="rect">
            <a:avLst/>
          </a:prstGeom>
          <a:solidFill>
            <a:srgbClr val="06111E">
              <a:alpha val="95000"/>
            </a:srgbClr>
          </a:solidFill>
          <a:ln>
            <a:solidFill>
              <a:srgbClr val="2A6F9A">
                <a:alpha val="75000"/>
              </a:srgbClr>
            </a:solidFill>
          </a:ln>
        </p:spPr>
        <p:txBody>
          <a:bodyPr wrap="square" lIns="1270" tIns="1270" rIns="1270" bIns="1270" rtlCol="0" anchor="ctr">
            <a:normAutofit/>
          </a:bodyPr>
          <a:lstStyle/>
          <a:p>
            <a:pPr marL="0" indent="0">
              <a:buNone/>
            </a:pPr>
            <a:r>
              <a:rPr lang="en-US" sz="1600" dirty="0">
                <a:solidFill>
                  <a:srgbClr val="5CC8FF"/>
                </a:solidFill>
                <a:latin typeface="Consolas" pitchFamily="34" charset="0"/>
                <a:ea typeface="Consolas" pitchFamily="34" charset="-122"/>
                <a:cs typeface="Consolas" pitchFamily="34" charset="-120"/>
              </a:rPr>
              <a:t>cmnd = TripleDES_Decrypt(cmnd_encrypted, key1)</a:t>
            </a:r>
            <a:endParaRPr lang="en-US" sz="1600" dirty="0"/>
          </a:p>
          <a:p>
            <a:pPr marL="0" indent="0">
              <a:buNone/>
            </a:pPr>
            <a:r>
              <a:rPr lang="en-US" sz="1600" dirty="0">
                <a:solidFill>
                  <a:srgbClr val="5CC8FF"/>
                </a:solidFill>
                <a:latin typeface="Consolas" pitchFamily="34" charset="0"/>
                <a:ea typeface="Consolas" pitchFamily="34" charset="-122"/>
                <a:cs typeface="Consolas" pitchFamily="34" charset="-120"/>
              </a:rPr>
              <a:t>bhxh = AES256_Decrypt(bhxh_encrypted, key2)</a:t>
            </a:r>
            <a:endParaRPr lang="en-US" sz="1600" dirty="0"/>
          </a:p>
          <a:p>
            <a:pPr marL="0" indent="0">
              <a:buNone/>
            </a:pPr>
            <a:r>
              <a:rPr lang="en-US" sz="1600" dirty="0">
                <a:solidFill>
                  <a:srgbClr val="5CC8FF"/>
                </a:solidFill>
                <a:latin typeface="Consolas" pitchFamily="34" charset="0"/>
                <a:ea typeface="Consolas" pitchFamily="34" charset="-122"/>
                <a:cs typeface="Consolas" pitchFamily="34" charset="-120"/>
              </a:rPr>
              <a:t>stk = AES256_Decrypt(stk_encrypted, key2)</a:t>
            </a:r>
            <a:endParaRPr lang="en-US" sz="1600" dirty="0"/>
          </a:p>
          <a:p>
            <a:pPr marL="0" indent="0">
              <a:buNone/>
            </a:pPr>
            <a:r>
              <a:rPr lang="en-US" sz="1600" dirty="0">
                <a:solidFill>
                  <a:srgbClr val="5CC8FF"/>
                </a:solidFill>
                <a:latin typeface="Consolas" pitchFamily="34" charset="0"/>
                <a:ea typeface="Consolas" pitchFamily="34" charset="-122"/>
                <a:cs typeface="Consolas" pitchFamily="34" charset="-120"/>
              </a:rPr>
              <a:t>diachi = AES256_Decrypt(diachi_encrypted, key2)</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071626"/>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2EE6E6">
              <a:alpha val="90000"/>
            </a:srgbClr>
          </a:solidFill>
          <a:ln w="12700">
            <a:solidFill>
              <a:srgbClr val="2EE6E6">
                <a:alpha val="0"/>
              </a:srgbClr>
            </a:solidFill>
            <a:prstDash val="solid"/>
          </a:ln>
        </p:spPr>
      </p:sp>
      <p:sp>
        <p:nvSpPr>
          <p:cNvPr id="3" name="Shape 1"/>
          <p:cNvSpPr/>
          <p:nvPr/>
        </p:nvSpPr>
        <p:spPr>
          <a:xfrm>
            <a:off x="0" y="6748272"/>
            <a:ext cx="12191695" cy="109728"/>
          </a:xfrm>
          <a:prstGeom prst="rect">
            <a:avLst/>
          </a:prstGeom>
          <a:solidFill>
            <a:srgbClr val="2EE6E6">
              <a:alpha val="70000"/>
            </a:srgbClr>
          </a:solidFill>
          <a:ln w="12700">
            <a:solidFill>
              <a:srgbClr val="2EE6E6">
                <a:alpha val="0"/>
              </a:srgbClr>
            </a:solidFill>
            <a:prstDash val="solid"/>
          </a:ln>
        </p:spPr>
      </p:sp>
      <p:sp>
        <p:nvSpPr>
          <p:cNvPr id="4" name="Text 2"/>
          <p:cNvSpPr/>
          <p:nvPr/>
        </p:nvSpPr>
        <p:spPr>
          <a:xfrm>
            <a:off x="502920" y="320040"/>
            <a:ext cx="8778240" cy="420624"/>
          </a:xfrm>
          <a:prstGeom prst="rect">
            <a:avLst/>
          </a:prstGeom>
          <a:noFill/>
          <a:ln/>
        </p:spPr>
        <p:txBody>
          <a:bodyPr wrap="square" lIns="254" tIns="254" rIns="254" bIns="254" rtlCol="0" anchor="ctr">
            <a:normAutofit/>
          </a:bodyPr>
          <a:lstStyle/>
          <a:p>
            <a:pPr marL="0" indent="0">
              <a:buNone/>
            </a:pPr>
            <a:r>
              <a:rPr lang="en-US" sz="2500" b="1" dirty="0">
                <a:solidFill>
                  <a:srgbClr val="F6FAFF"/>
                </a:solidFill>
                <a:latin typeface="Aptos Display" pitchFamily="34" charset="0"/>
                <a:ea typeface="Aptos Display" pitchFamily="34" charset="-122"/>
                <a:cs typeface="Aptos Display" pitchFamily="34" charset="-120"/>
              </a:rPr>
              <a:t>Quy trình sửa và xóa thông tin</a:t>
            </a:r>
            <a:endParaRPr lang="en-US" sz="2500" dirty="0"/>
          </a:p>
        </p:txBody>
      </p:sp>
      <p:sp>
        <p:nvSpPr>
          <p:cNvPr id="5" name="Text 3"/>
          <p:cNvSpPr/>
          <p:nvPr/>
        </p:nvSpPr>
        <p:spPr>
          <a:xfrm>
            <a:off x="530352" y="795528"/>
            <a:ext cx="8046720" cy="219456"/>
          </a:xfrm>
          <a:prstGeom prst="rect">
            <a:avLst/>
          </a:prstGeom>
          <a:noFill/>
          <a:ln/>
        </p:spPr>
        <p:txBody>
          <a:bodyPr wrap="square" lIns="127" tIns="127" rIns="127" bIns="127" rtlCol="0" anchor="ctr">
            <a:normAutofit/>
          </a:bodyPr>
          <a:lstStyle/>
          <a:p>
            <a:pPr marL="0" indent="0">
              <a:buNone/>
            </a:pPr>
            <a:r>
              <a:rPr lang="en-US" sz="950" dirty="0">
                <a:solidFill>
                  <a:srgbClr val="B8C7D9"/>
                </a:solidFill>
              </a:rPr>
              <a:t>Mọi thay đổi dữ liệu nhạy cảm đều phải kiểm tra quyền, mã hóa lại và ghi log.</a:t>
            </a:r>
            <a:endParaRPr lang="en-US" sz="950" dirty="0"/>
          </a:p>
        </p:txBody>
      </p:sp>
      <p:sp>
        <p:nvSpPr>
          <p:cNvPr id="6" name="Text 4"/>
          <p:cNvSpPr/>
          <p:nvPr/>
        </p:nvSpPr>
        <p:spPr>
          <a:xfrm>
            <a:off x="502920" y="6528816"/>
            <a:ext cx="6583680" cy="164592"/>
          </a:xfrm>
          <a:prstGeom prst="rect">
            <a:avLst/>
          </a:prstGeom>
          <a:noFill/>
          <a:ln/>
        </p:spPr>
        <p:txBody>
          <a:bodyPr wrap="square" lIns="0" tIns="0" rIns="0" bIns="0" rtlCol="0" anchor="ctr">
            <a:normAutofit/>
          </a:bodyPr>
          <a:lstStyle/>
          <a:p>
            <a:pPr marL="0" indent="0">
              <a:buNone/>
            </a:pPr>
            <a:r>
              <a:rPr lang="en-US" sz="750" dirty="0">
                <a:solidFill>
                  <a:srgbClr val="B8C7D9"/>
                </a:solidFill>
              </a:rPr>
              <a:t>Đề tài 22 · Triple DES &amp; AES · 17</a:t>
            </a:r>
            <a:endParaRPr lang="en-US" sz="750" dirty="0"/>
          </a:p>
        </p:txBody>
      </p:sp>
      <p:sp>
        <p:nvSpPr>
          <p:cNvPr id="7" name="Text 5"/>
          <p:cNvSpPr/>
          <p:nvPr/>
        </p:nvSpPr>
        <p:spPr>
          <a:xfrm>
            <a:off x="731520" y="1234440"/>
            <a:ext cx="5303520" cy="4114800"/>
          </a:xfrm>
          <a:prstGeom prst="rect">
            <a:avLst/>
          </a:prstGeom>
          <a:solidFill>
            <a:srgbClr val="102B46"/>
          </a:solidFill>
          <a:ln>
            <a:solidFill>
              <a:srgbClr val="2A6F9A">
                <a:alpha val="75000"/>
              </a:srgbClr>
            </a:solidFill>
          </a:ln>
        </p:spPr>
        <p:txBody>
          <a:bodyPr wrap="square" lIns="1905" tIns="1905" rIns="1905" bIns="1905" rtlCol="0" anchor="ctr">
            <a:normAutofit/>
          </a:bodyPr>
          <a:lstStyle/>
          <a:p>
            <a:pPr marL="0" indent="0">
              <a:buNone/>
            </a:pPr>
            <a:r>
              <a:rPr lang="en-US" sz="2400" b="1" dirty="0">
                <a:solidFill>
                  <a:srgbClr val="2EE6E6"/>
                </a:solidFill>
                <a:latin typeface="Aptos" pitchFamily="34" charset="0"/>
                <a:ea typeface="Aptos" pitchFamily="34" charset="-122"/>
                <a:cs typeface="Aptos" pitchFamily="34" charset="-120"/>
              </a:rPr>
              <a:t>Khi người dùng sửa thông tin
</a:t>
            </a:r>
            <a:r>
              <a:rPr lang="en-US" sz="2400" dirty="0">
                <a:solidFill>
                  <a:srgbClr val="B8C7D9"/>
                </a:solidFill>
                <a:latin typeface="Aptos" pitchFamily="34" charset="0"/>
                <a:ea typeface="Aptos" pitchFamily="34" charset="-122"/>
                <a:cs typeface="Aptos" pitchFamily="34" charset="-120"/>
              </a:rPr>
              <a:t>1. Đăng nhập hợp lệ</a:t>
            </a:r>
            <a:endParaRPr lang="en-US" sz="2400" dirty="0"/>
          </a:p>
          <a:p>
            <a:pPr marL="0" indent="0">
              <a:buNone/>
            </a:pPr>
            <a:r>
              <a:rPr lang="en-US" sz="2400" dirty="0">
                <a:solidFill>
                  <a:srgbClr val="B8C7D9"/>
                </a:solidFill>
                <a:latin typeface="Aptos" pitchFamily="34" charset="0"/>
                <a:ea typeface="Aptos" pitchFamily="34" charset="-122"/>
                <a:cs typeface="Aptos" pitchFamily="34" charset="-120"/>
              </a:rPr>
              <a:t>2. Chọn sửa thông tin cá nhân</a:t>
            </a:r>
            <a:endParaRPr lang="en-US" sz="2400" dirty="0"/>
          </a:p>
          <a:p>
            <a:pPr marL="0" indent="0">
              <a:buNone/>
            </a:pPr>
            <a:r>
              <a:rPr lang="en-US" sz="2400" dirty="0">
                <a:solidFill>
                  <a:srgbClr val="B8C7D9"/>
                </a:solidFill>
                <a:latin typeface="Aptos" pitchFamily="34" charset="0"/>
                <a:ea typeface="Aptos" pitchFamily="34" charset="-122"/>
                <a:cs typeface="Aptos" pitchFamily="34" charset="-120"/>
              </a:rPr>
              <a:t>3. Nhập dữ liệu mới</a:t>
            </a:r>
            <a:endParaRPr lang="en-US" sz="2400" dirty="0"/>
          </a:p>
          <a:p>
            <a:pPr marL="0" indent="0">
              <a:buNone/>
            </a:pPr>
            <a:r>
              <a:rPr lang="en-US" sz="2400" dirty="0">
                <a:solidFill>
                  <a:srgbClr val="B8C7D9"/>
                </a:solidFill>
                <a:latin typeface="Aptos" pitchFamily="34" charset="0"/>
                <a:ea typeface="Aptos" pitchFamily="34" charset="-122"/>
                <a:cs typeface="Aptos" pitchFamily="34" charset="-120"/>
              </a:rPr>
              <a:t>4. Hệ thống mã hóa lại dữ liệu mới</a:t>
            </a:r>
            <a:endParaRPr lang="en-US" sz="2400" dirty="0"/>
          </a:p>
          <a:p>
            <a:pPr marL="0" indent="0">
              <a:buNone/>
            </a:pPr>
            <a:r>
              <a:rPr lang="en-US" sz="2400" dirty="0">
                <a:solidFill>
                  <a:srgbClr val="B8C7D9"/>
                </a:solidFill>
                <a:latin typeface="Aptos" pitchFamily="34" charset="0"/>
                <a:ea typeface="Aptos" pitchFamily="34" charset="-122"/>
                <a:cs typeface="Aptos" pitchFamily="34" charset="-120"/>
              </a:rPr>
              <a:t>5. Cập nhật database</a:t>
            </a:r>
            <a:endParaRPr lang="en-US" sz="2400" dirty="0"/>
          </a:p>
          <a:p>
            <a:pPr marL="0" indent="0">
              <a:buNone/>
            </a:pPr>
            <a:r>
              <a:rPr lang="en-US" sz="2400" dirty="0">
                <a:solidFill>
                  <a:srgbClr val="B8C7D9"/>
                </a:solidFill>
                <a:latin typeface="Aptos" pitchFamily="34" charset="0"/>
                <a:ea typeface="Aptos" pitchFamily="34" charset="-122"/>
                <a:cs typeface="Aptos" pitchFamily="34" charset="-120"/>
              </a:rPr>
              <a:t>6. Ghi log hành động sửa</a:t>
            </a:r>
            <a:endParaRPr lang="en-US" sz="2400" dirty="0"/>
          </a:p>
        </p:txBody>
      </p:sp>
      <p:sp>
        <p:nvSpPr>
          <p:cNvPr id="8" name="Text 6"/>
          <p:cNvSpPr/>
          <p:nvPr/>
        </p:nvSpPr>
        <p:spPr>
          <a:xfrm>
            <a:off x="6355080" y="1234440"/>
            <a:ext cx="5120640" cy="4114800"/>
          </a:xfrm>
          <a:prstGeom prst="rect">
            <a:avLst/>
          </a:prstGeom>
          <a:solidFill>
            <a:srgbClr val="102B46"/>
          </a:solidFill>
          <a:ln>
            <a:solidFill>
              <a:srgbClr val="2A6F9A">
                <a:alpha val="75000"/>
              </a:srgbClr>
            </a:solidFill>
          </a:ln>
        </p:spPr>
        <p:txBody>
          <a:bodyPr wrap="square" lIns="1905" tIns="1905" rIns="1905" bIns="1905" rtlCol="0" anchor="ctr">
            <a:normAutofit/>
          </a:bodyPr>
          <a:lstStyle/>
          <a:p>
            <a:pPr marL="0" indent="0">
              <a:buNone/>
            </a:pPr>
            <a:r>
              <a:rPr lang="en-US" sz="2400" b="1" dirty="0">
                <a:solidFill>
                  <a:srgbClr val="FFB347"/>
                </a:solidFill>
                <a:latin typeface="Aptos" pitchFamily="34" charset="0"/>
                <a:ea typeface="Aptos" pitchFamily="34" charset="-122"/>
                <a:cs typeface="Aptos" pitchFamily="34" charset="-120"/>
              </a:rPr>
              <a:t>Khi người dùng xóa thông tin
</a:t>
            </a:r>
            <a:r>
              <a:rPr lang="en-US" sz="2400" dirty="0">
                <a:solidFill>
                  <a:srgbClr val="B8C7D9"/>
                </a:solidFill>
                <a:latin typeface="Aptos" pitchFamily="34" charset="0"/>
                <a:ea typeface="Aptos" pitchFamily="34" charset="-122"/>
                <a:cs typeface="Aptos" pitchFamily="34" charset="-120"/>
              </a:rPr>
              <a:t>1. Người dùng xác nhận xóa</a:t>
            </a:r>
            <a:endParaRPr lang="en-US" sz="2400" dirty="0"/>
          </a:p>
          <a:p>
            <a:pPr marL="0" indent="0">
              <a:buNone/>
            </a:pPr>
            <a:r>
              <a:rPr lang="en-US" sz="2400" dirty="0">
                <a:solidFill>
                  <a:srgbClr val="B8C7D9"/>
                </a:solidFill>
                <a:latin typeface="Aptos" pitchFamily="34" charset="0"/>
                <a:ea typeface="Aptos" pitchFamily="34" charset="-122"/>
                <a:cs typeface="Aptos" pitchFamily="34" charset="-120"/>
              </a:rPr>
              <a:t>2. Hệ thống kiểm tra quyền</a:t>
            </a:r>
            <a:endParaRPr lang="en-US" sz="2400" dirty="0"/>
          </a:p>
          <a:p>
            <a:pPr marL="0" indent="0">
              <a:buNone/>
            </a:pPr>
            <a:r>
              <a:rPr lang="en-US" sz="2400" dirty="0">
                <a:solidFill>
                  <a:srgbClr val="B8C7D9"/>
                </a:solidFill>
                <a:latin typeface="Aptos" pitchFamily="34" charset="0"/>
                <a:ea typeface="Aptos" pitchFamily="34" charset="-122"/>
                <a:cs typeface="Aptos" pitchFamily="34" charset="-120"/>
              </a:rPr>
              <a:t>3. Xóa hoặc đánh dấu đã xóa</a:t>
            </a:r>
            <a:endParaRPr lang="en-US" sz="2400" dirty="0"/>
          </a:p>
          <a:p>
            <a:pPr marL="0" indent="0">
              <a:buNone/>
            </a:pPr>
            <a:r>
              <a:rPr lang="en-US" sz="2400" dirty="0">
                <a:solidFill>
                  <a:srgbClr val="B8C7D9"/>
                </a:solidFill>
                <a:latin typeface="Aptos" pitchFamily="34" charset="0"/>
                <a:ea typeface="Aptos" pitchFamily="34" charset="-122"/>
                <a:cs typeface="Aptos" pitchFamily="34" charset="-120"/>
              </a:rPr>
              <a:t>4. Ghi log hành động xóa</a:t>
            </a:r>
            <a:endParaRPr lang="en-US" sz="2400" dirty="0"/>
          </a:p>
          <a:p>
            <a:pPr marL="0" indent="0">
              <a:buNone/>
            </a:pPr>
            <a:r>
              <a:rPr lang="en-US" sz="2400" dirty="0">
                <a:solidFill>
                  <a:srgbClr val="B8C7D9"/>
                </a:solidFill>
                <a:latin typeface="Aptos" pitchFamily="34" charset="0"/>
                <a:ea typeface="Aptos" pitchFamily="34" charset="-122"/>
                <a:cs typeface="Aptos" pitchFamily="34" charset="-120"/>
              </a:rPr>
              <a:t>5. Không cho truy cập lại dữ liệu đã xóa</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071626"/>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2EE6E6">
              <a:alpha val="90000"/>
            </a:srgbClr>
          </a:solidFill>
          <a:ln w="12700">
            <a:solidFill>
              <a:srgbClr val="2EE6E6">
                <a:alpha val="0"/>
              </a:srgbClr>
            </a:solidFill>
            <a:prstDash val="solid"/>
          </a:ln>
        </p:spPr>
      </p:sp>
      <p:sp>
        <p:nvSpPr>
          <p:cNvPr id="3" name="Shape 1"/>
          <p:cNvSpPr/>
          <p:nvPr/>
        </p:nvSpPr>
        <p:spPr>
          <a:xfrm>
            <a:off x="0" y="6748272"/>
            <a:ext cx="12191695" cy="109728"/>
          </a:xfrm>
          <a:prstGeom prst="rect">
            <a:avLst/>
          </a:prstGeom>
          <a:solidFill>
            <a:srgbClr val="2EE6E6">
              <a:alpha val="70000"/>
            </a:srgbClr>
          </a:solidFill>
          <a:ln w="12700">
            <a:solidFill>
              <a:srgbClr val="2EE6E6">
                <a:alpha val="0"/>
              </a:srgbClr>
            </a:solidFill>
            <a:prstDash val="solid"/>
          </a:ln>
        </p:spPr>
      </p:sp>
      <p:sp>
        <p:nvSpPr>
          <p:cNvPr id="4" name="Text 2"/>
          <p:cNvSpPr/>
          <p:nvPr/>
        </p:nvSpPr>
        <p:spPr>
          <a:xfrm>
            <a:off x="502920" y="320040"/>
            <a:ext cx="8778240" cy="420624"/>
          </a:xfrm>
          <a:prstGeom prst="rect">
            <a:avLst/>
          </a:prstGeom>
          <a:noFill/>
          <a:ln/>
        </p:spPr>
        <p:txBody>
          <a:bodyPr wrap="square" lIns="254" tIns="254" rIns="254" bIns="254" rtlCol="0" anchor="ctr">
            <a:normAutofit/>
          </a:bodyPr>
          <a:lstStyle/>
          <a:p>
            <a:pPr marL="0" indent="0">
              <a:buNone/>
            </a:pPr>
            <a:r>
              <a:rPr lang="en-US" sz="2500" b="1" dirty="0">
                <a:solidFill>
                  <a:srgbClr val="F6FAFF"/>
                </a:solidFill>
                <a:latin typeface="Aptos Display" pitchFamily="34" charset="0"/>
                <a:ea typeface="Aptos Display" pitchFamily="34" charset="-122"/>
                <a:cs typeface="Aptos Display" pitchFamily="34" charset="-120"/>
              </a:rPr>
              <a:t>Quản lý khóa mã hóa</a:t>
            </a:r>
            <a:endParaRPr lang="en-US" sz="2500" dirty="0"/>
          </a:p>
        </p:txBody>
      </p:sp>
      <p:sp>
        <p:nvSpPr>
          <p:cNvPr id="5" name="Text 3"/>
          <p:cNvSpPr/>
          <p:nvPr/>
        </p:nvSpPr>
        <p:spPr>
          <a:xfrm>
            <a:off x="530352" y="795528"/>
            <a:ext cx="8046720" cy="219456"/>
          </a:xfrm>
          <a:prstGeom prst="rect">
            <a:avLst/>
          </a:prstGeom>
          <a:noFill/>
          <a:ln/>
        </p:spPr>
        <p:txBody>
          <a:bodyPr wrap="square" lIns="127" tIns="127" rIns="127" bIns="127" rtlCol="0" anchor="ctr">
            <a:normAutofit/>
          </a:bodyPr>
          <a:lstStyle/>
          <a:p>
            <a:pPr marL="0" indent="0">
              <a:buNone/>
            </a:pPr>
            <a:r>
              <a:rPr lang="en-US" sz="950" dirty="0">
                <a:solidFill>
                  <a:srgbClr val="B8C7D9"/>
                </a:solidFill>
              </a:rPr>
              <a:t>Dữ liệu chỉ an toàn khi khóa được bảo vệ tốt.</a:t>
            </a:r>
            <a:endParaRPr lang="en-US" sz="950" dirty="0"/>
          </a:p>
        </p:txBody>
      </p:sp>
      <p:sp>
        <p:nvSpPr>
          <p:cNvPr id="6" name="Text 4"/>
          <p:cNvSpPr/>
          <p:nvPr/>
        </p:nvSpPr>
        <p:spPr>
          <a:xfrm>
            <a:off x="502920" y="6528816"/>
            <a:ext cx="6583680" cy="164592"/>
          </a:xfrm>
          <a:prstGeom prst="rect">
            <a:avLst/>
          </a:prstGeom>
          <a:noFill/>
          <a:ln/>
        </p:spPr>
        <p:txBody>
          <a:bodyPr wrap="square" lIns="0" tIns="0" rIns="0" bIns="0" rtlCol="0" anchor="ctr">
            <a:normAutofit/>
          </a:bodyPr>
          <a:lstStyle/>
          <a:p>
            <a:pPr marL="0" indent="0">
              <a:buNone/>
            </a:pPr>
            <a:r>
              <a:rPr lang="en-US" sz="750" dirty="0">
                <a:solidFill>
                  <a:srgbClr val="B8C7D9"/>
                </a:solidFill>
              </a:rPr>
              <a:t>Đề tài 22 · Triple DES &amp; AES · 18</a:t>
            </a:r>
            <a:endParaRPr lang="en-US" sz="750" dirty="0"/>
          </a:p>
        </p:txBody>
      </p:sp>
      <p:sp>
        <p:nvSpPr>
          <p:cNvPr id="7" name="Text 5"/>
          <p:cNvSpPr/>
          <p:nvPr/>
        </p:nvSpPr>
        <p:spPr>
          <a:xfrm>
            <a:off x="777240" y="1234440"/>
            <a:ext cx="3474720" cy="1280160"/>
          </a:xfrm>
          <a:prstGeom prst="rect">
            <a:avLst/>
          </a:prstGeom>
          <a:solidFill>
            <a:srgbClr val="102B46"/>
          </a:solidFill>
          <a:ln>
            <a:solidFill>
              <a:srgbClr val="2A6F9A">
                <a:alpha val="75000"/>
              </a:srgbClr>
            </a:solidFill>
          </a:ln>
        </p:spPr>
        <p:txBody>
          <a:bodyPr wrap="square" lIns="1905" tIns="1905" rIns="1905" bIns="1905" rtlCol="0" anchor="ctr">
            <a:normAutofit/>
          </a:bodyPr>
          <a:lstStyle/>
          <a:p>
            <a:pPr marL="0" indent="0">
              <a:buNone/>
            </a:pPr>
            <a:r>
              <a:rPr lang="en-US" sz="1600" b="1" dirty="0">
                <a:solidFill>
                  <a:srgbClr val="FFB347"/>
                </a:solidFill>
                <a:latin typeface="Aptos" pitchFamily="34" charset="0"/>
                <a:ea typeface="Aptos" pitchFamily="34" charset="-122"/>
                <a:cs typeface="Aptos" pitchFamily="34" charset="-120"/>
              </a:rPr>
              <a:t>key1
</a:t>
            </a:r>
            <a:r>
              <a:rPr lang="en-US" sz="1300" dirty="0">
                <a:solidFill>
                  <a:srgbClr val="B8C7D9"/>
                </a:solidFill>
                <a:latin typeface="Aptos" pitchFamily="34" charset="0"/>
                <a:ea typeface="Aptos" pitchFamily="34" charset="-122"/>
                <a:cs typeface="Aptos" pitchFamily="34" charset="-120"/>
              </a:rPr>
              <a:t>Dùng cho Triple DES</a:t>
            </a:r>
            <a:endParaRPr lang="en-US" sz="1600" dirty="0"/>
          </a:p>
          <a:p>
            <a:pPr marL="0" indent="0">
              <a:buNone/>
            </a:pPr>
            <a:r>
              <a:rPr lang="en-US" sz="1300" dirty="0">
                <a:solidFill>
                  <a:srgbClr val="B8C7D9"/>
                </a:solidFill>
                <a:latin typeface="Aptos" pitchFamily="34" charset="0"/>
                <a:ea typeface="Aptos" pitchFamily="34" charset="-122"/>
                <a:cs typeface="Aptos" pitchFamily="34" charset="-120"/>
              </a:rPr>
              <a:t>Mã hóa CCCD/CMND</a:t>
            </a:r>
            <a:endParaRPr lang="en-US" sz="1600" dirty="0"/>
          </a:p>
        </p:txBody>
      </p:sp>
      <p:sp>
        <p:nvSpPr>
          <p:cNvPr id="8" name="Text 6"/>
          <p:cNvSpPr/>
          <p:nvPr/>
        </p:nvSpPr>
        <p:spPr>
          <a:xfrm>
            <a:off x="4526280" y="1234440"/>
            <a:ext cx="3474720" cy="1280160"/>
          </a:xfrm>
          <a:prstGeom prst="rect">
            <a:avLst/>
          </a:prstGeom>
          <a:solidFill>
            <a:srgbClr val="102B46"/>
          </a:solidFill>
          <a:ln>
            <a:solidFill>
              <a:srgbClr val="2A6F9A">
                <a:alpha val="75000"/>
              </a:srgbClr>
            </a:solidFill>
          </a:ln>
        </p:spPr>
        <p:txBody>
          <a:bodyPr wrap="square" lIns="1905" tIns="1905" rIns="1905" bIns="1905" rtlCol="0" anchor="ctr">
            <a:normAutofit/>
          </a:bodyPr>
          <a:lstStyle/>
          <a:p>
            <a:pPr marL="0" indent="0">
              <a:buNone/>
            </a:pPr>
            <a:r>
              <a:rPr lang="en-US" sz="1600" b="1" dirty="0">
                <a:solidFill>
                  <a:srgbClr val="2EE6E6"/>
                </a:solidFill>
                <a:latin typeface="Aptos" pitchFamily="34" charset="0"/>
                <a:ea typeface="Aptos" pitchFamily="34" charset="-122"/>
                <a:cs typeface="Aptos" pitchFamily="34" charset="-120"/>
              </a:rPr>
              <a:t>key2
</a:t>
            </a:r>
            <a:r>
              <a:rPr lang="en-US" sz="1300" dirty="0">
                <a:solidFill>
                  <a:srgbClr val="B8C7D9"/>
                </a:solidFill>
                <a:latin typeface="Aptos" pitchFamily="34" charset="0"/>
                <a:ea typeface="Aptos" pitchFamily="34" charset="-122"/>
                <a:cs typeface="Aptos" pitchFamily="34" charset="-120"/>
              </a:rPr>
              <a:t>Dùng cho AES-256</a:t>
            </a:r>
            <a:endParaRPr lang="en-US" sz="1600" dirty="0"/>
          </a:p>
          <a:p>
            <a:pPr marL="0" indent="0">
              <a:buNone/>
            </a:pPr>
            <a:r>
              <a:rPr lang="en-US" sz="1300" dirty="0">
                <a:solidFill>
                  <a:srgbClr val="B8C7D9"/>
                </a:solidFill>
                <a:latin typeface="Aptos" pitchFamily="34" charset="0"/>
                <a:ea typeface="Aptos" pitchFamily="34" charset="-122"/>
                <a:cs typeface="Aptos" pitchFamily="34" charset="-120"/>
              </a:rPr>
              <a:t>Mã hóa BHXH, STK, địa chỉ</a:t>
            </a:r>
            <a:endParaRPr lang="en-US" sz="1600" dirty="0"/>
          </a:p>
        </p:txBody>
      </p:sp>
      <p:sp>
        <p:nvSpPr>
          <p:cNvPr id="9" name="Text 7"/>
          <p:cNvSpPr/>
          <p:nvPr/>
        </p:nvSpPr>
        <p:spPr>
          <a:xfrm>
            <a:off x="8275320" y="1234440"/>
            <a:ext cx="3154680" cy="1280160"/>
          </a:xfrm>
          <a:prstGeom prst="rect">
            <a:avLst/>
          </a:prstGeom>
          <a:solidFill>
            <a:srgbClr val="102B46"/>
          </a:solidFill>
          <a:ln>
            <a:solidFill>
              <a:srgbClr val="2A6F9A">
                <a:alpha val="75000"/>
              </a:srgbClr>
            </a:solidFill>
          </a:ln>
        </p:spPr>
        <p:txBody>
          <a:bodyPr wrap="square" lIns="1905" tIns="1905" rIns="1905" bIns="1905" rtlCol="0" anchor="ctr">
            <a:normAutofit/>
          </a:bodyPr>
          <a:lstStyle/>
          <a:p>
            <a:pPr marL="0" indent="0">
              <a:buNone/>
            </a:pPr>
            <a:r>
              <a:rPr lang="en-US" sz="1600" b="1" dirty="0">
                <a:solidFill>
                  <a:srgbClr val="63D471"/>
                </a:solidFill>
                <a:latin typeface="Aptos" pitchFamily="34" charset="0"/>
                <a:ea typeface="Aptos" pitchFamily="34" charset="-122"/>
                <a:cs typeface="Aptos" pitchFamily="34" charset="-120"/>
              </a:rPr>
              <a:t>Server
</a:t>
            </a:r>
            <a:r>
              <a:rPr lang="en-US" sz="1300" dirty="0">
                <a:solidFill>
                  <a:srgbClr val="B8C7D9"/>
                </a:solidFill>
                <a:latin typeface="Aptos" pitchFamily="34" charset="0"/>
                <a:ea typeface="Aptos" pitchFamily="34" charset="-122"/>
                <a:cs typeface="Aptos" pitchFamily="34" charset="-120"/>
              </a:rPr>
              <a:t>Chỉ server được dùng khóa</a:t>
            </a:r>
            <a:endParaRPr lang="en-US" sz="1600" dirty="0"/>
          </a:p>
          <a:p>
            <a:pPr marL="0" indent="0">
              <a:buNone/>
            </a:pPr>
            <a:r>
              <a:rPr lang="en-US" sz="1300" dirty="0">
                <a:solidFill>
                  <a:srgbClr val="B8C7D9"/>
                </a:solidFill>
                <a:latin typeface="Aptos" pitchFamily="34" charset="0"/>
                <a:ea typeface="Aptos" pitchFamily="34" charset="-122"/>
                <a:cs typeface="Aptos" pitchFamily="34" charset="-120"/>
              </a:rPr>
              <a:t>Không gửi khóa cho client</a:t>
            </a:r>
            <a:endParaRPr lang="en-US" sz="1600" dirty="0"/>
          </a:p>
        </p:txBody>
      </p:sp>
      <p:sp>
        <p:nvSpPr>
          <p:cNvPr id="10" name="Text 8"/>
          <p:cNvSpPr/>
          <p:nvPr/>
        </p:nvSpPr>
        <p:spPr>
          <a:xfrm>
            <a:off x="868680" y="3200400"/>
            <a:ext cx="2011680" cy="228600"/>
          </a:xfrm>
          <a:prstGeom prst="rect">
            <a:avLst/>
          </a:prstGeom>
          <a:noFill/>
          <a:ln/>
        </p:spPr>
        <p:txBody>
          <a:bodyPr wrap="square" lIns="254" tIns="254" rIns="254" bIns="254" rtlCol="0" anchor="ctr">
            <a:normAutofit/>
          </a:bodyPr>
          <a:lstStyle/>
          <a:p>
            <a:pPr marL="0" indent="0">
              <a:buNone/>
            </a:pPr>
            <a:r>
              <a:rPr lang="en-US" sz="1400" b="1" dirty="0">
                <a:solidFill>
                  <a:srgbClr val="2EE6E6"/>
                </a:solidFill>
              </a:rPr>
              <a:t>NGUYÊN TẮC</a:t>
            </a:r>
            <a:endParaRPr lang="en-US" sz="1400" dirty="0"/>
          </a:p>
        </p:txBody>
      </p:sp>
      <p:sp>
        <p:nvSpPr>
          <p:cNvPr id="11" name="Text 9"/>
          <p:cNvSpPr/>
          <p:nvPr/>
        </p:nvSpPr>
        <p:spPr>
          <a:xfrm>
            <a:off x="960120" y="3611880"/>
            <a:ext cx="10607040" cy="1600200"/>
          </a:xfrm>
          <a:prstGeom prst="rect">
            <a:avLst/>
          </a:prstGeom>
          <a:noFill/>
          <a:ln/>
        </p:spPr>
        <p:txBody>
          <a:bodyPr wrap="square" lIns="635" tIns="635" rIns="635" bIns="635" rtlCol="0" anchor="ctr">
            <a:normAutofit/>
          </a:bodyPr>
          <a:lstStyle/>
          <a:p>
            <a:pPr marL="342900" indent="-342900">
              <a:buFont typeface="Arial" panose="020B0604020202020204" pitchFamily="34" charset="0"/>
              <a:buChar char="•"/>
            </a:pPr>
            <a:r>
              <a:rPr lang="en-US" sz="2000" dirty="0">
                <a:solidFill>
                  <a:srgbClr val="F6FAFF"/>
                </a:solidFill>
              </a:rPr>
              <a:t>Không ghi khóa trực tiếp trong code.</a:t>
            </a:r>
            <a:endParaRPr lang="en-US" sz="2000" dirty="0"/>
          </a:p>
          <a:p>
            <a:pPr marL="342900" indent="-342900">
              <a:buFont typeface="Arial" panose="020B0604020202020204" pitchFamily="34" charset="0"/>
              <a:buChar char="•"/>
            </a:pPr>
            <a:r>
              <a:rPr lang="en-US" sz="2000" dirty="0">
                <a:solidFill>
                  <a:srgbClr val="F6FAFF"/>
                </a:solidFill>
              </a:rPr>
              <a:t>Không lưu khóa chung với database.</a:t>
            </a:r>
            <a:endParaRPr lang="en-US" sz="2000" dirty="0"/>
          </a:p>
          <a:p>
            <a:pPr marL="342900" indent="-342900">
              <a:buFont typeface="Arial" panose="020B0604020202020204" pitchFamily="34" charset="0"/>
              <a:buChar char="•"/>
            </a:pPr>
            <a:r>
              <a:rPr lang="en-US" sz="2000" dirty="0">
                <a:solidFill>
                  <a:srgbClr val="F6FAFF"/>
                </a:solidFill>
              </a:rPr>
              <a:t>Lưu trong biến môi trường hoặc file cấu hình được bảo vệ.</a:t>
            </a:r>
            <a:endParaRPr lang="en-US" sz="2000" dirty="0"/>
          </a:p>
          <a:p>
            <a:pPr marL="342900" indent="-342900">
              <a:buFont typeface="Arial" panose="020B0604020202020204" pitchFamily="34" charset="0"/>
              <a:buChar char="•"/>
            </a:pPr>
            <a:r>
              <a:rPr lang="en-US" sz="2000" dirty="0">
                <a:solidFill>
                  <a:srgbClr val="F6FAFF"/>
                </a:solidFill>
              </a:rPr>
              <a:t>Phân quyền truy cập khóa.</a:t>
            </a:r>
            <a:endParaRPr lang="en-US" sz="2000" dirty="0"/>
          </a:p>
          <a:p>
            <a:pPr marL="342900" indent="-342900">
              <a:buFont typeface="Arial" panose="020B0604020202020204" pitchFamily="34" charset="0"/>
              <a:buChar char="•"/>
            </a:pPr>
            <a:r>
              <a:rPr lang="en-US" sz="2000" dirty="0">
                <a:solidFill>
                  <a:srgbClr val="F6FAFF"/>
                </a:solidFill>
              </a:rPr>
              <a:t>Có thể thay đổi khóa định kỳ trong hệ thống thực tế.</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071626"/>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2EE6E6">
              <a:alpha val="90000"/>
            </a:srgbClr>
          </a:solidFill>
          <a:ln w="12700">
            <a:solidFill>
              <a:srgbClr val="2EE6E6">
                <a:alpha val="0"/>
              </a:srgbClr>
            </a:solidFill>
            <a:prstDash val="solid"/>
          </a:ln>
        </p:spPr>
      </p:sp>
      <p:sp>
        <p:nvSpPr>
          <p:cNvPr id="3" name="Shape 1"/>
          <p:cNvSpPr/>
          <p:nvPr/>
        </p:nvSpPr>
        <p:spPr>
          <a:xfrm>
            <a:off x="0" y="6748272"/>
            <a:ext cx="12191695" cy="109728"/>
          </a:xfrm>
          <a:prstGeom prst="rect">
            <a:avLst/>
          </a:prstGeom>
          <a:solidFill>
            <a:srgbClr val="2EE6E6">
              <a:alpha val="70000"/>
            </a:srgbClr>
          </a:solidFill>
          <a:ln w="12700">
            <a:solidFill>
              <a:srgbClr val="2EE6E6">
                <a:alpha val="0"/>
              </a:srgbClr>
            </a:solidFill>
            <a:prstDash val="solid"/>
          </a:ln>
        </p:spPr>
      </p:sp>
      <p:sp>
        <p:nvSpPr>
          <p:cNvPr id="4" name="Text 2"/>
          <p:cNvSpPr/>
          <p:nvPr/>
        </p:nvSpPr>
        <p:spPr>
          <a:xfrm>
            <a:off x="502920" y="320040"/>
            <a:ext cx="8778240" cy="420624"/>
          </a:xfrm>
          <a:prstGeom prst="rect">
            <a:avLst/>
          </a:prstGeom>
          <a:noFill/>
          <a:ln/>
        </p:spPr>
        <p:txBody>
          <a:bodyPr wrap="square" lIns="254" tIns="254" rIns="254" bIns="254" rtlCol="0" anchor="ctr">
            <a:normAutofit/>
          </a:bodyPr>
          <a:lstStyle/>
          <a:p>
            <a:pPr marL="0" indent="0">
              <a:buNone/>
            </a:pPr>
            <a:r>
              <a:rPr lang="en-US" sz="2500" b="1" dirty="0">
                <a:solidFill>
                  <a:srgbClr val="F6FAFF"/>
                </a:solidFill>
                <a:latin typeface="Aptos Display" pitchFamily="34" charset="0"/>
                <a:ea typeface="Aptos Display" pitchFamily="34" charset="-122"/>
                <a:cs typeface="Aptos Display" pitchFamily="34" charset="-120"/>
              </a:rPr>
              <a:t>Chức năng quản trị viên</a:t>
            </a:r>
            <a:endParaRPr lang="en-US" sz="2500" dirty="0"/>
          </a:p>
        </p:txBody>
      </p:sp>
      <p:sp>
        <p:nvSpPr>
          <p:cNvPr id="5" name="Text 3"/>
          <p:cNvSpPr/>
          <p:nvPr/>
        </p:nvSpPr>
        <p:spPr>
          <a:xfrm>
            <a:off x="530352" y="795528"/>
            <a:ext cx="8046720" cy="219456"/>
          </a:xfrm>
          <a:prstGeom prst="rect">
            <a:avLst/>
          </a:prstGeom>
          <a:noFill/>
          <a:ln/>
        </p:spPr>
        <p:txBody>
          <a:bodyPr wrap="square" lIns="127" tIns="127" rIns="127" bIns="127" rtlCol="0" anchor="ctr">
            <a:normAutofit/>
          </a:bodyPr>
          <a:lstStyle/>
          <a:p>
            <a:pPr marL="0" indent="0">
              <a:buNone/>
            </a:pPr>
            <a:r>
              <a:rPr lang="en-US" sz="950" dirty="0">
                <a:solidFill>
                  <a:srgbClr val="B8C7D9"/>
                </a:solidFill>
              </a:rPr>
              <a:t>Admin được quản lý hệ thống nhưng không được xem dữ liệu nhạy cảm mặc định.</a:t>
            </a:r>
            <a:endParaRPr lang="en-US" sz="950" dirty="0"/>
          </a:p>
        </p:txBody>
      </p:sp>
      <p:sp>
        <p:nvSpPr>
          <p:cNvPr id="6" name="Text 4"/>
          <p:cNvSpPr/>
          <p:nvPr/>
        </p:nvSpPr>
        <p:spPr>
          <a:xfrm>
            <a:off x="502920" y="6528816"/>
            <a:ext cx="6583680" cy="164592"/>
          </a:xfrm>
          <a:prstGeom prst="rect">
            <a:avLst/>
          </a:prstGeom>
          <a:noFill/>
          <a:ln/>
        </p:spPr>
        <p:txBody>
          <a:bodyPr wrap="square" lIns="0" tIns="0" rIns="0" bIns="0" rtlCol="0" anchor="ctr">
            <a:normAutofit/>
          </a:bodyPr>
          <a:lstStyle/>
          <a:p>
            <a:pPr marL="0" indent="0">
              <a:buNone/>
            </a:pPr>
            <a:r>
              <a:rPr lang="en-US" sz="750" dirty="0">
                <a:solidFill>
                  <a:srgbClr val="B8C7D9"/>
                </a:solidFill>
              </a:rPr>
              <a:t>Đề tài 22 · Triple DES &amp; AES · 19</a:t>
            </a:r>
            <a:endParaRPr lang="en-US" sz="750" dirty="0"/>
          </a:p>
        </p:txBody>
      </p:sp>
      <p:pic>
        <p:nvPicPr>
          <p:cNvPr id="7" name="Image 0" descr="/mnt/data/a_wide_dark_themed_cybersecurity_admin_dashboar_batch_3.png"/>
          <p:cNvPicPr>
            <a:picLocks noChangeAspect="1"/>
          </p:cNvPicPr>
          <p:nvPr/>
        </p:nvPicPr>
        <p:blipFill>
          <a:blip r:embed="rId3"/>
          <a:srcRect l="8494" r="8494"/>
          <a:stretch/>
        </p:blipFill>
        <p:spPr>
          <a:xfrm>
            <a:off x="6172200" y="1234440"/>
            <a:ext cx="5394960" cy="3657600"/>
          </a:xfrm>
          <a:prstGeom prst="rect">
            <a:avLst/>
          </a:prstGeom>
        </p:spPr>
      </p:pic>
      <p:sp>
        <p:nvSpPr>
          <p:cNvPr id="8" name="Text 5"/>
          <p:cNvSpPr/>
          <p:nvPr/>
        </p:nvSpPr>
        <p:spPr>
          <a:xfrm>
            <a:off x="731520" y="1143000"/>
            <a:ext cx="4892040" cy="4389120"/>
          </a:xfrm>
          <a:prstGeom prst="rect">
            <a:avLst/>
          </a:prstGeom>
          <a:solidFill>
            <a:srgbClr val="102B46"/>
          </a:solidFill>
          <a:ln>
            <a:solidFill>
              <a:srgbClr val="2A6F9A">
                <a:alpha val="75000"/>
              </a:srgbClr>
            </a:solidFill>
          </a:ln>
        </p:spPr>
        <p:txBody>
          <a:bodyPr wrap="square" lIns="1905" tIns="1905" rIns="1905" bIns="1905" rtlCol="0" anchor="ctr">
            <a:normAutofit/>
          </a:bodyPr>
          <a:lstStyle/>
          <a:p>
            <a:pPr marL="0" indent="0">
              <a:buNone/>
            </a:pPr>
            <a:r>
              <a:rPr lang="en-US" sz="2000" b="1" dirty="0">
                <a:solidFill>
                  <a:srgbClr val="2EE6E6"/>
                </a:solidFill>
                <a:latin typeface="Aptos" pitchFamily="34" charset="0"/>
                <a:ea typeface="Aptos" pitchFamily="34" charset="-122"/>
                <a:cs typeface="Aptos" pitchFamily="34" charset="-120"/>
              </a:rPr>
              <a:t>Admin có thể
</a:t>
            </a:r>
            <a:r>
              <a:rPr lang="en-US" sz="2000" dirty="0">
                <a:solidFill>
                  <a:srgbClr val="B8C7D9"/>
                </a:solidFill>
                <a:latin typeface="Aptos" pitchFamily="34" charset="0"/>
                <a:ea typeface="Aptos" pitchFamily="34" charset="-122"/>
                <a:cs typeface="Aptos" pitchFamily="34" charset="-120"/>
              </a:rPr>
              <a:t>• Đăng nhập trang quản trị</a:t>
            </a:r>
            <a:endParaRPr lang="en-US" sz="2000" dirty="0"/>
          </a:p>
          <a:p>
            <a:pPr marL="0" indent="0">
              <a:buNone/>
            </a:pPr>
            <a:r>
              <a:rPr lang="en-US" sz="2000" dirty="0">
                <a:solidFill>
                  <a:srgbClr val="B8C7D9"/>
                </a:solidFill>
                <a:latin typeface="Aptos" pitchFamily="34" charset="0"/>
                <a:ea typeface="Aptos" pitchFamily="34" charset="-122"/>
                <a:cs typeface="Aptos" pitchFamily="34" charset="-120"/>
              </a:rPr>
              <a:t>• Xem danh sách người dùng</a:t>
            </a:r>
            <a:endParaRPr lang="en-US" sz="2000" dirty="0"/>
          </a:p>
          <a:p>
            <a:pPr marL="0" indent="0">
              <a:buNone/>
            </a:pPr>
            <a:r>
              <a:rPr lang="en-US" sz="2000" dirty="0">
                <a:solidFill>
                  <a:srgbClr val="B8C7D9"/>
                </a:solidFill>
                <a:latin typeface="Aptos" pitchFamily="34" charset="0"/>
                <a:ea typeface="Aptos" pitchFamily="34" charset="-122"/>
                <a:cs typeface="Aptos" pitchFamily="34" charset="-120"/>
              </a:rPr>
              <a:t>• Xem dữ liệu đã che hoặc đã mã hóa</a:t>
            </a:r>
            <a:endParaRPr lang="en-US" sz="2000" dirty="0"/>
          </a:p>
          <a:p>
            <a:pPr marL="0" indent="0">
              <a:buNone/>
            </a:pPr>
            <a:r>
              <a:rPr lang="en-US" sz="2000" dirty="0">
                <a:solidFill>
                  <a:srgbClr val="B8C7D9"/>
                </a:solidFill>
                <a:latin typeface="Aptos" pitchFamily="34" charset="0"/>
                <a:ea typeface="Aptos" pitchFamily="34" charset="-122"/>
                <a:cs typeface="Aptos" pitchFamily="34" charset="-120"/>
              </a:rPr>
              <a:t>• Xem chi tiết sau khi xác minh</a:t>
            </a:r>
            <a:endParaRPr lang="en-US" sz="2000" dirty="0"/>
          </a:p>
          <a:p>
            <a:pPr marL="0" indent="0">
              <a:buNone/>
            </a:pPr>
            <a:r>
              <a:rPr lang="en-US" sz="2000" dirty="0">
                <a:solidFill>
                  <a:srgbClr val="B8C7D9"/>
                </a:solidFill>
                <a:latin typeface="Aptos" pitchFamily="34" charset="0"/>
                <a:ea typeface="Aptos" pitchFamily="34" charset="-122"/>
                <a:cs typeface="Aptos" pitchFamily="34" charset="-120"/>
              </a:rPr>
              <a:t>• Theo dõi log truy cập và thay đổi dữ liệu</a:t>
            </a:r>
            <a:endParaRPr lang="en-US" sz="2000" dirty="0"/>
          </a:p>
        </p:txBody>
      </p:sp>
      <p:sp>
        <p:nvSpPr>
          <p:cNvPr id="9" name="Text 6"/>
          <p:cNvSpPr/>
          <p:nvPr/>
        </p:nvSpPr>
        <p:spPr>
          <a:xfrm>
            <a:off x="822960" y="5669280"/>
            <a:ext cx="5303520" cy="256032"/>
          </a:xfrm>
          <a:prstGeom prst="rect">
            <a:avLst/>
          </a:prstGeom>
          <a:noFill/>
          <a:ln/>
        </p:spPr>
        <p:txBody>
          <a:bodyPr wrap="square" lIns="0" tIns="0" rIns="0" bIns="0" rtlCol="0" anchor="ctr"/>
          <a:lstStyle/>
          <a:p>
            <a:pPr marL="0" indent="0">
              <a:buNone/>
            </a:pPr>
            <a:r>
              <a:rPr lang="en-US" sz="1180" dirty="0">
                <a:solidFill>
                  <a:srgbClr val="B8C7D9"/>
                </a:solidFill>
              </a:rPr>
              <a:t>Ví dụ hiển thị mặc định: 012******901 hoặc “Đã mã hóa”.</a:t>
            </a:r>
            <a:endParaRPr lang="en-US" sz="118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071626"/>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2EE6E6">
              <a:alpha val="90000"/>
            </a:srgbClr>
          </a:solidFill>
          <a:ln w="12700">
            <a:solidFill>
              <a:srgbClr val="2EE6E6">
                <a:alpha val="0"/>
              </a:srgbClr>
            </a:solidFill>
            <a:prstDash val="solid"/>
          </a:ln>
        </p:spPr>
      </p:sp>
      <p:sp>
        <p:nvSpPr>
          <p:cNvPr id="3" name="Shape 1"/>
          <p:cNvSpPr/>
          <p:nvPr/>
        </p:nvSpPr>
        <p:spPr>
          <a:xfrm>
            <a:off x="0" y="6748272"/>
            <a:ext cx="12191695" cy="109728"/>
          </a:xfrm>
          <a:prstGeom prst="rect">
            <a:avLst/>
          </a:prstGeom>
          <a:solidFill>
            <a:srgbClr val="2EE6E6">
              <a:alpha val="70000"/>
            </a:srgbClr>
          </a:solidFill>
          <a:ln w="12700">
            <a:solidFill>
              <a:srgbClr val="2EE6E6">
                <a:alpha val="0"/>
              </a:srgbClr>
            </a:solidFill>
            <a:prstDash val="solid"/>
          </a:ln>
        </p:spPr>
      </p:sp>
      <p:sp>
        <p:nvSpPr>
          <p:cNvPr id="4" name="Text 2"/>
          <p:cNvSpPr/>
          <p:nvPr/>
        </p:nvSpPr>
        <p:spPr>
          <a:xfrm>
            <a:off x="502920" y="320040"/>
            <a:ext cx="8778240" cy="420624"/>
          </a:xfrm>
          <a:prstGeom prst="rect">
            <a:avLst/>
          </a:prstGeom>
          <a:noFill/>
          <a:ln/>
        </p:spPr>
        <p:txBody>
          <a:bodyPr wrap="square" lIns="254" tIns="254" rIns="254" bIns="254" rtlCol="0" anchor="ctr">
            <a:normAutofit/>
          </a:bodyPr>
          <a:lstStyle/>
          <a:p>
            <a:pPr marL="0" indent="0">
              <a:buNone/>
            </a:pPr>
            <a:r>
              <a:rPr lang="en-US" sz="2500" b="1" dirty="0">
                <a:solidFill>
                  <a:srgbClr val="F6FAFF"/>
                </a:solidFill>
                <a:latin typeface="Aptos Display" pitchFamily="34" charset="0"/>
                <a:ea typeface="Aptos Display" pitchFamily="34" charset="-122"/>
                <a:cs typeface="Aptos Display" pitchFamily="34" charset="-120"/>
              </a:rPr>
              <a:t>Cơ chế xác minh admin khi xem dữ liệu nhạy cảm</a:t>
            </a:r>
            <a:endParaRPr lang="en-US" sz="2500" dirty="0"/>
          </a:p>
        </p:txBody>
      </p:sp>
      <p:sp>
        <p:nvSpPr>
          <p:cNvPr id="5" name="Text 3"/>
          <p:cNvSpPr/>
          <p:nvPr/>
        </p:nvSpPr>
        <p:spPr>
          <a:xfrm>
            <a:off x="530352" y="795528"/>
            <a:ext cx="8046720" cy="219456"/>
          </a:xfrm>
          <a:prstGeom prst="rect">
            <a:avLst/>
          </a:prstGeom>
          <a:noFill/>
          <a:ln/>
        </p:spPr>
        <p:txBody>
          <a:bodyPr wrap="square" lIns="127" tIns="127" rIns="127" bIns="127" rtlCol="0" anchor="ctr">
            <a:normAutofit/>
          </a:bodyPr>
          <a:lstStyle/>
          <a:p>
            <a:pPr marL="0" indent="0">
              <a:buNone/>
            </a:pPr>
            <a:r>
              <a:rPr lang="en-US" sz="950" dirty="0">
                <a:solidFill>
                  <a:srgbClr val="B8C7D9"/>
                </a:solidFill>
              </a:rPr>
              <a:t>Thêm một lớp bảo vệ trước khi giải mã dữ liệu.</a:t>
            </a:r>
            <a:endParaRPr lang="en-US" sz="950" dirty="0"/>
          </a:p>
        </p:txBody>
      </p:sp>
      <p:sp>
        <p:nvSpPr>
          <p:cNvPr id="6" name="Text 4"/>
          <p:cNvSpPr/>
          <p:nvPr/>
        </p:nvSpPr>
        <p:spPr>
          <a:xfrm>
            <a:off x="502920" y="6528816"/>
            <a:ext cx="6583680" cy="164592"/>
          </a:xfrm>
          <a:prstGeom prst="rect">
            <a:avLst/>
          </a:prstGeom>
          <a:noFill/>
          <a:ln/>
        </p:spPr>
        <p:txBody>
          <a:bodyPr wrap="square" lIns="0" tIns="0" rIns="0" bIns="0" rtlCol="0" anchor="ctr">
            <a:normAutofit/>
          </a:bodyPr>
          <a:lstStyle/>
          <a:p>
            <a:pPr marL="0" indent="0">
              <a:buNone/>
            </a:pPr>
            <a:r>
              <a:rPr lang="en-US" sz="750" dirty="0">
                <a:solidFill>
                  <a:srgbClr val="B8C7D9"/>
                </a:solidFill>
              </a:rPr>
              <a:t>Đề tài 22 · Triple DES &amp; AES · 20</a:t>
            </a:r>
            <a:endParaRPr lang="en-US" sz="750" dirty="0"/>
          </a:p>
        </p:txBody>
      </p:sp>
      <p:sp>
        <p:nvSpPr>
          <p:cNvPr id="7" name="Text 5"/>
          <p:cNvSpPr/>
          <p:nvPr/>
        </p:nvSpPr>
        <p:spPr>
          <a:xfrm>
            <a:off x="868680" y="1325880"/>
            <a:ext cx="384048" cy="329184"/>
          </a:xfrm>
          <a:prstGeom prst="rect">
            <a:avLst/>
          </a:prstGeom>
          <a:solidFill>
            <a:srgbClr val="2EE6E6"/>
          </a:solidFill>
          <a:ln>
            <a:solidFill>
              <a:srgbClr val="2EE6E6">
                <a:alpha val="0"/>
              </a:srgbClr>
            </a:solidFill>
          </a:ln>
        </p:spPr>
        <p:txBody>
          <a:bodyPr wrap="square" lIns="381" tIns="381" rIns="381" bIns="381" rtlCol="0" anchor="ctr">
            <a:normAutofit/>
          </a:bodyPr>
          <a:lstStyle/>
          <a:p>
            <a:pPr marL="0" indent="0" algn="ctr">
              <a:buNone/>
            </a:pPr>
            <a:r>
              <a:rPr lang="en-US" sz="1050" b="1" dirty="0">
                <a:solidFill>
                  <a:srgbClr val="071626"/>
                </a:solidFill>
              </a:rPr>
              <a:t>1</a:t>
            </a:r>
            <a:endParaRPr lang="en-US" sz="1050" dirty="0"/>
          </a:p>
        </p:txBody>
      </p:sp>
      <p:sp>
        <p:nvSpPr>
          <p:cNvPr id="8" name="Text 6"/>
          <p:cNvSpPr/>
          <p:nvPr/>
        </p:nvSpPr>
        <p:spPr>
          <a:xfrm>
            <a:off x="685800" y="1828800"/>
            <a:ext cx="1783080" cy="1234440"/>
          </a:xfrm>
          <a:prstGeom prst="rect">
            <a:avLst/>
          </a:prstGeom>
          <a:solidFill>
            <a:srgbClr val="102B46"/>
          </a:solidFill>
          <a:ln>
            <a:solidFill>
              <a:srgbClr val="2A6F9A">
                <a:alpha val="75000"/>
              </a:srgbClr>
            </a:solidFill>
          </a:ln>
        </p:spPr>
        <p:txBody>
          <a:bodyPr wrap="square" lIns="1905" tIns="1905" rIns="1905" bIns="1905" rtlCol="0" anchor="ctr">
            <a:normAutofit/>
          </a:bodyPr>
          <a:lstStyle/>
          <a:p>
            <a:pPr marL="0" indent="0">
              <a:buNone/>
            </a:pPr>
            <a:r>
              <a:rPr lang="en-US" sz="1150" b="1" dirty="0">
                <a:solidFill>
                  <a:srgbClr val="F6FAFF"/>
                </a:solidFill>
                <a:latin typeface="Aptos" pitchFamily="34" charset="0"/>
                <a:ea typeface="Aptos" pitchFamily="34" charset="-122"/>
                <a:cs typeface="Aptos" pitchFamily="34" charset="-120"/>
              </a:rPr>
              <a:t>Admin bấm “Xem chi tiết”
</a:t>
            </a:r>
            <a:endParaRPr lang="en-US" sz="1150" dirty="0"/>
          </a:p>
        </p:txBody>
      </p:sp>
      <p:sp>
        <p:nvSpPr>
          <p:cNvPr id="9" name="Shape 7"/>
          <p:cNvSpPr/>
          <p:nvPr/>
        </p:nvSpPr>
        <p:spPr>
          <a:xfrm>
            <a:off x="2542032" y="2468880"/>
            <a:ext cx="274320" cy="0"/>
          </a:xfrm>
          <a:prstGeom prst="line">
            <a:avLst/>
          </a:prstGeom>
          <a:noFill/>
          <a:ln w="12700">
            <a:solidFill>
              <a:srgbClr val="B8C7D9"/>
            </a:solidFill>
            <a:prstDash val="solid"/>
            <a:tailEnd type="triangle"/>
          </a:ln>
        </p:spPr>
      </p:sp>
      <p:sp>
        <p:nvSpPr>
          <p:cNvPr id="10" name="Text 8"/>
          <p:cNvSpPr/>
          <p:nvPr/>
        </p:nvSpPr>
        <p:spPr>
          <a:xfrm>
            <a:off x="3136392" y="1325880"/>
            <a:ext cx="384048" cy="329184"/>
          </a:xfrm>
          <a:prstGeom prst="rect">
            <a:avLst/>
          </a:prstGeom>
          <a:solidFill>
            <a:srgbClr val="5CC8FF"/>
          </a:solidFill>
          <a:ln>
            <a:solidFill>
              <a:srgbClr val="5CC8FF">
                <a:alpha val="0"/>
              </a:srgbClr>
            </a:solidFill>
          </a:ln>
        </p:spPr>
        <p:txBody>
          <a:bodyPr wrap="square" lIns="381" tIns="381" rIns="381" bIns="381" rtlCol="0" anchor="ctr">
            <a:normAutofit/>
          </a:bodyPr>
          <a:lstStyle/>
          <a:p>
            <a:pPr marL="0" indent="0" algn="ctr">
              <a:buNone/>
            </a:pPr>
            <a:r>
              <a:rPr lang="en-US" sz="1050" b="1" dirty="0">
                <a:solidFill>
                  <a:srgbClr val="071626"/>
                </a:solidFill>
              </a:rPr>
              <a:t>2</a:t>
            </a:r>
            <a:endParaRPr lang="en-US" sz="1050" dirty="0"/>
          </a:p>
        </p:txBody>
      </p:sp>
      <p:sp>
        <p:nvSpPr>
          <p:cNvPr id="11" name="Text 9"/>
          <p:cNvSpPr/>
          <p:nvPr/>
        </p:nvSpPr>
        <p:spPr>
          <a:xfrm>
            <a:off x="2953512" y="1828800"/>
            <a:ext cx="1783080" cy="1234440"/>
          </a:xfrm>
          <a:prstGeom prst="rect">
            <a:avLst/>
          </a:prstGeom>
          <a:solidFill>
            <a:srgbClr val="102B46"/>
          </a:solidFill>
          <a:ln>
            <a:solidFill>
              <a:srgbClr val="2A6F9A">
                <a:alpha val="75000"/>
              </a:srgbClr>
            </a:solidFill>
          </a:ln>
        </p:spPr>
        <p:txBody>
          <a:bodyPr wrap="square" lIns="1905" tIns="1905" rIns="1905" bIns="1905" rtlCol="0" anchor="ctr">
            <a:normAutofit/>
          </a:bodyPr>
          <a:lstStyle/>
          <a:p>
            <a:pPr marL="0" indent="0">
              <a:buNone/>
            </a:pPr>
            <a:r>
              <a:rPr lang="en-US" sz="1150" b="1" dirty="0">
                <a:solidFill>
                  <a:srgbClr val="F6FAFF"/>
                </a:solidFill>
                <a:latin typeface="Aptos" pitchFamily="34" charset="0"/>
                <a:ea typeface="Aptos" pitchFamily="34" charset="-122"/>
                <a:cs typeface="Aptos" pitchFamily="34" charset="-120"/>
              </a:rPr>
              <a:t>Nhập lại mật khẩu admin
</a:t>
            </a:r>
            <a:endParaRPr lang="en-US" sz="1150" dirty="0"/>
          </a:p>
        </p:txBody>
      </p:sp>
      <p:sp>
        <p:nvSpPr>
          <p:cNvPr id="12" name="Shape 10"/>
          <p:cNvSpPr/>
          <p:nvPr/>
        </p:nvSpPr>
        <p:spPr>
          <a:xfrm>
            <a:off x="4809744" y="2468880"/>
            <a:ext cx="274320" cy="0"/>
          </a:xfrm>
          <a:prstGeom prst="line">
            <a:avLst/>
          </a:prstGeom>
          <a:noFill/>
          <a:ln w="12700">
            <a:solidFill>
              <a:srgbClr val="B8C7D9"/>
            </a:solidFill>
            <a:prstDash val="solid"/>
            <a:tailEnd type="triangle"/>
          </a:ln>
        </p:spPr>
      </p:sp>
      <p:sp>
        <p:nvSpPr>
          <p:cNvPr id="13" name="Text 11"/>
          <p:cNvSpPr/>
          <p:nvPr/>
        </p:nvSpPr>
        <p:spPr>
          <a:xfrm>
            <a:off x="5404104" y="1325880"/>
            <a:ext cx="384048" cy="329184"/>
          </a:xfrm>
          <a:prstGeom prst="rect">
            <a:avLst/>
          </a:prstGeom>
          <a:solidFill>
            <a:srgbClr val="FFB347"/>
          </a:solidFill>
          <a:ln>
            <a:solidFill>
              <a:srgbClr val="FFB347">
                <a:alpha val="0"/>
              </a:srgbClr>
            </a:solidFill>
          </a:ln>
        </p:spPr>
        <p:txBody>
          <a:bodyPr wrap="square" lIns="381" tIns="381" rIns="381" bIns="381" rtlCol="0" anchor="ctr">
            <a:normAutofit/>
          </a:bodyPr>
          <a:lstStyle/>
          <a:p>
            <a:pPr marL="0" indent="0" algn="ctr">
              <a:buNone/>
            </a:pPr>
            <a:r>
              <a:rPr lang="en-US" sz="1050" b="1" dirty="0">
                <a:solidFill>
                  <a:srgbClr val="071626"/>
                </a:solidFill>
              </a:rPr>
              <a:t>3</a:t>
            </a:r>
            <a:endParaRPr lang="en-US" sz="1050" dirty="0"/>
          </a:p>
        </p:txBody>
      </p:sp>
      <p:sp>
        <p:nvSpPr>
          <p:cNvPr id="14" name="Text 12"/>
          <p:cNvSpPr/>
          <p:nvPr/>
        </p:nvSpPr>
        <p:spPr>
          <a:xfrm>
            <a:off x="5221224" y="1828800"/>
            <a:ext cx="1783080" cy="1234440"/>
          </a:xfrm>
          <a:prstGeom prst="rect">
            <a:avLst/>
          </a:prstGeom>
          <a:solidFill>
            <a:srgbClr val="102B46"/>
          </a:solidFill>
          <a:ln>
            <a:solidFill>
              <a:srgbClr val="2A6F9A">
                <a:alpha val="75000"/>
              </a:srgbClr>
            </a:solidFill>
          </a:ln>
        </p:spPr>
        <p:txBody>
          <a:bodyPr wrap="square" lIns="1905" tIns="1905" rIns="1905" bIns="1905" rtlCol="0" anchor="ctr">
            <a:normAutofit/>
          </a:bodyPr>
          <a:lstStyle/>
          <a:p>
            <a:pPr marL="0" indent="0">
              <a:buNone/>
            </a:pPr>
            <a:r>
              <a:rPr lang="en-US" sz="1150" b="1" dirty="0">
                <a:solidFill>
                  <a:srgbClr val="F6FAFF"/>
                </a:solidFill>
                <a:latin typeface="Aptos" pitchFamily="34" charset="0"/>
                <a:ea typeface="Aptos" pitchFamily="34" charset="-122"/>
                <a:cs typeface="Aptos" pitchFamily="34" charset="-120"/>
              </a:rPr>
              <a:t>Server kiểm tra mật khẩu
</a:t>
            </a:r>
            <a:endParaRPr lang="en-US" sz="1150" dirty="0"/>
          </a:p>
        </p:txBody>
      </p:sp>
      <p:sp>
        <p:nvSpPr>
          <p:cNvPr id="15" name="Shape 13"/>
          <p:cNvSpPr/>
          <p:nvPr/>
        </p:nvSpPr>
        <p:spPr>
          <a:xfrm>
            <a:off x="7077456" y="2468880"/>
            <a:ext cx="274320" cy="0"/>
          </a:xfrm>
          <a:prstGeom prst="line">
            <a:avLst/>
          </a:prstGeom>
          <a:noFill/>
          <a:ln w="12700">
            <a:solidFill>
              <a:srgbClr val="B8C7D9"/>
            </a:solidFill>
            <a:prstDash val="solid"/>
            <a:tailEnd type="triangle"/>
          </a:ln>
        </p:spPr>
      </p:sp>
      <p:sp>
        <p:nvSpPr>
          <p:cNvPr id="16" name="Text 14"/>
          <p:cNvSpPr/>
          <p:nvPr/>
        </p:nvSpPr>
        <p:spPr>
          <a:xfrm>
            <a:off x="7671816" y="1325880"/>
            <a:ext cx="384048" cy="329184"/>
          </a:xfrm>
          <a:prstGeom prst="rect">
            <a:avLst/>
          </a:prstGeom>
          <a:solidFill>
            <a:srgbClr val="63D471"/>
          </a:solidFill>
          <a:ln>
            <a:solidFill>
              <a:srgbClr val="63D471">
                <a:alpha val="0"/>
              </a:srgbClr>
            </a:solidFill>
          </a:ln>
        </p:spPr>
        <p:txBody>
          <a:bodyPr wrap="square" lIns="381" tIns="381" rIns="381" bIns="381" rtlCol="0" anchor="ctr">
            <a:normAutofit/>
          </a:bodyPr>
          <a:lstStyle/>
          <a:p>
            <a:pPr marL="0" indent="0" algn="ctr">
              <a:buNone/>
            </a:pPr>
            <a:r>
              <a:rPr lang="en-US" sz="1050" b="1" dirty="0">
                <a:solidFill>
                  <a:srgbClr val="071626"/>
                </a:solidFill>
              </a:rPr>
              <a:t>4</a:t>
            </a:r>
            <a:endParaRPr lang="en-US" sz="1050" dirty="0"/>
          </a:p>
        </p:txBody>
      </p:sp>
      <p:sp>
        <p:nvSpPr>
          <p:cNvPr id="17" name="Text 15"/>
          <p:cNvSpPr/>
          <p:nvPr/>
        </p:nvSpPr>
        <p:spPr>
          <a:xfrm>
            <a:off x="7488936" y="1828800"/>
            <a:ext cx="1783080" cy="1234440"/>
          </a:xfrm>
          <a:prstGeom prst="rect">
            <a:avLst/>
          </a:prstGeom>
          <a:solidFill>
            <a:srgbClr val="102B46"/>
          </a:solidFill>
          <a:ln>
            <a:solidFill>
              <a:srgbClr val="2A6F9A">
                <a:alpha val="75000"/>
              </a:srgbClr>
            </a:solidFill>
          </a:ln>
        </p:spPr>
        <p:txBody>
          <a:bodyPr wrap="square" lIns="1905" tIns="1905" rIns="1905" bIns="1905" rtlCol="0" anchor="ctr">
            <a:normAutofit/>
          </a:bodyPr>
          <a:lstStyle/>
          <a:p>
            <a:pPr marL="0" indent="0">
              <a:buNone/>
            </a:pPr>
            <a:r>
              <a:rPr lang="en-US" sz="1150" b="1" dirty="0">
                <a:solidFill>
                  <a:srgbClr val="F6FAFF"/>
                </a:solidFill>
                <a:latin typeface="Aptos" pitchFamily="34" charset="0"/>
                <a:ea typeface="Aptos" pitchFamily="34" charset="-122"/>
                <a:cs typeface="Aptos" pitchFamily="34" charset="-120"/>
              </a:rPr>
              <a:t>Đúng → giải mã dữ liệu
</a:t>
            </a:r>
            <a:r>
              <a:rPr lang="en-US" sz="950" dirty="0">
                <a:solidFill>
                  <a:srgbClr val="B8C7D9"/>
                </a:solidFill>
                <a:latin typeface="Aptos" pitchFamily="34" charset="0"/>
                <a:ea typeface="Aptos" pitchFamily="34" charset="-122"/>
                <a:cs typeface="Aptos" pitchFamily="34" charset="-120"/>
              </a:rPr>
              <a:t>Sai → từ chối truy cập</a:t>
            </a:r>
            <a:endParaRPr lang="en-US" sz="1150" dirty="0"/>
          </a:p>
        </p:txBody>
      </p:sp>
      <p:sp>
        <p:nvSpPr>
          <p:cNvPr id="18" name="Shape 16"/>
          <p:cNvSpPr/>
          <p:nvPr/>
        </p:nvSpPr>
        <p:spPr>
          <a:xfrm>
            <a:off x="9345168" y="2468880"/>
            <a:ext cx="274320" cy="0"/>
          </a:xfrm>
          <a:prstGeom prst="line">
            <a:avLst/>
          </a:prstGeom>
          <a:noFill/>
          <a:ln w="12700">
            <a:solidFill>
              <a:srgbClr val="B8C7D9"/>
            </a:solidFill>
            <a:prstDash val="solid"/>
            <a:tailEnd type="triangle"/>
          </a:ln>
        </p:spPr>
      </p:sp>
      <p:sp>
        <p:nvSpPr>
          <p:cNvPr id="19" name="Text 17"/>
          <p:cNvSpPr/>
          <p:nvPr/>
        </p:nvSpPr>
        <p:spPr>
          <a:xfrm>
            <a:off x="9939528" y="1325880"/>
            <a:ext cx="384048" cy="329184"/>
          </a:xfrm>
          <a:prstGeom prst="rect">
            <a:avLst/>
          </a:prstGeom>
          <a:solidFill>
            <a:srgbClr val="2EE6E6"/>
          </a:solidFill>
          <a:ln>
            <a:solidFill>
              <a:srgbClr val="2EE6E6">
                <a:alpha val="0"/>
              </a:srgbClr>
            </a:solidFill>
          </a:ln>
        </p:spPr>
        <p:txBody>
          <a:bodyPr wrap="square" lIns="381" tIns="381" rIns="381" bIns="381" rtlCol="0" anchor="ctr">
            <a:normAutofit/>
          </a:bodyPr>
          <a:lstStyle/>
          <a:p>
            <a:pPr marL="0" indent="0" algn="ctr">
              <a:buNone/>
            </a:pPr>
            <a:r>
              <a:rPr lang="en-US" sz="1050" b="1" dirty="0">
                <a:solidFill>
                  <a:srgbClr val="071626"/>
                </a:solidFill>
              </a:rPr>
              <a:t>5</a:t>
            </a:r>
            <a:endParaRPr lang="en-US" sz="1050" dirty="0"/>
          </a:p>
        </p:txBody>
      </p:sp>
      <p:sp>
        <p:nvSpPr>
          <p:cNvPr id="20" name="Text 18"/>
          <p:cNvSpPr/>
          <p:nvPr/>
        </p:nvSpPr>
        <p:spPr>
          <a:xfrm>
            <a:off x="9756648" y="1828800"/>
            <a:ext cx="1783080" cy="1234440"/>
          </a:xfrm>
          <a:prstGeom prst="rect">
            <a:avLst/>
          </a:prstGeom>
          <a:solidFill>
            <a:srgbClr val="102B46"/>
          </a:solidFill>
          <a:ln>
            <a:solidFill>
              <a:srgbClr val="2A6F9A">
                <a:alpha val="75000"/>
              </a:srgbClr>
            </a:solidFill>
          </a:ln>
        </p:spPr>
        <p:txBody>
          <a:bodyPr wrap="square" lIns="1905" tIns="1905" rIns="1905" bIns="1905" rtlCol="0" anchor="ctr">
            <a:normAutofit/>
          </a:bodyPr>
          <a:lstStyle/>
          <a:p>
            <a:pPr marL="0" indent="0">
              <a:buNone/>
            </a:pPr>
            <a:r>
              <a:rPr lang="en-US" sz="1150" b="1" dirty="0">
                <a:solidFill>
                  <a:srgbClr val="F6FAFF"/>
                </a:solidFill>
                <a:latin typeface="Aptos" pitchFamily="34" charset="0"/>
                <a:ea typeface="Aptos" pitchFamily="34" charset="-122"/>
                <a:cs typeface="Aptos" pitchFamily="34" charset="-120"/>
              </a:rPr>
              <a:t>Ghi log hành động xem
</a:t>
            </a:r>
            <a:endParaRPr lang="en-US" sz="1150" dirty="0"/>
          </a:p>
        </p:txBody>
      </p:sp>
      <p:sp>
        <p:nvSpPr>
          <p:cNvPr id="21" name="Text 19"/>
          <p:cNvSpPr/>
          <p:nvPr/>
        </p:nvSpPr>
        <p:spPr>
          <a:xfrm>
            <a:off x="1097280" y="4572000"/>
            <a:ext cx="9966960" cy="777240"/>
          </a:xfrm>
          <a:prstGeom prst="rect">
            <a:avLst/>
          </a:prstGeom>
          <a:solidFill>
            <a:srgbClr val="102B46"/>
          </a:solidFill>
          <a:ln>
            <a:solidFill>
              <a:srgbClr val="2A6F9A">
                <a:alpha val="75000"/>
              </a:srgbClr>
            </a:solidFill>
          </a:ln>
        </p:spPr>
        <p:txBody>
          <a:bodyPr wrap="square" lIns="1905" tIns="1905" rIns="1905" bIns="1905" rtlCol="0" anchor="ctr">
            <a:normAutofit/>
          </a:bodyPr>
          <a:lstStyle/>
          <a:p>
            <a:pPr marL="0" indent="0">
              <a:buNone/>
            </a:pPr>
            <a:r>
              <a:rPr lang="en-US" sz="1600" b="1" dirty="0">
                <a:solidFill>
                  <a:srgbClr val="FFB347"/>
                </a:solidFill>
                <a:latin typeface="Aptos" pitchFamily="34" charset="0"/>
                <a:ea typeface="Aptos" pitchFamily="34" charset="-122"/>
                <a:cs typeface="Aptos" pitchFamily="34" charset="-120"/>
              </a:rPr>
              <a:t>Mục đích
</a:t>
            </a:r>
            <a:r>
              <a:rPr lang="en-US" sz="1400" dirty="0">
                <a:solidFill>
                  <a:srgbClr val="B8C7D9"/>
                </a:solidFill>
                <a:latin typeface="Aptos" pitchFamily="34" charset="0"/>
                <a:ea typeface="Aptos" pitchFamily="34" charset="-122"/>
                <a:cs typeface="Aptos" pitchFamily="34" charset="-120"/>
              </a:rPr>
              <a:t>Hạn chế lạm dụng quyền admin, giảm rủi ro khi tài khoản admin bị bỏ quên và kiểm soát ai đã xem dữ liệu.</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071626"/>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2EE6E6">
              <a:alpha val="90000"/>
            </a:srgbClr>
          </a:solidFill>
          <a:ln w="12700">
            <a:solidFill>
              <a:srgbClr val="2EE6E6">
                <a:alpha val="0"/>
              </a:srgbClr>
            </a:solidFill>
            <a:prstDash val="solid"/>
          </a:ln>
        </p:spPr>
      </p:sp>
      <p:sp>
        <p:nvSpPr>
          <p:cNvPr id="3" name="Shape 1"/>
          <p:cNvSpPr/>
          <p:nvPr/>
        </p:nvSpPr>
        <p:spPr>
          <a:xfrm>
            <a:off x="0" y="6748272"/>
            <a:ext cx="12191695" cy="109728"/>
          </a:xfrm>
          <a:prstGeom prst="rect">
            <a:avLst/>
          </a:prstGeom>
          <a:solidFill>
            <a:srgbClr val="2EE6E6">
              <a:alpha val="70000"/>
            </a:srgbClr>
          </a:solidFill>
          <a:ln w="12700">
            <a:solidFill>
              <a:srgbClr val="2EE6E6">
                <a:alpha val="0"/>
              </a:srgbClr>
            </a:solidFill>
            <a:prstDash val="solid"/>
          </a:ln>
        </p:spPr>
      </p:sp>
      <p:sp>
        <p:nvSpPr>
          <p:cNvPr id="4" name="Text 2"/>
          <p:cNvSpPr/>
          <p:nvPr/>
        </p:nvSpPr>
        <p:spPr>
          <a:xfrm>
            <a:off x="502920" y="320040"/>
            <a:ext cx="8778240" cy="420624"/>
          </a:xfrm>
          <a:prstGeom prst="rect">
            <a:avLst/>
          </a:prstGeom>
          <a:noFill/>
          <a:ln/>
        </p:spPr>
        <p:txBody>
          <a:bodyPr wrap="square" lIns="254" tIns="254" rIns="254" bIns="254" rtlCol="0" anchor="ctr">
            <a:normAutofit/>
          </a:bodyPr>
          <a:lstStyle/>
          <a:p>
            <a:pPr marL="0" indent="0">
              <a:buNone/>
            </a:pPr>
            <a:r>
              <a:rPr lang="en-US" sz="2500" b="1" dirty="0">
                <a:solidFill>
                  <a:srgbClr val="F6FAFF"/>
                </a:solidFill>
                <a:latin typeface="Aptos Display" pitchFamily="34" charset="0"/>
                <a:ea typeface="Aptos Display" pitchFamily="34" charset="-122"/>
                <a:cs typeface="Aptos Display" pitchFamily="34" charset="-120"/>
              </a:rPr>
              <a:t>Ghi log truy cập và thay đổi dữ liệu</a:t>
            </a:r>
            <a:endParaRPr lang="en-US" sz="2500" dirty="0"/>
          </a:p>
        </p:txBody>
      </p:sp>
      <p:sp>
        <p:nvSpPr>
          <p:cNvPr id="5" name="Text 3"/>
          <p:cNvSpPr/>
          <p:nvPr/>
        </p:nvSpPr>
        <p:spPr>
          <a:xfrm>
            <a:off x="530352" y="795528"/>
            <a:ext cx="8046720" cy="219456"/>
          </a:xfrm>
          <a:prstGeom prst="rect">
            <a:avLst/>
          </a:prstGeom>
          <a:noFill/>
          <a:ln/>
        </p:spPr>
        <p:txBody>
          <a:bodyPr wrap="square" lIns="127" tIns="127" rIns="127" bIns="127" rtlCol="0" anchor="ctr">
            <a:normAutofit/>
          </a:bodyPr>
          <a:lstStyle/>
          <a:p>
            <a:pPr marL="0" indent="0">
              <a:buNone/>
            </a:pPr>
            <a:r>
              <a:rPr lang="en-US" sz="950" dirty="0">
                <a:solidFill>
                  <a:srgbClr val="B8C7D9"/>
                </a:solidFill>
              </a:rPr>
              <a:t>Log giúp kiểm soát, phát hiện và truy vết sự cố bảo mật.</a:t>
            </a:r>
            <a:endParaRPr lang="en-US" sz="950" dirty="0"/>
          </a:p>
        </p:txBody>
      </p:sp>
      <p:sp>
        <p:nvSpPr>
          <p:cNvPr id="6" name="Text 4"/>
          <p:cNvSpPr/>
          <p:nvPr/>
        </p:nvSpPr>
        <p:spPr>
          <a:xfrm>
            <a:off x="502920" y="6528816"/>
            <a:ext cx="6583680" cy="164592"/>
          </a:xfrm>
          <a:prstGeom prst="rect">
            <a:avLst/>
          </a:prstGeom>
          <a:noFill/>
          <a:ln/>
        </p:spPr>
        <p:txBody>
          <a:bodyPr wrap="square" lIns="0" tIns="0" rIns="0" bIns="0" rtlCol="0" anchor="ctr">
            <a:normAutofit/>
          </a:bodyPr>
          <a:lstStyle/>
          <a:p>
            <a:pPr marL="0" indent="0">
              <a:buNone/>
            </a:pPr>
            <a:r>
              <a:rPr lang="en-US" sz="750" dirty="0">
                <a:solidFill>
                  <a:srgbClr val="B8C7D9"/>
                </a:solidFill>
              </a:rPr>
              <a:t>Đề tài 22 · Triple DES &amp; AES · 21</a:t>
            </a:r>
            <a:endParaRPr lang="en-US" sz="750" dirty="0"/>
          </a:p>
        </p:txBody>
      </p:sp>
      <p:sp>
        <p:nvSpPr>
          <p:cNvPr id="7" name="Text 5"/>
          <p:cNvSpPr/>
          <p:nvPr/>
        </p:nvSpPr>
        <p:spPr>
          <a:xfrm>
            <a:off x="784098" y="1241298"/>
            <a:ext cx="2660904" cy="569214"/>
          </a:xfrm>
          <a:prstGeom prst="rect">
            <a:avLst/>
          </a:prstGeom>
          <a:solidFill>
            <a:srgbClr val="0E3354"/>
          </a:solidFill>
          <a:ln>
            <a:solidFill>
              <a:srgbClr val="315B7B">
                <a:alpha val="75000"/>
              </a:srgbClr>
            </a:solidFill>
          </a:ln>
        </p:spPr>
        <p:txBody>
          <a:bodyPr wrap="square" lIns="699" tIns="699" rIns="699" bIns="699" rtlCol="0" anchor="ctr">
            <a:normAutofit/>
          </a:bodyPr>
          <a:lstStyle/>
          <a:p>
            <a:pPr marL="0" indent="0">
              <a:buNone/>
            </a:pPr>
            <a:r>
              <a:rPr lang="en-US" sz="1120" b="1" dirty="0">
                <a:solidFill>
                  <a:srgbClr val="2EE6E6"/>
                </a:solidFill>
                <a:latin typeface="Aptos" pitchFamily="34" charset="0"/>
                <a:ea typeface="Aptos" pitchFamily="34" charset="-122"/>
                <a:cs typeface="Aptos" pitchFamily="34" charset="-120"/>
              </a:rPr>
              <a:t>Thời gian</a:t>
            </a:r>
            <a:endParaRPr lang="en-US" sz="1120" dirty="0"/>
          </a:p>
        </p:txBody>
      </p:sp>
      <p:sp>
        <p:nvSpPr>
          <p:cNvPr id="8" name="Text 6"/>
          <p:cNvSpPr/>
          <p:nvPr/>
        </p:nvSpPr>
        <p:spPr>
          <a:xfrm>
            <a:off x="3458718" y="1241298"/>
            <a:ext cx="2660904" cy="569214"/>
          </a:xfrm>
          <a:prstGeom prst="rect">
            <a:avLst/>
          </a:prstGeom>
          <a:solidFill>
            <a:srgbClr val="0E3354"/>
          </a:solidFill>
          <a:ln>
            <a:solidFill>
              <a:srgbClr val="315B7B">
                <a:alpha val="75000"/>
              </a:srgbClr>
            </a:solidFill>
          </a:ln>
        </p:spPr>
        <p:txBody>
          <a:bodyPr wrap="square" lIns="699" tIns="699" rIns="699" bIns="699" rtlCol="0" anchor="ctr">
            <a:normAutofit/>
          </a:bodyPr>
          <a:lstStyle/>
          <a:p>
            <a:pPr marL="0" indent="0">
              <a:buNone/>
            </a:pPr>
            <a:r>
              <a:rPr lang="en-US" sz="1120" b="1" dirty="0">
                <a:solidFill>
                  <a:srgbClr val="2EE6E6"/>
                </a:solidFill>
                <a:latin typeface="Aptos" pitchFamily="34" charset="0"/>
                <a:ea typeface="Aptos" pitchFamily="34" charset="-122"/>
                <a:cs typeface="Aptos" pitchFamily="34" charset="-120"/>
              </a:rPr>
              <a:t>Người thực hiện</a:t>
            </a:r>
            <a:endParaRPr lang="en-US" sz="1120" dirty="0"/>
          </a:p>
        </p:txBody>
      </p:sp>
      <p:sp>
        <p:nvSpPr>
          <p:cNvPr id="9" name="Text 7"/>
          <p:cNvSpPr/>
          <p:nvPr/>
        </p:nvSpPr>
        <p:spPr>
          <a:xfrm>
            <a:off x="6133338" y="1241298"/>
            <a:ext cx="2660904" cy="569214"/>
          </a:xfrm>
          <a:prstGeom prst="rect">
            <a:avLst/>
          </a:prstGeom>
          <a:solidFill>
            <a:srgbClr val="0E3354"/>
          </a:solidFill>
          <a:ln>
            <a:solidFill>
              <a:srgbClr val="315B7B">
                <a:alpha val="75000"/>
              </a:srgbClr>
            </a:solidFill>
          </a:ln>
        </p:spPr>
        <p:txBody>
          <a:bodyPr wrap="square" lIns="699" tIns="699" rIns="699" bIns="699" rtlCol="0" anchor="ctr">
            <a:normAutofit/>
          </a:bodyPr>
          <a:lstStyle/>
          <a:p>
            <a:pPr marL="0" indent="0">
              <a:buNone/>
            </a:pPr>
            <a:r>
              <a:rPr lang="en-US" sz="1120" b="1" dirty="0">
                <a:solidFill>
                  <a:srgbClr val="2EE6E6"/>
                </a:solidFill>
                <a:latin typeface="Aptos" pitchFamily="34" charset="0"/>
                <a:ea typeface="Aptos" pitchFamily="34" charset="-122"/>
                <a:cs typeface="Aptos" pitchFamily="34" charset="-120"/>
              </a:rPr>
              <a:t>Hành động</a:t>
            </a:r>
            <a:endParaRPr lang="en-US" sz="1120" dirty="0"/>
          </a:p>
        </p:txBody>
      </p:sp>
      <p:sp>
        <p:nvSpPr>
          <p:cNvPr id="10" name="Text 8"/>
          <p:cNvSpPr/>
          <p:nvPr/>
        </p:nvSpPr>
        <p:spPr>
          <a:xfrm>
            <a:off x="8807958" y="1241298"/>
            <a:ext cx="2660904" cy="569214"/>
          </a:xfrm>
          <a:prstGeom prst="rect">
            <a:avLst/>
          </a:prstGeom>
          <a:solidFill>
            <a:srgbClr val="0E3354"/>
          </a:solidFill>
          <a:ln>
            <a:solidFill>
              <a:srgbClr val="315B7B">
                <a:alpha val="75000"/>
              </a:srgbClr>
            </a:solidFill>
          </a:ln>
        </p:spPr>
        <p:txBody>
          <a:bodyPr wrap="square" lIns="699" tIns="699" rIns="699" bIns="699" rtlCol="0" anchor="ctr">
            <a:normAutofit/>
          </a:bodyPr>
          <a:lstStyle/>
          <a:p>
            <a:pPr marL="0" indent="0">
              <a:buNone/>
            </a:pPr>
            <a:r>
              <a:rPr lang="en-US" sz="1120" b="1" dirty="0">
                <a:solidFill>
                  <a:srgbClr val="2EE6E6"/>
                </a:solidFill>
                <a:latin typeface="Aptos" pitchFamily="34" charset="0"/>
                <a:ea typeface="Aptos" pitchFamily="34" charset="-122"/>
                <a:cs typeface="Aptos" pitchFamily="34" charset="-120"/>
              </a:rPr>
              <a:t>Chi tiết</a:t>
            </a:r>
            <a:endParaRPr lang="en-US" sz="1120" dirty="0"/>
          </a:p>
        </p:txBody>
      </p:sp>
      <p:sp>
        <p:nvSpPr>
          <p:cNvPr id="11" name="Text 9"/>
          <p:cNvSpPr/>
          <p:nvPr/>
        </p:nvSpPr>
        <p:spPr>
          <a:xfrm>
            <a:off x="784098" y="1824228"/>
            <a:ext cx="2660904" cy="569214"/>
          </a:xfrm>
          <a:prstGeom prst="rect">
            <a:avLst/>
          </a:prstGeom>
          <a:solidFill>
            <a:srgbClr val="102B46"/>
          </a:solidFill>
          <a:ln>
            <a:solidFill>
              <a:srgbClr val="315B7B">
                <a:alpha val="75000"/>
              </a:srgbClr>
            </a:solidFill>
          </a:ln>
        </p:spPr>
        <p:txBody>
          <a:bodyPr wrap="square" lIns="699" tIns="699" rIns="699" bIns="699" rtlCol="0" anchor="ctr">
            <a:normAutofit/>
          </a:bodyPr>
          <a:lstStyle/>
          <a:p>
            <a:pPr marL="0" indent="0">
              <a:buNone/>
            </a:pPr>
            <a:r>
              <a:rPr lang="en-US" sz="1120" dirty="0">
                <a:solidFill>
                  <a:srgbClr val="F6FAFF"/>
                </a:solidFill>
                <a:latin typeface="Aptos" pitchFamily="34" charset="0"/>
                <a:ea typeface="Aptos" pitchFamily="34" charset="-122"/>
                <a:cs typeface="Aptos" pitchFamily="34" charset="-120"/>
              </a:rPr>
              <a:t>29/05/2026 10:30</a:t>
            </a:r>
            <a:endParaRPr lang="en-US" sz="1120" dirty="0"/>
          </a:p>
        </p:txBody>
      </p:sp>
      <p:sp>
        <p:nvSpPr>
          <p:cNvPr id="12" name="Text 10"/>
          <p:cNvSpPr/>
          <p:nvPr/>
        </p:nvSpPr>
        <p:spPr>
          <a:xfrm>
            <a:off x="3458718" y="1824228"/>
            <a:ext cx="2660904" cy="569214"/>
          </a:xfrm>
          <a:prstGeom prst="rect">
            <a:avLst/>
          </a:prstGeom>
          <a:solidFill>
            <a:srgbClr val="102B46"/>
          </a:solidFill>
          <a:ln>
            <a:solidFill>
              <a:srgbClr val="315B7B">
                <a:alpha val="75000"/>
              </a:srgbClr>
            </a:solidFill>
          </a:ln>
        </p:spPr>
        <p:txBody>
          <a:bodyPr wrap="square" lIns="699" tIns="699" rIns="699" bIns="699" rtlCol="0" anchor="ctr">
            <a:normAutofit/>
          </a:bodyPr>
          <a:lstStyle/>
          <a:p>
            <a:pPr marL="0" indent="0">
              <a:buNone/>
            </a:pPr>
            <a:r>
              <a:rPr lang="en-US" sz="1120" dirty="0">
                <a:solidFill>
                  <a:srgbClr val="F6FAFF"/>
                </a:solidFill>
                <a:latin typeface="Aptos" pitchFamily="34" charset="0"/>
                <a:ea typeface="Aptos" pitchFamily="34" charset="-122"/>
                <a:cs typeface="Aptos" pitchFamily="34" charset="-120"/>
              </a:rPr>
              <a:t>admin01</a:t>
            </a:r>
            <a:endParaRPr lang="en-US" sz="1120" dirty="0"/>
          </a:p>
        </p:txBody>
      </p:sp>
      <p:sp>
        <p:nvSpPr>
          <p:cNvPr id="13" name="Text 11"/>
          <p:cNvSpPr/>
          <p:nvPr/>
        </p:nvSpPr>
        <p:spPr>
          <a:xfrm>
            <a:off x="6133338" y="1824228"/>
            <a:ext cx="2660904" cy="569214"/>
          </a:xfrm>
          <a:prstGeom prst="rect">
            <a:avLst/>
          </a:prstGeom>
          <a:solidFill>
            <a:srgbClr val="102B46"/>
          </a:solidFill>
          <a:ln>
            <a:solidFill>
              <a:srgbClr val="315B7B">
                <a:alpha val="75000"/>
              </a:srgbClr>
            </a:solidFill>
          </a:ln>
        </p:spPr>
        <p:txBody>
          <a:bodyPr wrap="square" lIns="699" tIns="699" rIns="699" bIns="699" rtlCol="0" anchor="ctr">
            <a:normAutofit/>
          </a:bodyPr>
          <a:lstStyle/>
          <a:p>
            <a:pPr marL="0" indent="0">
              <a:buNone/>
            </a:pPr>
            <a:r>
              <a:rPr lang="en-US" sz="1120" dirty="0">
                <a:solidFill>
                  <a:srgbClr val="F6FAFF"/>
                </a:solidFill>
                <a:latin typeface="Aptos" pitchFamily="34" charset="0"/>
                <a:ea typeface="Aptos" pitchFamily="34" charset="-122"/>
                <a:cs typeface="Aptos" pitchFamily="34" charset="-120"/>
              </a:rPr>
              <a:t>VIEW_SENSITIVE</a:t>
            </a:r>
            <a:endParaRPr lang="en-US" sz="1120" dirty="0"/>
          </a:p>
        </p:txBody>
      </p:sp>
      <p:sp>
        <p:nvSpPr>
          <p:cNvPr id="14" name="Text 12"/>
          <p:cNvSpPr/>
          <p:nvPr/>
        </p:nvSpPr>
        <p:spPr>
          <a:xfrm>
            <a:off x="8807958" y="1824228"/>
            <a:ext cx="2660904" cy="569214"/>
          </a:xfrm>
          <a:prstGeom prst="rect">
            <a:avLst/>
          </a:prstGeom>
          <a:solidFill>
            <a:srgbClr val="102B46"/>
          </a:solidFill>
          <a:ln>
            <a:solidFill>
              <a:srgbClr val="315B7B">
                <a:alpha val="75000"/>
              </a:srgbClr>
            </a:solidFill>
          </a:ln>
        </p:spPr>
        <p:txBody>
          <a:bodyPr wrap="square" lIns="699" tIns="699" rIns="699" bIns="699" rtlCol="0" anchor="ctr">
            <a:normAutofit/>
          </a:bodyPr>
          <a:lstStyle/>
          <a:p>
            <a:pPr marL="0" indent="0">
              <a:buNone/>
            </a:pPr>
            <a:r>
              <a:rPr lang="en-US" sz="1120" dirty="0">
                <a:solidFill>
                  <a:srgbClr val="F6FAFF"/>
                </a:solidFill>
                <a:latin typeface="Aptos" pitchFamily="34" charset="0"/>
                <a:ea typeface="Aptos" pitchFamily="34" charset="-122"/>
                <a:cs typeface="Aptos" pitchFamily="34" charset="-120"/>
              </a:rPr>
              <a:t>Xem CCCD user05</a:t>
            </a:r>
            <a:endParaRPr lang="en-US" sz="1120" dirty="0"/>
          </a:p>
        </p:txBody>
      </p:sp>
      <p:sp>
        <p:nvSpPr>
          <p:cNvPr id="15" name="Text 13"/>
          <p:cNvSpPr/>
          <p:nvPr/>
        </p:nvSpPr>
        <p:spPr>
          <a:xfrm>
            <a:off x="784098" y="2407158"/>
            <a:ext cx="2660904" cy="569214"/>
          </a:xfrm>
          <a:prstGeom prst="rect">
            <a:avLst/>
          </a:prstGeom>
          <a:solidFill>
            <a:srgbClr val="0E2843"/>
          </a:solidFill>
          <a:ln>
            <a:solidFill>
              <a:srgbClr val="315B7B">
                <a:alpha val="75000"/>
              </a:srgbClr>
            </a:solidFill>
          </a:ln>
        </p:spPr>
        <p:txBody>
          <a:bodyPr wrap="square" lIns="699" tIns="699" rIns="699" bIns="699" rtlCol="0" anchor="ctr">
            <a:normAutofit/>
          </a:bodyPr>
          <a:lstStyle/>
          <a:p>
            <a:pPr marL="0" indent="0">
              <a:buNone/>
            </a:pPr>
            <a:r>
              <a:rPr lang="en-US" sz="1120" dirty="0">
                <a:solidFill>
                  <a:srgbClr val="F6FAFF"/>
                </a:solidFill>
                <a:latin typeface="Aptos" pitchFamily="34" charset="0"/>
                <a:ea typeface="Aptos" pitchFamily="34" charset="-122"/>
                <a:cs typeface="Aptos" pitchFamily="34" charset="-120"/>
              </a:rPr>
              <a:t>29/05/2026 10:35</a:t>
            </a:r>
            <a:endParaRPr lang="en-US" sz="1120" dirty="0"/>
          </a:p>
        </p:txBody>
      </p:sp>
      <p:sp>
        <p:nvSpPr>
          <p:cNvPr id="16" name="Text 14"/>
          <p:cNvSpPr/>
          <p:nvPr/>
        </p:nvSpPr>
        <p:spPr>
          <a:xfrm>
            <a:off x="3458718" y="2407158"/>
            <a:ext cx="2660904" cy="569214"/>
          </a:xfrm>
          <a:prstGeom prst="rect">
            <a:avLst/>
          </a:prstGeom>
          <a:solidFill>
            <a:srgbClr val="0E2843"/>
          </a:solidFill>
          <a:ln>
            <a:solidFill>
              <a:srgbClr val="315B7B">
                <a:alpha val="75000"/>
              </a:srgbClr>
            </a:solidFill>
          </a:ln>
        </p:spPr>
        <p:txBody>
          <a:bodyPr wrap="square" lIns="699" tIns="699" rIns="699" bIns="699" rtlCol="0" anchor="ctr">
            <a:normAutofit/>
          </a:bodyPr>
          <a:lstStyle/>
          <a:p>
            <a:pPr marL="0" indent="0">
              <a:buNone/>
            </a:pPr>
            <a:r>
              <a:rPr lang="en-US" sz="1120" dirty="0">
                <a:solidFill>
                  <a:srgbClr val="F6FAFF"/>
                </a:solidFill>
                <a:latin typeface="Aptos" pitchFamily="34" charset="0"/>
                <a:ea typeface="Aptos" pitchFamily="34" charset="-122"/>
                <a:cs typeface="Aptos" pitchFamily="34" charset="-120"/>
              </a:rPr>
              <a:t>user05</a:t>
            </a:r>
            <a:endParaRPr lang="en-US" sz="1120" dirty="0"/>
          </a:p>
        </p:txBody>
      </p:sp>
      <p:sp>
        <p:nvSpPr>
          <p:cNvPr id="17" name="Text 15"/>
          <p:cNvSpPr/>
          <p:nvPr/>
        </p:nvSpPr>
        <p:spPr>
          <a:xfrm>
            <a:off x="6133338" y="2407158"/>
            <a:ext cx="2660904" cy="569214"/>
          </a:xfrm>
          <a:prstGeom prst="rect">
            <a:avLst/>
          </a:prstGeom>
          <a:solidFill>
            <a:srgbClr val="0E2843"/>
          </a:solidFill>
          <a:ln>
            <a:solidFill>
              <a:srgbClr val="315B7B">
                <a:alpha val="75000"/>
              </a:srgbClr>
            </a:solidFill>
          </a:ln>
        </p:spPr>
        <p:txBody>
          <a:bodyPr wrap="square" lIns="699" tIns="699" rIns="699" bIns="699" rtlCol="0" anchor="ctr">
            <a:normAutofit/>
          </a:bodyPr>
          <a:lstStyle/>
          <a:p>
            <a:pPr marL="0" indent="0">
              <a:buNone/>
            </a:pPr>
            <a:r>
              <a:rPr lang="en-US" sz="1120" dirty="0">
                <a:solidFill>
                  <a:srgbClr val="F6FAFF"/>
                </a:solidFill>
                <a:latin typeface="Aptos" pitchFamily="34" charset="0"/>
                <a:ea typeface="Aptos" pitchFamily="34" charset="-122"/>
                <a:cs typeface="Aptos" pitchFamily="34" charset="-120"/>
              </a:rPr>
              <a:t>UPDATE_INFO</a:t>
            </a:r>
            <a:endParaRPr lang="en-US" sz="1120" dirty="0"/>
          </a:p>
        </p:txBody>
      </p:sp>
      <p:sp>
        <p:nvSpPr>
          <p:cNvPr id="18" name="Text 16"/>
          <p:cNvSpPr/>
          <p:nvPr/>
        </p:nvSpPr>
        <p:spPr>
          <a:xfrm>
            <a:off x="8807958" y="2407158"/>
            <a:ext cx="2660904" cy="569214"/>
          </a:xfrm>
          <a:prstGeom prst="rect">
            <a:avLst/>
          </a:prstGeom>
          <a:solidFill>
            <a:srgbClr val="0E2843"/>
          </a:solidFill>
          <a:ln>
            <a:solidFill>
              <a:srgbClr val="315B7B">
                <a:alpha val="75000"/>
              </a:srgbClr>
            </a:solidFill>
          </a:ln>
        </p:spPr>
        <p:txBody>
          <a:bodyPr wrap="square" lIns="699" tIns="699" rIns="699" bIns="699" rtlCol="0" anchor="ctr">
            <a:normAutofit/>
          </a:bodyPr>
          <a:lstStyle/>
          <a:p>
            <a:pPr marL="0" indent="0">
              <a:buNone/>
            </a:pPr>
            <a:r>
              <a:rPr lang="en-US" sz="1120" dirty="0">
                <a:solidFill>
                  <a:srgbClr val="F6FAFF"/>
                </a:solidFill>
                <a:latin typeface="Aptos" pitchFamily="34" charset="0"/>
                <a:ea typeface="Aptos" pitchFamily="34" charset="-122"/>
                <a:cs typeface="Aptos" pitchFamily="34" charset="-120"/>
              </a:rPr>
              <a:t>Sửa số tài khoản</a:t>
            </a:r>
            <a:endParaRPr lang="en-US" sz="1120" dirty="0"/>
          </a:p>
        </p:txBody>
      </p:sp>
      <p:sp>
        <p:nvSpPr>
          <p:cNvPr id="19" name="Text 17"/>
          <p:cNvSpPr/>
          <p:nvPr/>
        </p:nvSpPr>
        <p:spPr>
          <a:xfrm>
            <a:off x="784098" y="2990088"/>
            <a:ext cx="2660904" cy="569214"/>
          </a:xfrm>
          <a:prstGeom prst="rect">
            <a:avLst/>
          </a:prstGeom>
          <a:solidFill>
            <a:srgbClr val="102B46"/>
          </a:solidFill>
          <a:ln>
            <a:solidFill>
              <a:srgbClr val="315B7B">
                <a:alpha val="75000"/>
              </a:srgbClr>
            </a:solidFill>
          </a:ln>
        </p:spPr>
        <p:txBody>
          <a:bodyPr wrap="square" lIns="699" tIns="699" rIns="699" bIns="699" rtlCol="0" anchor="ctr">
            <a:normAutofit/>
          </a:bodyPr>
          <a:lstStyle/>
          <a:p>
            <a:pPr marL="0" indent="0">
              <a:buNone/>
            </a:pPr>
            <a:r>
              <a:rPr lang="en-US" sz="1120" dirty="0">
                <a:solidFill>
                  <a:srgbClr val="F6FAFF"/>
                </a:solidFill>
                <a:latin typeface="Aptos" pitchFamily="34" charset="0"/>
                <a:ea typeface="Aptos" pitchFamily="34" charset="-122"/>
                <a:cs typeface="Aptos" pitchFamily="34" charset="-120"/>
              </a:rPr>
              <a:t>29/05/2026 10:40</a:t>
            </a:r>
            <a:endParaRPr lang="en-US" sz="1120" dirty="0"/>
          </a:p>
        </p:txBody>
      </p:sp>
      <p:sp>
        <p:nvSpPr>
          <p:cNvPr id="20" name="Text 18"/>
          <p:cNvSpPr/>
          <p:nvPr/>
        </p:nvSpPr>
        <p:spPr>
          <a:xfrm>
            <a:off x="3458718" y="2990088"/>
            <a:ext cx="2660904" cy="569214"/>
          </a:xfrm>
          <a:prstGeom prst="rect">
            <a:avLst/>
          </a:prstGeom>
          <a:solidFill>
            <a:srgbClr val="102B46"/>
          </a:solidFill>
          <a:ln>
            <a:solidFill>
              <a:srgbClr val="315B7B">
                <a:alpha val="75000"/>
              </a:srgbClr>
            </a:solidFill>
          </a:ln>
        </p:spPr>
        <p:txBody>
          <a:bodyPr wrap="square" lIns="699" tIns="699" rIns="699" bIns="699" rtlCol="0" anchor="ctr">
            <a:normAutofit/>
          </a:bodyPr>
          <a:lstStyle/>
          <a:p>
            <a:pPr marL="0" indent="0">
              <a:buNone/>
            </a:pPr>
            <a:r>
              <a:rPr lang="en-US" sz="1120" dirty="0">
                <a:solidFill>
                  <a:srgbClr val="F6FAFF"/>
                </a:solidFill>
                <a:latin typeface="Aptos" pitchFamily="34" charset="0"/>
                <a:ea typeface="Aptos" pitchFamily="34" charset="-122"/>
                <a:cs typeface="Aptos" pitchFamily="34" charset="-120"/>
              </a:rPr>
              <a:t>admin01</a:t>
            </a:r>
            <a:endParaRPr lang="en-US" sz="1120" dirty="0"/>
          </a:p>
        </p:txBody>
      </p:sp>
      <p:sp>
        <p:nvSpPr>
          <p:cNvPr id="21" name="Text 19"/>
          <p:cNvSpPr/>
          <p:nvPr/>
        </p:nvSpPr>
        <p:spPr>
          <a:xfrm>
            <a:off x="6133338" y="2990088"/>
            <a:ext cx="2660904" cy="569214"/>
          </a:xfrm>
          <a:prstGeom prst="rect">
            <a:avLst/>
          </a:prstGeom>
          <a:solidFill>
            <a:srgbClr val="102B46"/>
          </a:solidFill>
          <a:ln>
            <a:solidFill>
              <a:srgbClr val="315B7B">
                <a:alpha val="75000"/>
              </a:srgbClr>
            </a:solidFill>
          </a:ln>
        </p:spPr>
        <p:txBody>
          <a:bodyPr wrap="square" lIns="699" tIns="699" rIns="699" bIns="699" rtlCol="0" anchor="ctr">
            <a:normAutofit/>
          </a:bodyPr>
          <a:lstStyle/>
          <a:p>
            <a:pPr marL="0" indent="0">
              <a:buNone/>
            </a:pPr>
            <a:r>
              <a:rPr lang="en-US" sz="1120" dirty="0">
                <a:solidFill>
                  <a:srgbClr val="F6FAFF"/>
                </a:solidFill>
                <a:latin typeface="Aptos" pitchFamily="34" charset="0"/>
                <a:ea typeface="Aptos" pitchFamily="34" charset="-122"/>
                <a:cs typeface="Aptos" pitchFamily="34" charset="-120"/>
              </a:rPr>
              <a:t>DELETE_USER</a:t>
            </a:r>
            <a:endParaRPr lang="en-US" sz="1120" dirty="0"/>
          </a:p>
        </p:txBody>
      </p:sp>
      <p:sp>
        <p:nvSpPr>
          <p:cNvPr id="22" name="Text 20"/>
          <p:cNvSpPr/>
          <p:nvPr/>
        </p:nvSpPr>
        <p:spPr>
          <a:xfrm>
            <a:off x="8807958" y="2990088"/>
            <a:ext cx="2660904" cy="569214"/>
          </a:xfrm>
          <a:prstGeom prst="rect">
            <a:avLst/>
          </a:prstGeom>
          <a:solidFill>
            <a:srgbClr val="102B46"/>
          </a:solidFill>
          <a:ln>
            <a:solidFill>
              <a:srgbClr val="315B7B">
                <a:alpha val="75000"/>
              </a:srgbClr>
            </a:solidFill>
          </a:ln>
        </p:spPr>
        <p:txBody>
          <a:bodyPr wrap="square" lIns="699" tIns="699" rIns="699" bIns="699" rtlCol="0" anchor="ctr">
            <a:normAutofit/>
          </a:bodyPr>
          <a:lstStyle/>
          <a:p>
            <a:pPr marL="0" indent="0">
              <a:buNone/>
            </a:pPr>
            <a:r>
              <a:rPr lang="en-US" sz="1120" dirty="0">
                <a:solidFill>
                  <a:srgbClr val="F6FAFF"/>
                </a:solidFill>
                <a:latin typeface="Aptos" pitchFamily="34" charset="0"/>
                <a:ea typeface="Aptos" pitchFamily="34" charset="-122"/>
                <a:cs typeface="Aptos" pitchFamily="34" charset="-120"/>
              </a:rPr>
              <a:t>Xóa user07</a:t>
            </a:r>
            <a:endParaRPr lang="en-US" sz="1120" dirty="0"/>
          </a:p>
        </p:txBody>
      </p:sp>
      <p:sp>
        <p:nvSpPr>
          <p:cNvPr id="23" name="Text 21"/>
          <p:cNvSpPr/>
          <p:nvPr/>
        </p:nvSpPr>
        <p:spPr>
          <a:xfrm>
            <a:off x="914400" y="3927639"/>
            <a:ext cx="10515600" cy="1234440"/>
          </a:xfrm>
          <a:prstGeom prst="rect">
            <a:avLst/>
          </a:prstGeom>
          <a:noFill/>
          <a:ln/>
        </p:spPr>
        <p:txBody>
          <a:bodyPr wrap="square" lIns="635" tIns="635" rIns="635" bIns="635" rtlCol="0" anchor="ctr">
            <a:normAutofit/>
          </a:bodyPr>
          <a:lstStyle/>
          <a:p>
            <a:r>
              <a:rPr lang="en-US" dirty="0">
                <a:solidFill>
                  <a:srgbClr val="F6FAFF"/>
                </a:solidFill>
              </a:rPr>
              <a:t>Cần ghi: ai thực hiện, lúc nào, hành động gì, tác động đến ai, trường dữ liệu nào.</a:t>
            </a:r>
            <a:endParaRPr lang="en-US" dirty="0"/>
          </a:p>
          <a:p>
            <a:r>
              <a:rPr lang="en-US" dirty="0">
                <a:solidFill>
                  <a:srgbClr val="F6FAFF"/>
                </a:solidFill>
              </a:rPr>
              <a:t>Các sự kiện nên log: xem dữ liệu nhạy cảm, sửa/xóa thông tin, sử dụng hoặc thay đổi khóa mã hóa.</a:t>
            </a:r>
            <a:endParaRPr lang="en-US" dirty="0"/>
          </a:p>
          <a:p>
            <a:r>
              <a:rPr lang="en-US" dirty="0">
                <a:solidFill>
                  <a:srgbClr val="F6FAFF"/>
                </a:solidFill>
              </a:rPr>
              <a:t>Log giúp điều tra khi có nghi ngờ lộ dữ liệu.</a:t>
            </a:r>
            <a:endParaRPr lang="en-US" dirty="0"/>
          </a:p>
        </p:txBody>
      </p:sp>
      <p:sp>
        <p:nvSpPr>
          <p:cNvPr id="24" name="Text 22"/>
          <p:cNvSpPr/>
          <p:nvPr/>
        </p:nvSpPr>
        <p:spPr>
          <a:xfrm>
            <a:off x="914400" y="5897880"/>
            <a:ext cx="4389120" cy="201168"/>
          </a:xfrm>
          <a:prstGeom prst="rect">
            <a:avLst/>
          </a:prstGeom>
          <a:noFill/>
          <a:ln/>
        </p:spPr>
        <p:txBody>
          <a:bodyPr wrap="square" lIns="0" tIns="0" rIns="0" bIns="0" rtlCol="0" anchor="ctr"/>
          <a:lstStyle/>
          <a:p>
            <a:pPr marL="0" indent="0">
              <a:buNone/>
            </a:pPr>
            <a:r>
              <a:rPr lang="en-US" sz="850" dirty="0">
                <a:solidFill>
                  <a:srgbClr val="B8C7D9"/>
                </a:solidFill>
              </a:rPr>
              <a:t>Nguồn tham khảo: OWASP Logging Cheat Sheet</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071626"/>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2EE6E6">
              <a:alpha val="90000"/>
            </a:srgbClr>
          </a:solidFill>
          <a:ln w="12700">
            <a:solidFill>
              <a:srgbClr val="2EE6E6">
                <a:alpha val="0"/>
              </a:srgbClr>
            </a:solidFill>
            <a:prstDash val="solid"/>
          </a:ln>
        </p:spPr>
      </p:sp>
      <p:sp>
        <p:nvSpPr>
          <p:cNvPr id="3" name="Shape 1"/>
          <p:cNvSpPr/>
          <p:nvPr/>
        </p:nvSpPr>
        <p:spPr>
          <a:xfrm>
            <a:off x="0" y="6748272"/>
            <a:ext cx="12191695" cy="109728"/>
          </a:xfrm>
          <a:prstGeom prst="rect">
            <a:avLst/>
          </a:prstGeom>
          <a:solidFill>
            <a:srgbClr val="2EE6E6">
              <a:alpha val="70000"/>
            </a:srgbClr>
          </a:solidFill>
          <a:ln w="12700">
            <a:solidFill>
              <a:srgbClr val="2EE6E6">
                <a:alpha val="0"/>
              </a:srgbClr>
            </a:solidFill>
            <a:prstDash val="solid"/>
          </a:ln>
        </p:spPr>
      </p:sp>
      <p:sp>
        <p:nvSpPr>
          <p:cNvPr id="4" name="Text 2"/>
          <p:cNvSpPr/>
          <p:nvPr/>
        </p:nvSpPr>
        <p:spPr>
          <a:xfrm>
            <a:off x="502920" y="320040"/>
            <a:ext cx="8778240" cy="420624"/>
          </a:xfrm>
          <a:prstGeom prst="rect">
            <a:avLst/>
          </a:prstGeom>
          <a:noFill/>
          <a:ln/>
        </p:spPr>
        <p:txBody>
          <a:bodyPr wrap="square" lIns="254" tIns="254" rIns="254" bIns="254" rtlCol="0" anchor="ctr">
            <a:normAutofit/>
          </a:bodyPr>
          <a:lstStyle/>
          <a:p>
            <a:pPr marL="0" indent="0">
              <a:buNone/>
            </a:pPr>
            <a:r>
              <a:rPr lang="en-US" sz="2500" b="1" dirty="0">
                <a:solidFill>
                  <a:srgbClr val="F6FAFF"/>
                </a:solidFill>
                <a:latin typeface="Aptos Display" pitchFamily="34" charset="0"/>
                <a:ea typeface="Aptos Display" pitchFamily="34" charset="-122"/>
                <a:cs typeface="Aptos Display" pitchFamily="34" charset="-120"/>
              </a:rPr>
              <a:t>Kịch bản demo hệ thống</a:t>
            </a:r>
            <a:endParaRPr lang="en-US" sz="2500" dirty="0"/>
          </a:p>
        </p:txBody>
      </p:sp>
      <p:sp>
        <p:nvSpPr>
          <p:cNvPr id="5" name="Text 3"/>
          <p:cNvSpPr/>
          <p:nvPr/>
        </p:nvSpPr>
        <p:spPr>
          <a:xfrm>
            <a:off x="530352" y="795528"/>
            <a:ext cx="8046720" cy="219456"/>
          </a:xfrm>
          <a:prstGeom prst="rect">
            <a:avLst/>
          </a:prstGeom>
          <a:noFill/>
          <a:ln/>
        </p:spPr>
        <p:txBody>
          <a:bodyPr wrap="square" lIns="127" tIns="127" rIns="127" bIns="127" rtlCol="0" anchor="ctr">
            <a:normAutofit/>
          </a:bodyPr>
          <a:lstStyle/>
          <a:p>
            <a:pPr marL="0" indent="0">
              <a:buNone/>
            </a:pPr>
            <a:r>
              <a:rPr lang="en-US" sz="1400" dirty="0">
                <a:solidFill>
                  <a:srgbClr val="B8C7D9"/>
                </a:solidFill>
              </a:rPr>
              <a:t>Chuẩn bị demo theo luồng dễ hiểu, chứng minh dữ liệu không lưu thô.</a:t>
            </a:r>
            <a:endParaRPr lang="en-US" sz="1400" dirty="0"/>
          </a:p>
        </p:txBody>
      </p:sp>
      <p:sp>
        <p:nvSpPr>
          <p:cNvPr id="6" name="Text 4"/>
          <p:cNvSpPr/>
          <p:nvPr/>
        </p:nvSpPr>
        <p:spPr>
          <a:xfrm>
            <a:off x="502920" y="6528816"/>
            <a:ext cx="6583680" cy="164592"/>
          </a:xfrm>
          <a:prstGeom prst="rect">
            <a:avLst/>
          </a:prstGeom>
          <a:noFill/>
          <a:ln/>
        </p:spPr>
        <p:txBody>
          <a:bodyPr wrap="square" lIns="0" tIns="0" rIns="0" bIns="0" rtlCol="0" anchor="ctr">
            <a:normAutofit/>
          </a:bodyPr>
          <a:lstStyle/>
          <a:p>
            <a:pPr marL="0" indent="0">
              <a:buNone/>
            </a:pPr>
            <a:r>
              <a:rPr lang="en-US" sz="750" dirty="0">
                <a:solidFill>
                  <a:srgbClr val="B8C7D9"/>
                </a:solidFill>
              </a:rPr>
              <a:t>Đề tài 22 · Triple DES &amp; AES · 22</a:t>
            </a:r>
            <a:endParaRPr lang="en-US" sz="750" dirty="0"/>
          </a:p>
        </p:txBody>
      </p:sp>
      <p:sp>
        <p:nvSpPr>
          <p:cNvPr id="7" name="Text 5"/>
          <p:cNvSpPr/>
          <p:nvPr/>
        </p:nvSpPr>
        <p:spPr>
          <a:xfrm>
            <a:off x="822960" y="1234440"/>
            <a:ext cx="5669280" cy="4480560"/>
          </a:xfrm>
          <a:prstGeom prst="rect">
            <a:avLst/>
          </a:prstGeom>
          <a:noFill/>
          <a:ln/>
        </p:spPr>
        <p:txBody>
          <a:bodyPr wrap="square" lIns="635" tIns="635" rIns="635" bIns="635" rtlCol="0" anchor="ctr">
            <a:normAutofit/>
          </a:bodyPr>
          <a:lstStyle/>
          <a:p>
            <a:pPr marL="342900" indent="-342900">
              <a:buFont typeface="Arial" panose="020B0604020202020204" pitchFamily="34" charset="0"/>
              <a:buChar char="•"/>
            </a:pPr>
            <a:r>
              <a:rPr lang="en-US" sz="2000" dirty="0">
                <a:solidFill>
                  <a:srgbClr val="F6FAFF"/>
                </a:solidFill>
              </a:rPr>
              <a:t>Đăng ký tài khoản người dùng mới.</a:t>
            </a:r>
            <a:endParaRPr lang="en-US" sz="2000" dirty="0"/>
          </a:p>
          <a:p>
            <a:pPr marL="342900" indent="-342900">
              <a:buFont typeface="Arial" panose="020B0604020202020204" pitchFamily="34" charset="0"/>
              <a:buChar char="•"/>
            </a:pPr>
            <a:r>
              <a:rPr lang="en-US" sz="2000" dirty="0">
                <a:solidFill>
                  <a:srgbClr val="F6FAFF"/>
                </a:solidFill>
              </a:rPr>
              <a:t>Nhập CCCD, BHXH, số tài khoản, địa chỉ.</a:t>
            </a:r>
            <a:endParaRPr lang="en-US" sz="2000" dirty="0"/>
          </a:p>
          <a:p>
            <a:pPr marL="342900" indent="-342900">
              <a:buFont typeface="Arial" panose="020B0604020202020204" pitchFamily="34" charset="0"/>
              <a:buChar char="•"/>
            </a:pPr>
            <a:r>
              <a:rPr lang="en-US" sz="2000" dirty="0">
                <a:solidFill>
                  <a:srgbClr val="F6FAFF"/>
                </a:solidFill>
              </a:rPr>
              <a:t>Mở database để chứng minh dữ liệu đã mã hóa.</a:t>
            </a:r>
            <a:endParaRPr lang="en-US" sz="2000" dirty="0"/>
          </a:p>
          <a:p>
            <a:pPr marL="342900" indent="-342900">
              <a:buFont typeface="Arial" panose="020B0604020202020204" pitchFamily="34" charset="0"/>
              <a:buChar char="•"/>
            </a:pPr>
            <a:r>
              <a:rPr lang="en-US" sz="2000" dirty="0">
                <a:solidFill>
                  <a:srgbClr val="F6FAFF"/>
                </a:solidFill>
              </a:rPr>
              <a:t>Đăng nhập người dùng và xem thông tin đã giải mã.</a:t>
            </a:r>
            <a:endParaRPr lang="en-US" sz="2000" dirty="0"/>
          </a:p>
          <a:p>
            <a:pPr marL="342900" indent="-342900">
              <a:buFont typeface="Arial" panose="020B0604020202020204" pitchFamily="34" charset="0"/>
              <a:buChar char="•"/>
            </a:pPr>
            <a:r>
              <a:rPr lang="en-US" sz="2000" dirty="0">
                <a:solidFill>
                  <a:srgbClr val="F6FAFF"/>
                </a:solidFill>
              </a:rPr>
              <a:t>Vào trang admin, xem danh sách người dùng.</a:t>
            </a:r>
            <a:endParaRPr lang="en-US" sz="2000" dirty="0"/>
          </a:p>
          <a:p>
            <a:pPr marL="342900" indent="-342900">
              <a:buFont typeface="Arial" panose="020B0604020202020204" pitchFamily="34" charset="0"/>
              <a:buChar char="•"/>
            </a:pPr>
            <a:r>
              <a:rPr lang="en-US" sz="2000" dirty="0">
                <a:solidFill>
                  <a:srgbClr val="F6FAFF"/>
                </a:solidFill>
              </a:rPr>
              <a:t>Admin nhập lại mật khẩu để xem chi tiết.</a:t>
            </a:r>
            <a:endParaRPr lang="en-US" sz="2000" dirty="0"/>
          </a:p>
          <a:p>
            <a:pPr marL="342900" indent="-342900">
              <a:buFont typeface="Arial" panose="020B0604020202020204" pitchFamily="34" charset="0"/>
              <a:buChar char="•"/>
            </a:pPr>
            <a:r>
              <a:rPr lang="en-US" sz="2000" dirty="0">
                <a:solidFill>
                  <a:srgbClr val="F6FAFF"/>
                </a:solidFill>
              </a:rPr>
              <a:t>Kiểm tra bảng log sau khi xem/sửa/xóa dữ liệu.</a:t>
            </a:r>
            <a:endParaRPr lang="en-US" sz="2000" dirty="0"/>
          </a:p>
        </p:txBody>
      </p:sp>
      <p:sp>
        <p:nvSpPr>
          <p:cNvPr id="8" name="Text 6"/>
          <p:cNvSpPr/>
          <p:nvPr/>
        </p:nvSpPr>
        <p:spPr>
          <a:xfrm>
            <a:off x="6903720" y="1417320"/>
            <a:ext cx="4160520" cy="3611880"/>
          </a:xfrm>
          <a:prstGeom prst="rect">
            <a:avLst/>
          </a:prstGeom>
          <a:solidFill>
            <a:srgbClr val="102B46"/>
          </a:solidFill>
          <a:ln>
            <a:solidFill>
              <a:srgbClr val="2A6F9A">
                <a:alpha val="75000"/>
              </a:srgbClr>
            </a:solidFill>
          </a:ln>
        </p:spPr>
        <p:txBody>
          <a:bodyPr wrap="square" lIns="1905" tIns="1905" rIns="1905" bIns="1905" rtlCol="0" anchor="ctr">
            <a:normAutofit/>
          </a:bodyPr>
          <a:lstStyle/>
          <a:p>
            <a:pPr marL="0" indent="0">
              <a:buNone/>
            </a:pPr>
            <a:r>
              <a:rPr lang="en-US" sz="1600" b="1" dirty="0">
                <a:solidFill>
                  <a:srgbClr val="FFB347"/>
                </a:solidFill>
                <a:latin typeface="Aptos" pitchFamily="34" charset="0"/>
                <a:ea typeface="Aptos" pitchFamily="34" charset="-122"/>
                <a:cs typeface="Aptos" pitchFamily="34" charset="-120"/>
              </a:rPr>
              <a:t> </a:t>
            </a:r>
            <a:r>
              <a:rPr lang="en-US" sz="1600" b="1" dirty="0" err="1">
                <a:solidFill>
                  <a:srgbClr val="FFB347"/>
                </a:solidFill>
                <a:latin typeface="Aptos" pitchFamily="34" charset="0"/>
                <a:ea typeface="Aptos" pitchFamily="34" charset="-122"/>
                <a:cs typeface="Aptos" pitchFamily="34" charset="-120"/>
              </a:rPr>
              <a:t>Điểm</a:t>
            </a:r>
            <a:r>
              <a:rPr lang="en-US" sz="1600" b="1" dirty="0">
                <a:solidFill>
                  <a:srgbClr val="FFB347"/>
                </a:solidFill>
                <a:latin typeface="Aptos" pitchFamily="34" charset="0"/>
                <a:ea typeface="Aptos" pitchFamily="34" charset="-122"/>
                <a:cs typeface="Aptos" pitchFamily="34" charset="-120"/>
              </a:rPr>
              <a:t> cần nhấn mạnh khi demo
</a:t>
            </a:r>
            <a:r>
              <a:rPr lang="en-US" sz="1420" dirty="0">
                <a:solidFill>
                  <a:srgbClr val="B8C7D9"/>
                </a:solidFill>
                <a:latin typeface="Aptos" pitchFamily="34" charset="0"/>
                <a:ea typeface="Aptos" pitchFamily="34" charset="-122"/>
                <a:cs typeface="Aptos" pitchFamily="34" charset="-120"/>
              </a:rPr>
              <a:t>1. Database không có CCCD/STK/BHXH dạng rõ.</a:t>
            </a:r>
            <a:endParaRPr lang="en-US" sz="1600" dirty="0"/>
          </a:p>
          <a:p>
            <a:pPr marL="0" indent="0">
              <a:buNone/>
            </a:pPr>
            <a:endParaRPr lang="en-US" sz="1600" dirty="0"/>
          </a:p>
          <a:p>
            <a:pPr marL="0" indent="0">
              <a:buNone/>
            </a:pPr>
            <a:r>
              <a:rPr lang="en-US" sz="1420" dirty="0">
                <a:solidFill>
                  <a:srgbClr val="B8C7D9"/>
                </a:solidFill>
                <a:latin typeface="Aptos" pitchFamily="34" charset="0"/>
                <a:ea typeface="Aptos" pitchFamily="34" charset="-122"/>
                <a:cs typeface="Aptos" pitchFamily="34" charset="-120"/>
              </a:rPr>
              <a:t>2. Người dùng hợp lệ mới xem được dữ liệu đã giải mã.</a:t>
            </a:r>
            <a:endParaRPr lang="en-US" sz="1600" dirty="0"/>
          </a:p>
          <a:p>
            <a:pPr marL="0" indent="0">
              <a:buNone/>
            </a:pPr>
            <a:endParaRPr lang="en-US" sz="1600" dirty="0"/>
          </a:p>
          <a:p>
            <a:pPr marL="0" indent="0">
              <a:buNone/>
            </a:pPr>
            <a:r>
              <a:rPr lang="en-US" sz="1420" dirty="0">
                <a:solidFill>
                  <a:srgbClr val="B8C7D9"/>
                </a:solidFill>
                <a:latin typeface="Aptos" pitchFamily="34" charset="0"/>
                <a:ea typeface="Aptos" pitchFamily="34" charset="-122"/>
                <a:cs typeface="Aptos" pitchFamily="34" charset="-120"/>
              </a:rPr>
              <a:t>3. Admin muốn xem phải xác minh lại và có log.</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bg>
      <p:bgPr>
        <a:solidFill>
          <a:srgbClr val="071626"/>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2EE6E6">
              <a:alpha val="90000"/>
            </a:srgbClr>
          </a:solidFill>
          <a:ln w="12700">
            <a:solidFill>
              <a:srgbClr val="2EE6E6">
                <a:alpha val="0"/>
              </a:srgbClr>
            </a:solidFill>
            <a:prstDash val="solid"/>
          </a:ln>
        </p:spPr>
      </p:sp>
      <p:sp>
        <p:nvSpPr>
          <p:cNvPr id="3" name="Shape 1"/>
          <p:cNvSpPr/>
          <p:nvPr/>
        </p:nvSpPr>
        <p:spPr>
          <a:xfrm>
            <a:off x="0" y="6748272"/>
            <a:ext cx="12191695" cy="109728"/>
          </a:xfrm>
          <a:prstGeom prst="rect">
            <a:avLst/>
          </a:prstGeom>
          <a:solidFill>
            <a:srgbClr val="2EE6E6">
              <a:alpha val="70000"/>
            </a:srgbClr>
          </a:solidFill>
          <a:ln w="12700">
            <a:solidFill>
              <a:srgbClr val="2EE6E6">
                <a:alpha val="0"/>
              </a:srgbClr>
            </a:solidFill>
            <a:prstDash val="solid"/>
          </a:ln>
        </p:spPr>
      </p:sp>
      <p:sp>
        <p:nvSpPr>
          <p:cNvPr id="4" name="Text 2"/>
          <p:cNvSpPr/>
          <p:nvPr/>
        </p:nvSpPr>
        <p:spPr>
          <a:xfrm>
            <a:off x="502920" y="320040"/>
            <a:ext cx="8778240" cy="420624"/>
          </a:xfrm>
          <a:prstGeom prst="rect">
            <a:avLst/>
          </a:prstGeom>
          <a:noFill/>
          <a:ln/>
        </p:spPr>
        <p:txBody>
          <a:bodyPr wrap="square" lIns="254" tIns="254" rIns="254" bIns="254" rtlCol="0" anchor="ctr">
            <a:normAutofit/>
          </a:bodyPr>
          <a:lstStyle/>
          <a:p>
            <a:pPr marL="0" indent="0">
              <a:buNone/>
            </a:pPr>
            <a:r>
              <a:rPr lang="en-US" sz="2500" b="1" dirty="0">
                <a:solidFill>
                  <a:srgbClr val="F6FAFF"/>
                </a:solidFill>
                <a:latin typeface="Aptos Display" pitchFamily="34" charset="0"/>
                <a:ea typeface="Aptos Display" pitchFamily="34" charset="-122"/>
                <a:cs typeface="Aptos Display" pitchFamily="34" charset="-120"/>
              </a:rPr>
              <a:t>Đánh giá bảo mật của hệ thống</a:t>
            </a:r>
            <a:endParaRPr lang="en-US" sz="2500" dirty="0"/>
          </a:p>
        </p:txBody>
      </p:sp>
      <p:sp>
        <p:nvSpPr>
          <p:cNvPr id="5" name="Text 3"/>
          <p:cNvSpPr/>
          <p:nvPr/>
        </p:nvSpPr>
        <p:spPr>
          <a:xfrm>
            <a:off x="530352" y="795528"/>
            <a:ext cx="8046720" cy="219456"/>
          </a:xfrm>
          <a:prstGeom prst="rect">
            <a:avLst/>
          </a:prstGeom>
          <a:noFill/>
          <a:ln/>
        </p:spPr>
        <p:txBody>
          <a:bodyPr wrap="square" lIns="127" tIns="127" rIns="127" bIns="127" rtlCol="0" anchor="ctr">
            <a:normAutofit/>
          </a:bodyPr>
          <a:lstStyle/>
          <a:p>
            <a:pPr marL="0" indent="0">
              <a:buNone/>
            </a:pPr>
            <a:r>
              <a:rPr lang="en-US" sz="950" dirty="0">
                <a:solidFill>
                  <a:srgbClr val="B8C7D9"/>
                </a:solidFill>
              </a:rPr>
              <a:t>Hệ thống giảm rủi ro lộ dữ liệu nhưng vẫn cần bảo vệ khóa và tài khoản admin.</a:t>
            </a:r>
            <a:endParaRPr lang="en-US" sz="950" dirty="0"/>
          </a:p>
        </p:txBody>
      </p:sp>
      <p:sp>
        <p:nvSpPr>
          <p:cNvPr id="6" name="Text 4"/>
          <p:cNvSpPr/>
          <p:nvPr/>
        </p:nvSpPr>
        <p:spPr>
          <a:xfrm>
            <a:off x="502920" y="6528816"/>
            <a:ext cx="6583680" cy="164592"/>
          </a:xfrm>
          <a:prstGeom prst="rect">
            <a:avLst/>
          </a:prstGeom>
          <a:noFill/>
          <a:ln/>
        </p:spPr>
        <p:txBody>
          <a:bodyPr wrap="square" lIns="0" tIns="0" rIns="0" bIns="0" rtlCol="0" anchor="ctr">
            <a:normAutofit/>
          </a:bodyPr>
          <a:lstStyle/>
          <a:p>
            <a:pPr marL="0" indent="0">
              <a:buNone/>
            </a:pPr>
            <a:r>
              <a:rPr lang="en-US" sz="750" dirty="0">
                <a:solidFill>
                  <a:srgbClr val="B8C7D9"/>
                </a:solidFill>
              </a:rPr>
              <a:t>Đề tài 22 · Triple DES &amp; AES · 23</a:t>
            </a:r>
            <a:endParaRPr lang="en-US" sz="750" dirty="0"/>
          </a:p>
        </p:txBody>
      </p:sp>
      <p:sp>
        <p:nvSpPr>
          <p:cNvPr id="7" name="Text 5"/>
          <p:cNvSpPr/>
          <p:nvPr/>
        </p:nvSpPr>
        <p:spPr>
          <a:xfrm>
            <a:off x="731520" y="1234440"/>
            <a:ext cx="5303520" cy="4297680"/>
          </a:xfrm>
          <a:prstGeom prst="rect">
            <a:avLst/>
          </a:prstGeom>
          <a:solidFill>
            <a:srgbClr val="102B46"/>
          </a:solidFill>
          <a:ln>
            <a:solidFill>
              <a:srgbClr val="2A6F9A">
                <a:alpha val="75000"/>
              </a:srgbClr>
            </a:solidFill>
          </a:ln>
        </p:spPr>
        <p:txBody>
          <a:bodyPr wrap="square" lIns="1905" tIns="1905" rIns="1905" bIns="1905" rtlCol="0" anchor="ctr">
            <a:normAutofit/>
          </a:bodyPr>
          <a:lstStyle/>
          <a:p>
            <a:pPr marL="0" indent="0">
              <a:buNone/>
            </a:pPr>
            <a:r>
              <a:rPr lang="en-US" sz="1600" b="1" dirty="0">
                <a:solidFill>
                  <a:srgbClr val="63D471"/>
                </a:solidFill>
                <a:latin typeface="Aptos" pitchFamily="34" charset="0"/>
                <a:ea typeface="Aptos" pitchFamily="34" charset="-122"/>
                <a:cs typeface="Aptos" pitchFamily="34" charset="-120"/>
              </a:rPr>
              <a:t>Ưu điểm
</a:t>
            </a:r>
            <a:r>
              <a:rPr lang="en-US" sz="1450" dirty="0">
                <a:solidFill>
                  <a:srgbClr val="B8C7D9"/>
                </a:solidFill>
                <a:latin typeface="Aptos" pitchFamily="34" charset="0"/>
                <a:ea typeface="Aptos" pitchFamily="34" charset="-122"/>
                <a:cs typeface="Aptos" pitchFamily="34" charset="-120"/>
              </a:rPr>
              <a:t>• Dữ liệu nhạy cảm không lưu dạng rõ</a:t>
            </a:r>
            <a:endParaRPr lang="en-US" sz="1600" dirty="0"/>
          </a:p>
          <a:p>
            <a:pPr marL="0" indent="0">
              <a:buNone/>
            </a:pPr>
            <a:r>
              <a:rPr lang="en-US" sz="1450" dirty="0">
                <a:solidFill>
                  <a:srgbClr val="B8C7D9"/>
                </a:solidFill>
                <a:latin typeface="Aptos" pitchFamily="34" charset="0"/>
                <a:ea typeface="Aptos" pitchFamily="34" charset="-122"/>
                <a:cs typeface="Aptos" pitchFamily="34" charset="-120"/>
              </a:rPr>
              <a:t>• Giảm rủi ro khi database bị lộ</a:t>
            </a:r>
            <a:endParaRPr lang="en-US" sz="1600" dirty="0"/>
          </a:p>
          <a:p>
            <a:pPr marL="0" indent="0">
              <a:buNone/>
            </a:pPr>
            <a:r>
              <a:rPr lang="en-US" sz="1450" dirty="0">
                <a:solidFill>
                  <a:srgbClr val="B8C7D9"/>
                </a:solidFill>
                <a:latin typeface="Aptos" pitchFamily="34" charset="0"/>
                <a:ea typeface="Aptos" pitchFamily="34" charset="-122"/>
                <a:cs typeface="Aptos" pitchFamily="34" charset="-120"/>
              </a:rPr>
              <a:t>• Người dùng chỉ xem dữ liệu của mình</a:t>
            </a:r>
            <a:endParaRPr lang="en-US" sz="1600" dirty="0"/>
          </a:p>
          <a:p>
            <a:pPr marL="0" indent="0">
              <a:buNone/>
            </a:pPr>
            <a:r>
              <a:rPr lang="en-US" sz="1450" dirty="0">
                <a:solidFill>
                  <a:srgbClr val="B8C7D9"/>
                </a:solidFill>
                <a:latin typeface="Aptos" pitchFamily="34" charset="0"/>
                <a:ea typeface="Aptos" pitchFamily="34" charset="-122"/>
                <a:cs typeface="Aptos" pitchFamily="34" charset="-120"/>
              </a:rPr>
              <a:t>• Admin phải xác minh lại khi xem chi tiết</a:t>
            </a:r>
            <a:endParaRPr lang="en-US" sz="1600" dirty="0"/>
          </a:p>
          <a:p>
            <a:pPr marL="0" indent="0">
              <a:buNone/>
            </a:pPr>
            <a:r>
              <a:rPr lang="en-US" sz="1450" dirty="0">
                <a:solidFill>
                  <a:srgbClr val="B8C7D9"/>
                </a:solidFill>
                <a:latin typeface="Aptos" pitchFamily="34" charset="0"/>
                <a:ea typeface="Aptos" pitchFamily="34" charset="-122"/>
                <a:cs typeface="Aptos" pitchFamily="34" charset="-120"/>
              </a:rPr>
              <a:t>• Có log để kiểm tra và truy vết</a:t>
            </a:r>
            <a:endParaRPr lang="en-US" sz="1600" dirty="0"/>
          </a:p>
        </p:txBody>
      </p:sp>
      <p:sp>
        <p:nvSpPr>
          <p:cNvPr id="8" name="Text 6"/>
          <p:cNvSpPr/>
          <p:nvPr/>
        </p:nvSpPr>
        <p:spPr>
          <a:xfrm>
            <a:off x="6355080" y="1234440"/>
            <a:ext cx="5120640" cy="4297680"/>
          </a:xfrm>
          <a:prstGeom prst="rect">
            <a:avLst/>
          </a:prstGeom>
          <a:solidFill>
            <a:srgbClr val="102B46"/>
          </a:solidFill>
          <a:ln>
            <a:solidFill>
              <a:srgbClr val="2A6F9A">
                <a:alpha val="75000"/>
              </a:srgbClr>
            </a:solidFill>
          </a:ln>
        </p:spPr>
        <p:txBody>
          <a:bodyPr wrap="square" lIns="1905" tIns="1905" rIns="1905" bIns="1905" rtlCol="0" anchor="ctr">
            <a:normAutofit/>
          </a:bodyPr>
          <a:lstStyle/>
          <a:p>
            <a:pPr marL="0" indent="0">
              <a:buNone/>
            </a:pPr>
            <a:r>
              <a:rPr lang="en-US" sz="1600" b="1" dirty="0">
                <a:solidFill>
                  <a:srgbClr val="FF6B6B"/>
                </a:solidFill>
                <a:latin typeface="Aptos" pitchFamily="34" charset="0"/>
                <a:ea typeface="Aptos" pitchFamily="34" charset="-122"/>
                <a:cs typeface="Aptos" pitchFamily="34" charset="-120"/>
              </a:rPr>
              <a:t>Hạn chế
</a:t>
            </a:r>
            <a:r>
              <a:rPr lang="en-US" sz="1450" dirty="0">
                <a:solidFill>
                  <a:srgbClr val="B8C7D9"/>
                </a:solidFill>
                <a:latin typeface="Aptos" pitchFamily="34" charset="0"/>
                <a:ea typeface="Aptos" pitchFamily="34" charset="-122"/>
                <a:cs typeface="Aptos" pitchFamily="34" charset="-120"/>
              </a:rPr>
              <a:t>• Nếu khóa bị lộ, dữ liệu có thể bị giải mã</a:t>
            </a:r>
            <a:endParaRPr lang="en-US" sz="1600" dirty="0"/>
          </a:p>
          <a:p>
            <a:pPr marL="0" indent="0">
              <a:buNone/>
            </a:pPr>
            <a:r>
              <a:rPr lang="en-US" sz="1450" dirty="0">
                <a:solidFill>
                  <a:srgbClr val="B8C7D9"/>
                </a:solidFill>
                <a:latin typeface="Aptos" pitchFamily="34" charset="0"/>
                <a:ea typeface="Aptos" pitchFamily="34" charset="-122"/>
                <a:cs typeface="Aptos" pitchFamily="34" charset="-120"/>
              </a:rPr>
              <a:t>• Triple DES không phù hợp hệ thống mới</a:t>
            </a:r>
            <a:endParaRPr lang="en-US" sz="1600" dirty="0"/>
          </a:p>
          <a:p>
            <a:pPr marL="0" indent="0">
              <a:buNone/>
            </a:pPr>
            <a:r>
              <a:rPr lang="en-US" sz="1450" dirty="0">
                <a:solidFill>
                  <a:srgbClr val="B8C7D9"/>
                </a:solidFill>
                <a:latin typeface="Aptos" pitchFamily="34" charset="0"/>
                <a:ea typeface="Aptos" pitchFamily="34" charset="-122"/>
                <a:cs typeface="Aptos" pitchFamily="34" charset="-120"/>
              </a:rPr>
              <a:t>• Tài khoản admin cần bảo vệ tốt</a:t>
            </a:r>
            <a:endParaRPr lang="en-US" sz="1600" dirty="0"/>
          </a:p>
          <a:p>
            <a:pPr marL="0" indent="0">
              <a:buNone/>
            </a:pPr>
            <a:r>
              <a:rPr lang="en-US" sz="1450" dirty="0">
                <a:solidFill>
                  <a:srgbClr val="B8C7D9"/>
                </a:solidFill>
                <a:latin typeface="Aptos" pitchFamily="34" charset="0"/>
                <a:ea typeface="Aptos" pitchFamily="34" charset="-122"/>
                <a:cs typeface="Aptos" pitchFamily="34" charset="-120"/>
              </a:rPr>
              <a:t>• Log cần chống sửa/xóa trái phép</a:t>
            </a:r>
            <a:endParaRPr lang="en-US" sz="1600" dirty="0"/>
          </a:p>
          <a:p>
            <a:pPr marL="0" indent="0">
              <a:buNone/>
            </a:pPr>
            <a:r>
              <a:rPr lang="en-US" sz="1450" dirty="0">
                <a:solidFill>
                  <a:srgbClr val="B8C7D9"/>
                </a:solidFill>
                <a:latin typeface="Aptos" pitchFamily="34" charset="0"/>
                <a:ea typeface="Aptos" pitchFamily="34" charset="-122"/>
                <a:cs typeface="Aptos" pitchFamily="34" charset="-120"/>
              </a:rPr>
              <a:t>• Cần kiểm soát quyền truy cập database</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bg>
      <p:bgPr>
        <a:solidFill>
          <a:srgbClr val="071626"/>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2EE6E6">
              <a:alpha val="90000"/>
            </a:srgbClr>
          </a:solidFill>
          <a:ln w="12700">
            <a:solidFill>
              <a:srgbClr val="2EE6E6">
                <a:alpha val="0"/>
              </a:srgbClr>
            </a:solidFill>
            <a:prstDash val="solid"/>
          </a:ln>
        </p:spPr>
      </p:sp>
      <p:sp>
        <p:nvSpPr>
          <p:cNvPr id="3" name="Shape 1"/>
          <p:cNvSpPr/>
          <p:nvPr/>
        </p:nvSpPr>
        <p:spPr>
          <a:xfrm>
            <a:off x="0" y="6748272"/>
            <a:ext cx="12191695" cy="109728"/>
          </a:xfrm>
          <a:prstGeom prst="rect">
            <a:avLst/>
          </a:prstGeom>
          <a:solidFill>
            <a:srgbClr val="2EE6E6">
              <a:alpha val="70000"/>
            </a:srgbClr>
          </a:solidFill>
          <a:ln w="12700">
            <a:solidFill>
              <a:srgbClr val="2EE6E6">
                <a:alpha val="0"/>
              </a:srgbClr>
            </a:solidFill>
            <a:prstDash val="solid"/>
          </a:ln>
        </p:spPr>
      </p:sp>
      <p:sp>
        <p:nvSpPr>
          <p:cNvPr id="4" name="Text 2"/>
          <p:cNvSpPr/>
          <p:nvPr/>
        </p:nvSpPr>
        <p:spPr>
          <a:xfrm>
            <a:off x="502920" y="320040"/>
            <a:ext cx="8778240" cy="420624"/>
          </a:xfrm>
          <a:prstGeom prst="rect">
            <a:avLst/>
          </a:prstGeom>
          <a:noFill/>
          <a:ln/>
        </p:spPr>
        <p:txBody>
          <a:bodyPr wrap="square" lIns="254" tIns="254" rIns="254" bIns="254" rtlCol="0" anchor="ctr">
            <a:normAutofit/>
          </a:bodyPr>
          <a:lstStyle/>
          <a:p>
            <a:pPr marL="0" indent="0">
              <a:buNone/>
            </a:pPr>
            <a:r>
              <a:rPr lang="en-US" sz="2500" b="1" dirty="0">
                <a:solidFill>
                  <a:srgbClr val="F6FAFF"/>
                </a:solidFill>
                <a:latin typeface="Aptos Display" pitchFamily="34" charset="0"/>
                <a:ea typeface="Aptos Display" pitchFamily="34" charset="-122"/>
                <a:cs typeface="Aptos Display" pitchFamily="34" charset="-120"/>
              </a:rPr>
              <a:t>Kết luận</a:t>
            </a:r>
            <a:endParaRPr lang="en-US" sz="2500" dirty="0"/>
          </a:p>
        </p:txBody>
      </p:sp>
      <p:sp>
        <p:nvSpPr>
          <p:cNvPr id="5" name="Text 3"/>
          <p:cNvSpPr/>
          <p:nvPr/>
        </p:nvSpPr>
        <p:spPr>
          <a:xfrm>
            <a:off x="530352" y="795528"/>
            <a:ext cx="8046720" cy="219456"/>
          </a:xfrm>
          <a:prstGeom prst="rect">
            <a:avLst/>
          </a:prstGeom>
          <a:noFill/>
          <a:ln/>
        </p:spPr>
        <p:txBody>
          <a:bodyPr wrap="square" lIns="127" tIns="127" rIns="127" bIns="127" rtlCol="0" anchor="ctr">
            <a:normAutofit/>
          </a:bodyPr>
          <a:lstStyle/>
          <a:p>
            <a:pPr marL="0" indent="0">
              <a:buNone/>
            </a:pPr>
            <a:r>
              <a:rPr lang="en-US" sz="1400" dirty="0">
                <a:solidFill>
                  <a:srgbClr val="B8C7D9"/>
                </a:solidFill>
              </a:rPr>
              <a:t>Mã hóa dữ liệu nhạy cảm là lớp bảo vệ quan trọng cho cơ sở dữ liệu.</a:t>
            </a:r>
            <a:endParaRPr lang="en-US" sz="1400" dirty="0"/>
          </a:p>
        </p:txBody>
      </p:sp>
      <p:sp>
        <p:nvSpPr>
          <p:cNvPr id="6" name="Text 4"/>
          <p:cNvSpPr/>
          <p:nvPr/>
        </p:nvSpPr>
        <p:spPr>
          <a:xfrm>
            <a:off x="502920" y="6528816"/>
            <a:ext cx="6583680" cy="164592"/>
          </a:xfrm>
          <a:prstGeom prst="rect">
            <a:avLst/>
          </a:prstGeom>
          <a:noFill/>
          <a:ln/>
        </p:spPr>
        <p:txBody>
          <a:bodyPr wrap="square" lIns="0" tIns="0" rIns="0" bIns="0" rtlCol="0" anchor="ctr">
            <a:normAutofit/>
          </a:bodyPr>
          <a:lstStyle/>
          <a:p>
            <a:pPr marL="0" indent="0">
              <a:buNone/>
            </a:pPr>
            <a:r>
              <a:rPr lang="en-US" sz="750" dirty="0">
                <a:solidFill>
                  <a:srgbClr val="B8C7D9"/>
                </a:solidFill>
              </a:rPr>
              <a:t>Đề tài 22 · Triple DES &amp; AES · 24</a:t>
            </a:r>
            <a:endParaRPr lang="en-US" sz="750" dirty="0"/>
          </a:p>
        </p:txBody>
      </p:sp>
      <p:sp>
        <p:nvSpPr>
          <p:cNvPr id="7" name="Text 5"/>
          <p:cNvSpPr/>
          <p:nvPr/>
        </p:nvSpPr>
        <p:spPr>
          <a:xfrm>
            <a:off x="822960" y="1280160"/>
            <a:ext cx="6949440" cy="3520440"/>
          </a:xfrm>
          <a:prstGeom prst="rect">
            <a:avLst/>
          </a:prstGeom>
          <a:noFill/>
          <a:ln/>
        </p:spPr>
        <p:txBody>
          <a:bodyPr wrap="square" lIns="635" tIns="635" rIns="635" bIns="635" rtlCol="0" anchor="ctr">
            <a:normAutofit/>
          </a:bodyPr>
          <a:lstStyle/>
          <a:p>
            <a:pPr marL="342900" indent="-342900">
              <a:buFont typeface="Arial" panose="020B0604020202020204" pitchFamily="34" charset="0"/>
              <a:buChar char="•"/>
            </a:pPr>
            <a:r>
              <a:rPr lang="en-US" sz="2000" dirty="0">
                <a:solidFill>
                  <a:srgbClr val="F6FAFF"/>
                </a:solidFill>
              </a:rPr>
              <a:t>Đề tài áp dụng AES-256 và Triple DES để bảo vệ thông tin người dùng.</a:t>
            </a:r>
            <a:endParaRPr lang="en-US" sz="2000" dirty="0"/>
          </a:p>
          <a:p>
            <a:pPr marL="342900" indent="-342900">
              <a:buFont typeface="Arial" panose="020B0604020202020204" pitchFamily="34" charset="0"/>
              <a:buChar char="•"/>
            </a:pPr>
            <a:r>
              <a:rPr lang="en-US" sz="2000" dirty="0">
                <a:solidFill>
                  <a:srgbClr val="F6FAFF"/>
                </a:solidFill>
              </a:rPr>
              <a:t>Dữ liệu nhạy cảm được mã hóa trước khi lưu vào database.</a:t>
            </a:r>
            <a:endParaRPr lang="en-US" sz="2000" dirty="0"/>
          </a:p>
          <a:p>
            <a:pPr marL="342900" indent="-342900">
              <a:buFont typeface="Arial" panose="020B0604020202020204" pitchFamily="34" charset="0"/>
              <a:buChar char="•"/>
            </a:pPr>
            <a:r>
              <a:rPr lang="en-US" sz="2000" dirty="0">
                <a:solidFill>
                  <a:srgbClr val="F6FAFF"/>
                </a:solidFill>
              </a:rPr>
              <a:t>AES-256 dùng cho BHXH, số tài khoản và địa chỉ vì hiệu năng và độ an toàn tốt.</a:t>
            </a:r>
            <a:endParaRPr lang="en-US" sz="2000" dirty="0"/>
          </a:p>
          <a:p>
            <a:pPr marL="342900" indent="-342900">
              <a:buFont typeface="Arial" panose="020B0604020202020204" pitchFamily="34" charset="0"/>
              <a:buChar char="•"/>
            </a:pPr>
            <a:r>
              <a:rPr lang="en-US" sz="2000" dirty="0">
                <a:solidFill>
                  <a:srgbClr val="F6FAFF"/>
                </a:solidFill>
              </a:rPr>
              <a:t>Triple DES dùng cho CCCD/CMND theo yêu cầu và để minh họa tương thích hệ thống cũ.</a:t>
            </a:r>
            <a:endParaRPr lang="en-US" sz="2000" dirty="0"/>
          </a:p>
          <a:p>
            <a:pPr marL="342900" indent="-342900">
              <a:buFont typeface="Arial" panose="020B0604020202020204" pitchFamily="34" charset="0"/>
              <a:buChar char="•"/>
            </a:pPr>
            <a:r>
              <a:rPr lang="en-US" sz="2000" dirty="0">
                <a:solidFill>
                  <a:srgbClr val="F6FAFF"/>
                </a:solidFill>
              </a:rPr>
              <a:t>Admin phải xác minh lại khi xem dữ liệu nhạy cảm và mọi hành động quan trọng đều được ghi log.</a:t>
            </a:r>
            <a:endParaRPr lang="en-US" sz="2000" dirty="0"/>
          </a:p>
        </p:txBody>
      </p:sp>
      <p:sp>
        <p:nvSpPr>
          <p:cNvPr id="8" name="Text 6"/>
          <p:cNvSpPr/>
          <p:nvPr/>
        </p:nvSpPr>
        <p:spPr>
          <a:xfrm>
            <a:off x="8183880" y="1508760"/>
            <a:ext cx="3017520" cy="2057400"/>
          </a:xfrm>
          <a:prstGeom prst="rect">
            <a:avLst/>
          </a:prstGeom>
          <a:solidFill>
            <a:srgbClr val="102B46"/>
          </a:solidFill>
          <a:ln>
            <a:solidFill>
              <a:srgbClr val="2A6F9A">
                <a:alpha val="75000"/>
              </a:srgbClr>
            </a:solidFill>
          </a:ln>
        </p:spPr>
        <p:txBody>
          <a:bodyPr wrap="square" lIns="1905" tIns="1905" rIns="1905" bIns="1905" rtlCol="0" anchor="ctr">
            <a:normAutofit/>
          </a:bodyPr>
          <a:lstStyle/>
          <a:p>
            <a:pPr marL="0" indent="0">
              <a:buNone/>
            </a:pPr>
            <a:r>
              <a:rPr lang="en-US" sz="2000" b="1" dirty="0" err="1">
                <a:solidFill>
                  <a:srgbClr val="2EE6E6"/>
                </a:solidFill>
                <a:latin typeface="Aptos" pitchFamily="34" charset="0"/>
                <a:ea typeface="Aptos" pitchFamily="34" charset="-122"/>
                <a:cs typeface="Aptos" pitchFamily="34" charset="-120"/>
              </a:rPr>
              <a:t>Cảm</a:t>
            </a:r>
            <a:r>
              <a:rPr lang="en-US" sz="2000" b="1" dirty="0">
                <a:solidFill>
                  <a:srgbClr val="2EE6E6"/>
                </a:solidFill>
                <a:latin typeface="Aptos" pitchFamily="34" charset="0"/>
                <a:ea typeface="Aptos" pitchFamily="34" charset="-122"/>
                <a:cs typeface="Aptos" pitchFamily="34" charset="-120"/>
              </a:rPr>
              <a:t> ơn cô và các bạn đã lắng nghe!
</a:t>
            </a:r>
            <a:r>
              <a:rPr lang="en-US" sz="1500" dirty="0">
                <a:solidFill>
                  <a:srgbClr val="B8C7D9"/>
                </a:solidFill>
                <a:latin typeface="Aptos" pitchFamily="34" charset="0"/>
                <a:ea typeface="Aptos" pitchFamily="34" charset="-122"/>
                <a:cs typeface="Aptos" pitchFamily="34" charset="-120"/>
              </a:rPr>
              <a:t>Nhóm em xin nhận câu hỏi và góp ý.</a:t>
            </a:r>
            <a:endParaRPr lang="en-US" sz="2000" dirty="0"/>
          </a:p>
        </p:txBody>
      </p:sp>
      <p:sp>
        <p:nvSpPr>
          <p:cNvPr id="9" name="Text 7"/>
          <p:cNvSpPr/>
          <p:nvPr/>
        </p:nvSpPr>
        <p:spPr>
          <a:xfrm>
            <a:off x="8183880" y="4069080"/>
            <a:ext cx="3017520" cy="1051560"/>
          </a:xfrm>
          <a:prstGeom prst="rect">
            <a:avLst/>
          </a:prstGeom>
          <a:solidFill>
            <a:srgbClr val="102B46"/>
          </a:solidFill>
          <a:ln>
            <a:solidFill>
              <a:srgbClr val="2A6F9A">
                <a:alpha val="75000"/>
              </a:srgbClr>
            </a:solidFill>
          </a:ln>
        </p:spPr>
        <p:txBody>
          <a:bodyPr wrap="square" lIns="1905" tIns="1905" rIns="1905" bIns="1905" rtlCol="0" anchor="ctr">
            <a:normAutofit/>
          </a:bodyPr>
          <a:lstStyle/>
          <a:p>
            <a:pPr marL="0" indent="0">
              <a:buNone/>
            </a:pPr>
            <a:r>
              <a:rPr lang="en-US" sz="1600" b="1" dirty="0">
                <a:solidFill>
                  <a:srgbClr val="FFB347"/>
                </a:solidFill>
                <a:latin typeface="Aptos" pitchFamily="34" charset="0"/>
                <a:ea typeface="Aptos" pitchFamily="34" charset="-122"/>
                <a:cs typeface="Aptos" pitchFamily="34" charset="-120"/>
              </a:rPr>
              <a:t>Câu cần nhớ
</a:t>
            </a:r>
            <a:r>
              <a:rPr lang="en-US" sz="1320" dirty="0">
                <a:solidFill>
                  <a:srgbClr val="B8C7D9"/>
                </a:solidFill>
                <a:latin typeface="Aptos" pitchFamily="34" charset="0"/>
                <a:ea typeface="Aptos" pitchFamily="34" charset="-122"/>
                <a:cs typeface="Aptos" pitchFamily="34" charset="-120"/>
              </a:rPr>
              <a:t>Database bị lộ ≠ dữ liệu thật bị lộ nếu khóa vẫn an toàn.</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5">
    <p:bg>
      <p:bgPr>
        <a:solidFill>
          <a:srgbClr val="071626"/>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2EE6E6">
              <a:alpha val="90000"/>
            </a:srgbClr>
          </a:solidFill>
          <a:ln w="12700">
            <a:solidFill>
              <a:srgbClr val="2EE6E6">
                <a:alpha val="0"/>
              </a:srgbClr>
            </a:solidFill>
            <a:prstDash val="solid"/>
          </a:ln>
        </p:spPr>
      </p:sp>
      <p:sp>
        <p:nvSpPr>
          <p:cNvPr id="3" name="Shape 1"/>
          <p:cNvSpPr/>
          <p:nvPr/>
        </p:nvSpPr>
        <p:spPr>
          <a:xfrm>
            <a:off x="0" y="6748272"/>
            <a:ext cx="12191695" cy="109728"/>
          </a:xfrm>
          <a:prstGeom prst="rect">
            <a:avLst/>
          </a:prstGeom>
          <a:solidFill>
            <a:srgbClr val="2EE6E6">
              <a:alpha val="70000"/>
            </a:srgbClr>
          </a:solidFill>
          <a:ln w="12700">
            <a:solidFill>
              <a:srgbClr val="2EE6E6">
                <a:alpha val="0"/>
              </a:srgbClr>
            </a:solidFill>
            <a:prstDash val="solid"/>
          </a:ln>
        </p:spPr>
      </p:sp>
      <p:sp>
        <p:nvSpPr>
          <p:cNvPr id="4" name="Text 2"/>
          <p:cNvSpPr/>
          <p:nvPr/>
        </p:nvSpPr>
        <p:spPr>
          <a:xfrm>
            <a:off x="502920" y="320040"/>
            <a:ext cx="8778240" cy="420624"/>
          </a:xfrm>
          <a:prstGeom prst="rect">
            <a:avLst/>
          </a:prstGeom>
          <a:noFill/>
          <a:ln/>
        </p:spPr>
        <p:txBody>
          <a:bodyPr wrap="square" lIns="254" tIns="254" rIns="254" bIns="254" rtlCol="0" anchor="ctr">
            <a:normAutofit/>
          </a:bodyPr>
          <a:lstStyle/>
          <a:p>
            <a:pPr marL="0" indent="0">
              <a:buNone/>
            </a:pPr>
            <a:r>
              <a:rPr lang="en-US" sz="2500" b="1" dirty="0">
                <a:solidFill>
                  <a:srgbClr val="F6FAFF"/>
                </a:solidFill>
                <a:latin typeface="Aptos Display" pitchFamily="34" charset="0"/>
                <a:ea typeface="Aptos Display" pitchFamily="34" charset="-122"/>
                <a:cs typeface="Aptos Display" pitchFamily="34" charset="-120"/>
              </a:rPr>
              <a:t>Tài liệu tham khảo</a:t>
            </a:r>
            <a:endParaRPr lang="en-US" sz="2500" dirty="0"/>
          </a:p>
        </p:txBody>
      </p:sp>
      <p:sp>
        <p:nvSpPr>
          <p:cNvPr id="5" name="Text 3"/>
          <p:cNvSpPr/>
          <p:nvPr/>
        </p:nvSpPr>
        <p:spPr>
          <a:xfrm>
            <a:off x="530352" y="795528"/>
            <a:ext cx="8046720" cy="219456"/>
          </a:xfrm>
          <a:prstGeom prst="rect">
            <a:avLst/>
          </a:prstGeom>
          <a:noFill/>
          <a:ln/>
        </p:spPr>
        <p:txBody>
          <a:bodyPr wrap="square" lIns="127" tIns="127" rIns="127" bIns="127" rtlCol="0" anchor="ctr">
            <a:normAutofit/>
          </a:bodyPr>
          <a:lstStyle/>
          <a:p>
            <a:pPr marL="0" indent="0">
              <a:buNone/>
            </a:pPr>
            <a:r>
              <a:rPr lang="en-US" sz="1400" dirty="0">
                <a:solidFill>
                  <a:srgbClr val="B8C7D9"/>
                </a:solidFill>
              </a:rPr>
              <a:t>Các nguồn dùng để xây dựng phần lý thuyết và khuyến nghị bảo mật.</a:t>
            </a:r>
            <a:endParaRPr lang="en-US" sz="1400" dirty="0"/>
          </a:p>
        </p:txBody>
      </p:sp>
      <p:sp>
        <p:nvSpPr>
          <p:cNvPr id="6" name="Text 4"/>
          <p:cNvSpPr/>
          <p:nvPr/>
        </p:nvSpPr>
        <p:spPr>
          <a:xfrm>
            <a:off x="502920" y="6528816"/>
            <a:ext cx="6583680" cy="164592"/>
          </a:xfrm>
          <a:prstGeom prst="rect">
            <a:avLst/>
          </a:prstGeom>
          <a:noFill/>
          <a:ln/>
        </p:spPr>
        <p:txBody>
          <a:bodyPr wrap="square" lIns="0" tIns="0" rIns="0" bIns="0" rtlCol="0" anchor="ctr">
            <a:normAutofit/>
          </a:bodyPr>
          <a:lstStyle/>
          <a:p>
            <a:pPr marL="0" indent="0">
              <a:buNone/>
            </a:pPr>
            <a:r>
              <a:rPr lang="en-US" sz="750" dirty="0">
                <a:solidFill>
                  <a:srgbClr val="B8C7D9"/>
                </a:solidFill>
              </a:rPr>
              <a:t>Đề tài 22 · Triple DES &amp; AES · 25</a:t>
            </a:r>
            <a:endParaRPr lang="en-US" sz="750" dirty="0"/>
          </a:p>
        </p:txBody>
      </p:sp>
      <p:sp>
        <p:nvSpPr>
          <p:cNvPr id="7" name="Text 5"/>
          <p:cNvSpPr/>
          <p:nvPr/>
        </p:nvSpPr>
        <p:spPr>
          <a:xfrm>
            <a:off x="914400" y="1325880"/>
            <a:ext cx="10424160" cy="2926080"/>
          </a:xfrm>
          <a:prstGeom prst="rect">
            <a:avLst/>
          </a:prstGeom>
          <a:noFill/>
          <a:ln/>
        </p:spPr>
        <p:txBody>
          <a:bodyPr wrap="square" lIns="635" tIns="635" rIns="635" bIns="635" rtlCol="0" anchor="ctr">
            <a:normAutofit/>
          </a:bodyPr>
          <a:lstStyle/>
          <a:p>
            <a:pPr marL="342900" indent="-342900">
              <a:buFont typeface="Arial" panose="020B0604020202020204" pitchFamily="34" charset="0"/>
              <a:buChar char="•"/>
            </a:pPr>
            <a:r>
              <a:rPr lang="en-US" sz="2400" dirty="0">
                <a:solidFill>
                  <a:srgbClr val="F6FAFF"/>
                </a:solidFill>
              </a:rPr>
              <a:t>NIST FIPS 197: Advanced Encryption Standard (AES) — thông tin về AES-128/192/256 và khối 128 bit.</a:t>
            </a:r>
            <a:endParaRPr lang="en-US" sz="2400" dirty="0"/>
          </a:p>
          <a:p>
            <a:pPr marL="342900" indent="-342900">
              <a:buFont typeface="Arial" panose="020B0604020202020204" pitchFamily="34" charset="0"/>
              <a:buChar char="•"/>
            </a:pPr>
            <a:r>
              <a:rPr lang="en-US" sz="2400" dirty="0">
                <a:solidFill>
                  <a:srgbClr val="F6FAFF"/>
                </a:solidFill>
              </a:rPr>
              <a:t>NIST CSRC: Thông báo rút SP 800-67 Rev.2 về Triple DES/TDEA từ 01/01/2024.</a:t>
            </a:r>
            <a:endParaRPr lang="en-US" sz="2400" dirty="0"/>
          </a:p>
          <a:p>
            <a:pPr marL="342900" indent="-342900">
              <a:buFont typeface="Arial" panose="020B0604020202020204" pitchFamily="34" charset="0"/>
              <a:buChar char="•"/>
            </a:pPr>
            <a:r>
              <a:rPr lang="en-US" sz="2400" dirty="0">
                <a:solidFill>
                  <a:srgbClr val="F6FAFF"/>
                </a:solidFill>
              </a:rPr>
              <a:t>OWASP Logging Cheat Sheet — khuyến nghị ghi log truy cập dữ liệu nhạy cảm và hoạt động liên quan khóa mã hóa.</a:t>
            </a:r>
            <a:endParaRPr lang="en-US" sz="2400" dirty="0"/>
          </a:p>
          <a:p>
            <a:r>
              <a:rPr lang="en-US" sz="2400" dirty="0">
                <a:solidFill>
                  <a:srgbClr val="F6FAFF"/>
                </a:solidFill>
              </a:rPr>
              <a:t>Gợi ý trình bày: trong hệ thống thực tế nên ưu tiên AES và quản lý khóa an toàn.</a:t>
            </a:r>
            <a:endParaRPr lang="en-US" sz="2400" dirty="0"/>
          </a:p>
        </p:txBody>
      </p:sp>
      <p:sp>
        <p:nvSpPr>
          <p:cNvPr id="8" name="Text 6"/>
          <p:cNvSpPr/>
          <p:nvPr/>
        </p:nvSpPr>
        <p:spPr>
          <a:xfrm>
            <a:off x="1051560" y="4846320"/>
            <a:ext cx="10058400" cy="868680"/>
          </a:xfrm>
          <a:prstGeom prst="rect">
            <a:avLst/>
          </a:prstGeom>
          <a:solidFill>
            <a:srgbClr val="102B46"/>
          </a:solidFill>
          <a:ln>
            <a:solidFill>
              <a:srgbClr val="2A6F9A">
                <a:alpha val="75000"/>
              </a:srgbClr>
            </a:solidFill>
          </a:ln>
        </p:spPr>
        <p:txBody>
          <a:bodyPr wrap="square" lIns="1905" tIns="1905" rIns="1905" bIns="1905" rtlCol="0" anchor="ctr">
            <a:normAutofit/>
          </a:bodyPr>
          <a:lstStyle/>
          <a:p>
            <a:pPr marL="0" indent="0">
              <a:buNone/>
            </a:pPr>
            <a:r>
              <a:rPr lang="en-US" sz="1600" b="1" dirty="0">
                <a:solidFill>
                  <a:srgbClr val="2EE6E6"/>
                </a:solidFill>
                <a:latin typeface="Aptos" pitchFamily="34" charset="0"/>
                <a:ea typeface="Aptos" pitchFamily="34" charset="-122"/>
                <a:cs typeface="Aptos" pitchFamily="34" charset="-120"/>
              </a:rPr>
              <a:t>Ghi chú
</a:t>
            </a:r>
            <a:r>
              <a:rPr lang="en-US" sz="1350" dirty="0">
                <a:solidFill>
                  <a:srgbClr val="B8C7D9"/>
                </a:solidFill>
                <a:latin typeface="Aptos" pitchFamily="34" charset="0"/>
                <a:ea typeface="Aptos" pitchFamily="34" charset="-122"/>
                <a:cs typeface="Aptos" pitchFamily="34" charset="-120"/>
              </a:rPr>
              <a:t>Trong slide có phần speaker notes chi tiết để từng thành viên có thể mở PowerPoint và luyện nói theo nội dung.</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TotalTime>
  <Words>5116</Words>
  <Application>Microsoft Office PowerPoint</Application>
  <PresentationFormat>Widescreen</PresentationFormat>
  <Paragraphs>395</Paragraphs>
  <Slides>24</Slides>
  <Notes>24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Aptos</vt:lpstr>
      <vt:lpstr>Aptos Display</vt: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Nhóm sinh viên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Triple DES và AES bảo vệ dữ liệu nhạy cảm</dc:title>
  <dc:subject>Ứng dụng Triple DES và AES để bảo vệ thông tin nhạy cảm trong cơ sở dữ liệu</dc:subject>
  <dc:creator>OpenAI</dc:creator>
  <cp:lastModifiedBy>Nguyễn Minh Đức</cp:lastModifiedBy>
  <cp:revision>2</cp:revision>
  <dcterms:created xsi:type="dcterms:W3CDTF">2026-05-29T16:59:17Z</dcterms:created>
  <dcterms:modified xsi:type="dcterms:W3CDTF">2026-05-29T17:15:59Z</dcterms:modified>
</cp:coreProperties>
</file>