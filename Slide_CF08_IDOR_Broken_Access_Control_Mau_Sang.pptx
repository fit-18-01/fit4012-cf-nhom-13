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ngắn: Hôm nay nhóm em demo lỗi Broken Access Control / IDOR. Hiểu đơn giản: nếu backend không kiểm tra quyền, người dùng có thể đổi ID trên URL để xem dữ liệu người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Đăng nhập chỉ chứng minh Alice là Alice. Nhưng hệ thống còn phải hỏi: Alice có quyền xem dữ liệu này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Authentication là đăng nhập. Authorization là phân quyền. Trong demo lỗi, hệ thống có đăng nhập nhưng không kiểm tra Alice có quyền xem id=2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ID trên URL là dữ liệu do client gửi lên. Người dùng có thể sửa rất dễ. Vì vậy backend phải tự kiểm tra quyền trước khi trả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Tất cả dữ liệu là giả. Chúng ta chỉ chạy local. Có 2 đường dẫn: bản lỗi và bản vá.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mở login, đăng nhập Alice. Sau đó vào /profile_vuln?id=1, rồi sửa thành id=2. Khi hiện Bob thì dừng lại giải thích đây là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phần quan trọng nhất. Route lỗi không biết tài nguyên id=2 thuộc Bob, nên cứ trả về dữ liệu theo ID mà client gửi.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Bản vá không dựa vào URL đơn thuần. Backend lấy current_user từ session, sau đó so sánh với target_id. Nếu không phải owner và không phải admin thì chặn.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trực tiếp: vào /profile_fixed?id=1. Sau đó đổi thành id=2. Khi hiện 403, nói đây là kết quả mong muốn. Nếu còn thời gian, đăng nhập admin để chứng minh role admin được phép.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Threat model giúp chứng minh nhóm hiểu rõ tài sản cần bảo vệ, nguyên nhân lỗi, hậu quả và cách kiểm soát. Nhấn mạnh chỉ demo local và dùng dữ liệu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Qua demo, nhóm em thấy mỗi request liên quan tài nguyên theo ID đều cần kiểm tra authorization. Đây là cách phòng tránh IDOR/Broken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8458200" y="228600"/>
            <a:ext cx="3017520" cy="3017520"/>
          </a:xfrm>
          <a:prstGeom prst="arc">
            <a:avLst/>
          </a:prstGeom>
          <a:solidFill>
            <a:srgbClr val="F8FAFC">
              <a:alpha val="0"/>
            </a:srgbClr>
          </a:solidFill>
          <a:ln w="50800">
            <a:solidFill>
              <a:srgbClr val="06B6D4">
                <a:alpha val="60000"/>
              </a:srgbClr>
            </a:solidFill>
            <a:prstDash val="solid"/>
          </a:ln>
        </p:spPr>
      </p:sp>
      <p:sp>
        <p:nvSpPr>
          <p:cNvPr id="4" name="Shape 2"/>
          <p:cNvSpPr/>
          <p:nvPr/>
        </p:nvSpPr>
        <p:spPr>
          <a:xfrm>
            <a:off x="8759952" y="530352"/>
            <a:ext cx="2423160" cy="2423160"/>
          </a:xfrm>
          <a:prstGeom prst="arc">
            <a:avLst/>
          </a:prstGeom>
          <a:solidFill>
            <a:srgbClr val="F8FAFC">
              <a:alpha val="0"/>
            </a:srgbClr>
          </a:solidFill>
          <a:ln w="25400">
            <a:solidFill>
              <a:srgbClr val="0EA5E9">
                <a:alpha val="45000"/>
              </a:srgbClr>
            </a:solidFill>
            <a:prstDash val="solid"/>
          </a:ln>
        </p:spPr>
      </p:sp>
      <p:sp>
        <p:nvSpPr>
          <p:cNvPr id="5" name="Text 3"/>
          <p:cNvSpPr/>
          <p:nvPr/>
        </p:nvSpPr>
        <p:spPr>
          <a:xfrm>
            <a:off x="8641080" y="1143000"/>
            <a:ext cx="2194560" cy="1280160"/>
          </a:xfrm>
          <a:prstGeom prst="rect">
            <a:avLst/>
          </a:prstGeom>
          <a:noFill/>
          <a:ln/>
        </p:spPr>
        <p:txBody>
          <a:bodyPr wrap="square" lIns="0" tIns="0" rIns="0" bIns="0" rtlCol="0" anchor="ctr"/>
          <a:lstStyle/>
          <a:p>
            <a:pPr algn="ctr" indent="0" marL="0">
              <a:buNone/>
            </a:pPr>
            <a:r>
              <a:rPr lang="en-US" sz="7600" dirty="0">
                <a:solidFill>
                  <a:srgbClr val="000000"/>
                </a:solidFill>
              </a:rPr>
              <a:t>🔐</a:t>
            </a:r>
            <a:endParaRPr lang="en-US" sz="7600" dirty="0"/>
          </a:p>
        </p:txBody>
      </p:sp>
      <p:sp>
        <p:nvSpPr>
          <p:cNvPr id="6" name="Text 4"/>
          <p:cNvSpPr/>
          <p:nvPr/>
        </p:nvSpPr>
        <p:spPr>
          <a:xfrm>
            <a:off x="685800" y="1078992"/>
            <a:ext cx="2286000" cy="457200"/>
          </a:xfrm>
          <a:prstGeom prst="rect">
            <a:avLst/>
          </a:prstGeom>
          <a:noFill/>
          <a:ln/>
        </p:spPr>
        <p:txBody>
          <a:bodyPr wrap="square" lIns="0" tIns="0" rIns="0" bIns="0" rtlCol="0" anchor="ctr"/>
          <a:lstStyle/>
          <a:p>
            <a:pPr indent="0" marL="0">
              <a:buNone/>
            </a:pPr>
            <a:r>
              <a:rPr lang="en-US" sz="2300" b="1" dirty="0">
                <a:solidFill>
                  <a:srgbClr val="06B6D4"/>
                </a:solidFill>
              </a:rPr>
              <a:t>CF08</a:t>
            </a:r>
            <a:endParaRPr lang="en-US" sz="2300" dirty="0"/>
          </a:p>
        </p:txBody>
      </p:sp>
      <p:sp>
        <p:nvSpPr>
          <p:cNvPr id="7" name="Text 5"/>
          <p:cNvSpPr/>
          <p:nvPr/>
        </p:nvSpPr>
        <p:spPr>
          <a:xfrm>
            <a:off x="685800" y="1572768"/>
            <a:ext cx="7680960" cy="914400"/>
          </a:xfrm>
          <a:prstGeom prst="rect">
            <a:avLst/>
          </a:prstGeom>
          <a:noFill/>
          <a:ln/>
        </p:spPr>
        <p:txBody>
          <a:bodyPr wrap="square" lIns="0" tIns="0" rIns="0" bIns="0" rtlCol="0" anchor="ctr">
            <a:normAutofit/>
          </a:bodyPr>
          <a:lstStyle/>
          <a:p>
            <a:pPr indent="0" marL="0">
              <a:buNone/>
            </a:pPr>
            <a:r>
              <a:rPr lang="en-US" sz="4000" b="1" dirty="0">
                <a:solidFill>
                  <a:srgbClr val="0F172A"/>
                </a:solidFill>
              </a:rPr>
              <a:t>Broken Access Control / IDOR</a:t>
            </a:r>
            <a:endParaRPr lang="en-US" sz="4000" dirty="0"/>
          </a:p>
        </p:txBody>
      </p:sp>
      <p:sp>
        <p:nvSpPr>
          <p:cNvPr id="8" name="Text 6"/>
          <p:cNvSpPr/>
          <p:nvPr/>
        </p:nvSpPr>
        <p:spPr>
          <a:xfrm>
            <a:off x="713232" y="2651760"/>
            <a:ext cx="7040880" cy="320040"/>
          </a:xfrm>
          <a:prstGeom prst="rect">
            <a:avLst/>
          </a:prstGeom>
          <a:noFill/>
          <a:ln/>
        </p:spPr>
        <p:txBody>
          <a:bodyPr wrap="square" lIns="0" tIns="0" rIns="0" bIns="0" rtlCol="0" anchor="ctr"/>
          <a:lstStyle/>
          <a:p>
            <a:pPr indent="0" marL="0">
              <a:buNone/>
            </a:pPr>
            <a:r>
              <a:rPr lang="en-US" sz="1800" dirty="0">
                <a:solidFill>
                  <a:srgbClr val="475569"/>
                </a:solidFill>
              </a:rPr>
              <a:t>Demo lỗi phân quyền: đổi ID trên URL để xem dữ liệu người khác</a:t>
            </a:r>
            <a:endParaRPr lang="en-US" sz="1800" dirty="0"/>
          </a:p>
        </p:txBody>
      </p:sp>
      <p:sp>
        <p:nvSpPr>
          <p:cNvPr id="9" name="Text 7"/>
          <p:cNvSpPr/>
          <p:nvPr/>
        </p:nvSpPr>
        <p:spPr>
          <a:xfrm>
            <a:off x="713232" y="3337560"/>
            <a:ext cx="1508760" cy="347472"/>
          </a:xfrm>
          <a:prstGeom prst="rect">
            <a:avLst/>
          </a:prstGeom>
          <a:solidFill>
            <a:srgbClr val="E2E8F0">
              <a:alpha val="95000"/>
            </a:srgbClr>
          </a:solidFill>
          <a:ln>
            <a:solidFill>
              <a:srgbClr val="E2E8F0">
                <a:alpha val="55000"/>
              </a:srgbClr>
            </a:solidFill>
          </a:ln>
        </p:spPr>
        <p:txBody>
          <a:bodyPr wrap="square" lIns="508" tIns="508" rIns="508" bIns="508" rtlCol="0" anchor="ctr"/>
          <a:lstStyle/>
          <a:p>
            <a:pPr algn="ctr" indent="0" marL="0">
              <a:buNone/>
            </a:pPr>
            <a:r>
              <a:rPr lang="en-US" sz="1200" b="1" dirty="0">
                <a:solidFill>
                  <a:srgbClr val="0F172A"/>
                </a:solidFill>
              </a:rPr>
              <a:t>App Flask local</a:t>
            </a:r>
            <a:endParaRPr lang="en-US" sz="1200" dirty="0"/>
          </a:p>
        </p:txBody>
      </p:sp>
      <p:sp>
        <p:nvSpPr>
          <p:cNvPr id="10" name="Text 8"/>
          <p:cNvSpPr/>
          <p:nvPr/>
        </p:nvSpPr>
        <p:spPr>
          <a:xfrm>
            <a:off x="2395728" y="3337560"/>
            <a:ext cx="1234440" cy="347472"/>
          </a:xfrm>
          <a:prstGeom prst="rect">
            <a:avLst/>
          </a:prstGeom>
          <a:solidFill>
            <a:srgbClr val="E2E8F0">
              <a:alpha val="95000"/>
            </a:srgbClr>
          </a:solidFill>
          <a:ln>
            <a:solidFill>
              <a:srgbClr val="E2E8F0">
                <a:alpha val="55000"/>
              </a:srgbClr>
            </a:solidFill>
          </a:ln>
        </p:spPr>
        <p:txBody>
          <a:bodyPr wrap="square" lIns="508" tIns="508" rIns="508" bIns="508" rtlCol="0" anchor="ctr"/>
          <a:lstStyle/>
          <a:p>
            <a:pPr algn="ctr" indent="0" marL="0">
              <a:buNone/>
            </a:pPr>
            <a:r>
              <a:rPr lang="en-US" sz="1200" b="1" dirty="0">
                <a:solidFill>
                  <a:srgbClr val="0F172A"/>
                </a:solidFill>
              </a:rPr>
              <a:t>Dữ liệu giả</a:t>
            </a:r>
            <a:endParaRPr lang="en-US" sz="1200" dirty="0"/>
          </a:p>
        </p:txBody>
      </p:sp>
      <p:sp>
        <p:nvSpPr>
          <p:cNvPr id="11" name="Text 9"/>
          <p:cNvSpPr/>
          <p:nvPr/>
        </p:nvSpPr>
        <p:spPr>
          <a:xfrm>
            <a:off x="3794760" y="3337560"/>
            <a:ext cx="1828800" cy="347472"/>
          </a:xfrm>
          <a:prstGeom prst="rect">
            <a:avLst/>
          </a:prstGeom>
          <a:solidFill>
            <a:srgbClr val="06B6D4">
              <a:alpha val="95000"/>
            </a:srgbClr>
          </a:solidFill>
          <a:ln>
            <a:solidFill>
              <a:srgbClr val="06B6D4">
                <a:alpha val="55000"/>
              </a:srgbClr>
            </a:solidFill>
          </a:ln>
        </p:spPr>
        <p:txBody>
          <a:bodyPr wrap="square" lIns="508" tIns="508" rIns="508" bIns="508" rtlCol="0" anchor="ctr"/>
          <a:lstStyle/>
          <a:p>
            <a:pPr algn="ctr" indent="0" marL="0">
              <a:buNone/>
            </a:pPr>
            <a:r>
              <a:rPr lang="en-US" sz="1200" b="1" dirty="0">
                <a:solidFill>
                  <a:srgbClr val="0F172A"/>
                </a:solidFill>
              </a:rPr>
              <a:t>Có bản lỗi + bản vá</a:t>
            </a:r>
            <a:endParaRPr lang="en-US" sz="1200" dirty="0"/>
          </a:p>
        </p:txBody>
      </p:sp>
      <p:sp>
        <p:nvSpPr>
          <p:cNvPr id="12" name="Text 10"/>
          <p:cNvSpPr/>
          <p:nvPr/>
        </p:nvSpPr>
        <p:spPr>
          <a:xfrm>
            <a:off x="713232" y="5989320"/>
            <a:ext cx="6217920" cy="365760"/>
          </a:xfrm>
          <a:prstGeom prst="rect">
            <a:avLst/>
          </a:prstGeom>
          <a:noFill/>
          <a:ln/>
        </p:spPr>
        <p:txBody>
          <a:bodyPr wrap="square" lIns="0" tIns="0" rIns="0" bIns="0" rtlCol="0" anchor="ctr"/>
          <a:lstStyle/>
          <a:p>
            <a:pPr indent="0" marL="0">
              <a:buNone/>
            </a:pPr>
            <a:r>
              <a:rPr lang="en-US" sz="1500" dirty="0">
                <a:solidFill>
                  <a:srgbClr val="475569"/>
                </a:solidFill>
              </a:rPr>
              <a:t>Nhóm: …   |   Môn: FIT4012 Cyber Fortress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1. Vấn đề cần hiểu</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2</a:t>
            </a:r>
            <a:endParaRPr lang="en-US" sz="800" dirty="0"/>
          </a:p>
        </p:txBody>
      </p:sp>
      <p:sp>
        <p:nvSpPr>
          <p:cNvPr id="8" name="Text 6"/>
          <p:cNvSpPr/>
          <p:nvPr/>
        </p:nvSpPr>
        <p:spPr>
          <a:xfrm>
            <a:off x="777240" y="1143000"/>
            <a:ext cx="7132320" cy="640080"/>
          </a:xfrm>
          <a:prstGeom prst="rect">
            <a:avLst/>
          </a:prstGeom>
          <a:noFill/>
          <a:ln/>
        </p:spPr>
        <p:txBody>
          <a:bodyPr wrap="square" lIns="0" tIns="0" rIns="0" bIns="0" rtlCol="0" anchor="ctr">
            <a:normAutofit/>
          </a:bodyPr>
          <a:lstStyle/>
          <a:p>
            <a:pPr indent="0" marL="0">
              <a:buNone/>
            </a:pPr>
            <a:r>
              <a:rPr lang="en-US" sz="3000" b="1" dirty="0">
                <a:solidFill>
                  <a:srgbClr val="0F172A"/>
                </a:solidFill>
              </a:rPr>
              <a:t>Một người đăng nhập thành công chưa chắc được xem mọi dữ liệu.</a:t>
            </a:r>
            <a:endParaRPr lang="en-US" sz="3000" dirty="0"/>
          </a:p>
        </p:txBody>
      </p:sp>
      <p:sp>
        <p:nvSpPr>
          <p:cNvPr id="9" name="Text 7"/>
          <p:cNvSpPr/>
          <p:nvPr/>
        </p:nvSpPr>
        <p:spPr>
          <a:xfrm>
            <a:off x="804672" y="1920240"/>
            <a:ext cx="7132320" cy="548640"/>
          </a:xfrm>
          <a:prstGeom prst="rect">
            <a:avLst/>
          </a:prstGeom>
          <a:noFill/>
          <a:ln/>
        </p:spPr>
        <p:txBody>
          <a:bodyPr wrap="square" lIns="0" tIns="0" rIns="0" bIns="0" rtlCol="0" anchor="ctr">
            <a:normAutofit/>
          </a:bodyPr>
          <a:lstStyle/>
          <a:p>
            <a:pPr indent="0" marL="0">
              <a:buNone/>
            </a:pPr>
            <a:r>
              <a:rPr lang="en-US" sz="1750" dirty="0">
                <a:solidFill>
                  <a:srgbClr val="475569"/>
                </a:solidFill>
              </a:rPr>
              <a:t>Ví dụ: Alice chỉ được xem hồ sơ Alice. Nếu đổi id=2 mà xem được hồ sơ Bob → lỗi phân quyền.</a:t>
            </a:r>
            <a:endParaRPr lang="en-US" sz="1750" dirty="0"/>
          </a:p>
        </p:txBody>
      </p:sp>
      <p:sp>
        <p:nvSpPr>
          <p:cNvPr id="10" name="Shape 8"/>
          <p:cNvSpPr/>
          <p:nvPr/>
        </p:nvSpPr>
        <p:spPr>
          <a:xfrm>
            <a:off x="1828800" y="4251960"/>
            <a:ext cx="7680960" cy="0"/>
          </a:xfrm>
          <a:prstGeom prst="line">
            <a:avLst/>
          </a:prstGeom>
          <a:noFill/>
          <a:ln w="25400">
            <a:solidFill>
              <a:srgbClr val="CBD5E1"/>
            </a:solidFill>
            <a:prstDash val="solid"/>
          </a:ln>
        </p:spPr>
      </p:sp>
      <p:sp>
        <p:nvSpPr>
          <p:cNvPr id="11" name="Shape 9"/>
          <p:cNvSpPr/>
          <p:nvPr/>
        </p:nvSpPr>
        <p:spPr>
          <a:xfrm>
            <a:off x="914400" y="3337560"/>
            <a:ext cx="2057400" cy="1188720"/>
          </a:xfrm>
          <a:prstGeom prst="roundRect">
            <a:avLst>
              <a:gd name="adj" fmla="val 6154"/>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2" name="Text 10"/>
          <p:cNvSpPr/>
          <p:nvPr/>
        </p:nvSpPr>
        <p:spPr>
          <a:xfrm>
            <a:off x="1024128" y="346557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3" name="Text 11"/>
          <p:cNvSpPr/>
          <p:nvPr/>
        </p:nvSpPr>
        <p:spPr>
          <a:xfrm>
            <a:off x="1481328" y="3474720"/>
            <a:ext cx="13807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Alice</a:t>
            </a:r>
            <a:endParaRPr lang="en-US" sz="1550" dirty="0"/>
          </a:p>
        </p:txBody>
      </p:sp>
      <p:sp>
        <p:nvSpPr>
          <p:cNvPr id="14" name="Text 12"/>
          <p:cNvSpPr/>
          <p:nvPr/>
        </p:nvSpPr>
        <p:spPr>
          <a:xfrm>
            <a:off x="1481328" y="3794760"/>
            <a:ext cx="1380744" cy="676656"/>
          </a:xfrm>
          <a:prstGeom prst="rect">
            <a:avLst/>
          </a:prstGeom>
          <a:noFill/>
          <a:ln/>
        </p:spPr>
        <p:txBody>
          <a:bodyPr wrap="square" lIns="0" tIns="0" rIns="0" bIns="0" rtlCol="0" anchor="ctr">
            <a:normAutofit/>
          </a:bodyPr>
          <a:lstStyle/>
          <a:p>
            <a:pPr indent="0" marL="0">
              <a:buNone/>
            </a:pPr>
            <a:r>
              <a:rPr lang="en-US" sz="1050" dirty="0">
                <a:solidFill>
                  <a:srgbClr val="64748B"/>
                </a:solidFill>
              </a:rPr>
              <a:t>Đã đăng nhập</a:t>
            </a:r>
            <a:endParaRPr lang="en-US" sz="1050" dirty="0"/>
          </a:p>
          <a:p>
            <a:pPr indent="0" marL="0">
              <a:buNone/>
            </a:pPr>
            <a:r>
              <a:rPr lang="en-US" sz="1050" dirty="0">
                <a:solidFill>
                  <a:srgbClr val="64748B"/>
                </a:solidFill>
              </a:rPr>
              <a:t>id = 1</a:t>
            </a:r>
            <a:endParaRPr lang="en-US" sz="1050" dirty="0"/>
          </a:p>
        </p:txBody>
      </p:sp>
      <p:sp>
        <p:nvSpPr>
          <p:cNvPr id="15" name="Shape 13"/>
          <p:cNvSpPr/>
          <p:nvPr/>
        </p:nvSpPr>
        <p:spPr>
          <a:xfrm>
            <a:off x="4983480" y="3136392"/>
            <a:ext cx="2423160" cy="1609344"/>
          </a:xfrm>
          <a:prstGeom prst="roundRect">
            <a:avLst>
              <a:gd name="adj" fmla="val 4545"/>
            </a:avLst>
          </a:prstGeom>
          <a:solidFill>
            <a:srgbClr val="E2E8F0"/>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6" name="Text 14"/>
          <p:cNvSpPr/>
          <p:nvPr/>
        </p:nvSpPr>
        <p:spPr>
          <a:xfrm>
            <a:off x="5093208" y="3264408"/>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7" name="Text 15"/>
          <p:cNvSpPr/>
          <p:nvPr/>
        </p:nvSpPr>
        <p:spPr>
          <a:xfrm>
            <a:off x="5550408" y="3273552"/>
            <a:ext cx="174650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Cửa backend</a:t>
            </a:r>
            <a:endParaRPr lang="en-US" sz="1550" dirty="0"/>
          </a:p>
        </p:txBody>
      </p:sp>
      <p:sp>
        <p:nvSpPr>
          <p:cNvPr id="18" name="Text 16"/>
          <p:cNvSpPr/>
          <p:nvPr/>
        </p:nvSpPr>
        <p:spPr>
          <a:xfrm>
            <a:off x="5550408" y="3593592"/>
            <a:ext cx="1746504" cy="1097280"/>
          </a:xfrm>
          <a:prstGeom prst="rect">
            <a:avLst/>
          </a:prstGeom>
          <a:noFill/>
          <a:ln/>
        </p:spPr>
        <p:txBody>
          <a:bodyPr wrap="square" lIns="0" tIns="0" rIns="0" bIns="0" rtlCol="0" anchor="ctr">
            <a:normAutofit/>
          </a:bodyPr>
          <a:lstStyle/>
          <a:p>
            <a:pPr indent="0" marL="0">
              <a:buNone/>
            </a:pPr>
            <a:r>
              <a:rPr lang="en-US" sz="1050" dirty="0">
                <a:solidFill>
                  <a:srgbClr val="64748B"/>
                </a:solidFill>
              </a:rPr>
              <a:t>Phải kiểm tra quyền</a:t>
            </a:r>
            <a:endParaRPr lang="en-US" sz="1050" dirty="0"/>
          </a:p>
          <a:p>
            <a:pPr indent="0" marL="0">
              <a:buNone/>
            </a:pPr>
            <a:r>
              <a:rPr lang="en-US" sz="1050" dirty="0">
                <a:solidFill>
                  <a:srgbClr val="64748B"/>
                </a:solidFill>
              </a:rPr>
              <a:t>trước khi trả dữ liệu</a:t>
            </a:r>
            <a:endParaRPr lang="en-US" sz="1050" dirty="0"/>
          </a:p>
        </p:txBody>
      </p:sp>
      <p:sp>
        <p:nvSpPr>
          <p:cNvPr id="19" name="Shape 17"/>
          <p:cNvSpPr/>
          <p:nvPr/>
        </p:nvSpPr>
        <p:spPr>
          <a:xfrm>
            <a:off x="8915400" y="3337560"/>
            <a:ext cx="2057400" cy="1188720"/>
          </a:xfrm>
          <a:prstGeom prst="roundRect">
            <a:avLst>
              <a:gd name="adj" fmla="val 6154"/>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0" name="Text 18"/>
          <p:cNvSpPr/>
          <p:nvPr/>
        </p:nvSpPr>
        <p:spPr>
          <a:xfrm>
            <a:off x="9025128" y="346557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21" name="Text 19"/>
          <p:cNvSpPr/>
          <p:nvPr/>
        </p:nvSpPr>
        <p:spPr>
          <a:xfrm>
            <a:off x="9482328" y="3474720"/>
            <a:ext cx="13807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Bob</a:t>
            </a:r>
            <a:endParaRPr lang="en-US" sz="1550" dirty="0"/>
          </a:p>
        </p:txBody>
      </p:sp>
      <p:sp>
        <p:nvSpPr>
          <p:cNvPr id="22" name="Text 20"/>
          <p:cNvSpPr/>
          <p:nvPr/>
        </p:nvSpPr>
        <p:spPr>
          <a:xfrm>
            <a:off x="9482328" y="3794760"/>
            <a:ext cx="1380744" cy="676656"/>
          </a:xfrm>
          <a:prstGeom prst="rect">
            <a:avLst/>
          </a:prstGeom>
          <a:noFill/>
          <a:ln/>
        </p:spPr>
        <p:txBody>
          <a:bodyPr wrap="square" lIns="0" tIns="0" rIns="0" bIns="0" rtlCol="0" anchor="ctr">
            <a:normAutofit/>
          </a:bodyPr>
          <a:lstStyle/>
          <a:p>
            <a:pPr indent="0" marL="0">
              <a:buNone/>
            </a:pPr>
            <a:r>
              <a:rPr lang="en-US" sz="1050" dirty="0">
                <a:solidFill>
                  <a:srgbClr val="64748B"/>
                </a:solidFill>
              </a:rPr>
              <a:t>Dữ liệu riêng tư</a:t>
            </a:r>
            <a:endParaRPr lang="en-US" sz="1050" dirty="0"/>
          </a:p>
          <a:p>
            <a:pPr indent="0" marL="0">
              <a:buNone/>
            </a:pPr>
            <a:r>
              <a:rPr lang="en-US" sz="1050" dirty="0">
                <a:solidFill>
                  <a:srgbClr val="64748B"/>
                </a:solidFill>
              </a:rPr>
              <a:t>id = 2</a:t>
            </a:r>
            <a:endParaRPr lang="en-US" sz="1050" dirty="0"/>
          </a:p>
        </p:txBody>
      </p:sp>
      <p:sp>
        <p:nvSpPr>
          <p:cNvPr id="23" name="Shape 21"/>
          <p:cNvSpPr/>
          <p:nvPr/>
        </p:nvSpPr>
        <p:spPr>
          <a:xfrm>
            <a:off x="3017520" y="3931920"/>
            <a:ext cx="1783080" cy="0"/>
          </a:xfrm>
          <a:prstGeom prst="line">
            <a:avLst/>
          </a:prstGeom>
          <a:noFill/>
          <a:ln w="27940">
            <a:solidFill>
              <a:srgbClr val="06B6D4"/>
            </a:solidFill>
            <a:prstDash val="solid"/>
            <a:headEnd type="none"/>
            <a:tailEnd type="triangle"/>
          </a:ln>
        </p:spPr>
      </p:sp>
      <p:sp>
        <p:nvSpPr>
          <p:cNvPr id="24" name="Shape 22"/>
          <p:cNvSpPr/>
          <p:nvPr/>
        </p:nvSpPr>
        <p:spPr>
          <a:xfrm>
            <a:off x="7543800" y="3931920"/>
            <a:ext cx="1188720" cy="0"/>
          </a:xfrm>
          <a:prstGeom prst="line">
            <a:avLst/>
          </a:prstGeom>
          <a:noFill/>
          <a:ln w="27940">
            <a:solidFill>
              <a:srgbClr val="DC2626"/>
            </a:solidFill>
            <a:prstDash val="solid"/>
            <a:headEnd type="none"/>
            <a:tailEnd type="triangle"/>
          </a:ln>
        </p:spPr>
      </p:sp>
      <p:sp>
        <p:nvSpPr>
          <p:cNvPr id="25" name="Text 23"/>
          <p:cNvSpPr/>
          <p:nvPr/>
        </p:nvSpPr>
        <p:spPr>
          <a:xfrm>
            <a:off x="1097280" y="5257800"/>
            <a:ext cx="9875520" cy="457200"/>
          </a:xfrm>
          <a:prstGeom prst="rect">
            <a:avLst/>
          </a:prstGeom>
          <a:noFill/>
          <a:ln/>
        </p:spPr>
        <p:txBody>
          <a:bodyPr wrap="square" lIns="0" tIns="0" rIns="0" bIns="0" rtlCol="0" anchor="ctr"/>
          <a:lstStyle/>
          <a:p>
            <a:pPr algn="ctr" indent="0" marL="0">
              <a:buNone/>
            </a:pPr>
            <a:r>
              <a:rPr lang="en-US" sz="2000" b="1" dirty="0">
                <a:solidFill>
                  <a:srgbClr val="06B6D4"/>
                </a:solidFill>
              </a:rPr>
              <a:t>Câu hỏi chính: backend có chặn Alice trước dữ liệu Bob không?</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2. Khái niệm nền tảng</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3</a:t>
            </a:r>
            <a:endParaRPr lang="en-US" sz="800" dirty="0"/>
          </a:p>
        </p:txBody>
      </p:sp>
      <p:sp>
        <p:nvSpPr>
          <p:cNvPr id="8" name="Text 6"/>
          <p:cNvSpPr/>
          <p:nvPr/>
        </p:nvSpPr>
        <p:spPr>
          <a:xfrm>
            <a:off x="777240" y="1005840"/>
            <a:ext cx="6400800" cy="457200"/>
          </a:xfrm>
          <a:prstGeom prst="rect">
            <a:avLst/>
          </a:prstGeom>
          <a:noFill/>
          <a:ln/>
        </p:spPr>
        <p:txBody>
          <a:bodyPr wrap="square" lIns="0" tIns="0" rIns="0" bIns="0" rtlCol="0" anchor="ctr"/>
          <a:lstStyle/>
          <a:p>
            <a:pPr indent="0" marL="0">
              <a:buNone/>
            </a:pPr>
            <a:r>
              <a:rPr lang="en-US" sz="3000" b="1" dirty="0">
                <a:solidFill>
                  <a:srgbClr val="0F172A"/>
                </a:solidFill>
              </a:rPr>
              <a:t>Authentication ≠ Authorization</a:t>
            </a:r>
            <a:endParaRPr lang="en-US" sz="3000" dirty="0"/>
          </a:p>
        </p:txBody>
      </p:sp>
      <p:sp>
        <p:nvSpPr>
          <p:cNvPr id="9" name="Text 7"/>
          <p:cNvSpPr/>
          <p:nvPr/>
        </p:nvSpPr>
        <p:spPr>
          <a:xfrm>
            <a:off x="795528" y="1572768"/>
            <a:ext cx="6858000" cy="274320"/>
          </a:xfrm>
          <a:prstGeom prst="rect">
            <a:avLst/>
          </a:prstGeom>
          <a:noFill/>
          <a:ln/>
        </p:spPr>
        <p:txBody>
          <a:bodyPr wrap="square" lIns="0" tIns="0" rIns="0" bIns="0" rtlCol="0" anchor="ctr"/>
          <a:lstStyle/>
          <a:p>
            <a:pPr indent="0" marL="0">
              <a:buNone/>
            </a:pPr>
            <a:r>
              <a:rPr lang="en-US" sz="1600" dirty="0">
                <a:solidFill>
                  <a:srgbClr val="475569"/>
                </a:solidFill>
              </a:rPr>
              <a:t>Hai bước này thường bị nhầm lẫn trong lỗi IDOR.</a:t>
            </a:r>
            <a:endParaRPr lang="en-US" sz="1600" dirty="0"/>
          </a:p>
        </p:txBody>
      </p:sp>
      <p:sp>
        <p:nvSpPr>
          <p:cNvPr id="10" name="Shape 8"/>
          <p:cNvSpPr/>
          <p:nvPr/>
        </p:nvSpPr>
        <p:spPr>
          <a:xfrm>
            <a:off x="868680" y="2514600"/>
            <a:ext cx="4114800" cy="1463040"/>
          </a:xfrm>
          <a:prstGeom prst="roundRect">
            <a:avLst>
              <a:gd name="adj" fmla="val 5000"/>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1" name="Text 9"/>
          <p:cNvSpPr/>
          <p:nvPr/>
        </p:nvSpPr>
        <p:spPr>
          <a:xfrm>
            <a:off x="978408" y="26426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2" name="Text 10"/>
          <p:cNvSpPr/>
          <p:nvPr/>
        </p:nvSpPr>
        <p:spPr>
          <a:xfrm>
            <a:off x="1435608" y="2651760"/>
            <a:ext cx="34381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Authentication</a:t>
            </a:r>
            <a:endParaRPr lang="en-US" sz="1550" dirty="0"/>
          </a:p>
        </p:txBody>
      </p:sp>
      <p:sp>
        <p:nvSpPr>
          <p:cNvPr id="13" name="Text 11"/>
          <p:cNvSpPr/>
          <p:nvPr/>
        </p:nvSpPr>
        <p:spPr>
          <a:xfrm>
            <a:off x="1435608" y="2971800"/>
            <a:ext cx="34381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Xác thực: “Bạn là ai?”</a:t>
            </a:r>
            <a:endParaRPr lang="en-US" sz="1050" dirty="0"/>
          </a:p>
          <a:p>
            <a:pPr indent="0" marL="0">
              <a:buNone/>
            </a:pPr>
            <a:r>
              <a:rPr lang="en-US" sz="1050" dirty="0">
                <a:solidFill>
                  <a:srgbClr val="64748B"/>
                </a:solidFill>
              </a:rPr>
              <a:t>Ví dụ: nhập username/password</a:t>
            </a:r>
            <a:endParaRPr lang="en-US" sz="1050" dirty="0"/>
          </a:p>
        </p:txBody>
      </p:sp>
      <p:sp>
        <p:nvSpPr>
          <p:cNvPr id="14" name="Shape 12"/>
          <p:cNvSpPr/>
          <p:nvPr/>
        </p:nvSpPr>
        <p:spPr>
          <a:xfrm>
            <a:off x="7178040" y="2514600"/>
            <a:ext cx="4160520" cy="1463040"/>
          </a:xfrm>
          <a:prstGeom prst="roundRect">
            <a:avLst>
              <a:gd name="adj" fmla="val 5000"/>
            </a:avLst>
          </a:prstGeom>
          <a:solidFill>
            <a:srgbClr val="DBEAFE"/>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5" name="Text 13"/>
          <p:cNvSpPr/>
          <p:nvPr/>
        </p:nvSpPr>
        <p:spPr>
          <a:xfrm>
            <a:off x="7287768" y="26426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6" name="Text 14"/>
          <p:cNvSpPr/>
          <p:nvPr/>
        </p:nvSpPr>
        <p:spPr>
          <a:xfrm>
            <a:off x="7744968" y="2651760"/>
            <a:ext cx="348386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Authorization</a:t>
            </a:r>
            <a:endParaRPr lang="en-US" sz="1550" dirty="0"/>
          </a:p>
        </p:txBody>
      </p:sp>
      <p:sp>
        <p:nvSpPr>
          <p:cNvPr id="17" name="Text 15"/>
          <p:cNvSpPr/>
          <p:nvPr/>
        </p:nvSpPr>
        <p:spPr>
          <a:xfrm>
            <a:off x="7744968" y="2971800"/>
            <a:ext cx="348386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Phân quyền: “Bạn được phép làm gì?”</a:t>
            </a:r>
            <a:endParaRPr lang="en-US" sz="1050" dirty="0"/>
          </a:p>
          <a:p>
            <a:pPr indent="0" marL="0">
              <a:buNone/>
            </a:pPr>
            <a:r>
              <a:rPr lang="en-US" sz="1050" dirty="0">
                <a:solidFill>
                  <a:srgbClr val="64748B"/>
                </a:solidFill>
              </a:rPr>
              <a:t>Ví dụ: chỉ xem hồ sơ của mình</a:t>
            </a:r>
            <a:endParaRPr lang="en-US" sz="1050" dirty="0"/>
          </a:p>
        </p:txBody>
      </p:sp>
      <p:sp>
        <p:nvSpPr>
          <p:cNvPr id="18" name="Shape 16"/>
          <p:cNvSpPr/>
          <p:nvPr/>
        </p:nvSpPr>
        <p:spPr>
          <a:xfrm>
            <a:off x="5212080" y="3246120"/>
            <a:ext cx="1691640" cy="0"/>
          </a:xfrm>
          <a:prstGeom prst="line">
            <a:avLst/>
          </a:prstGeom>
          <a:noFill/>
          <a:ln w="27940">
            <a:solidFill>
              <a:srgbClr val="06B6D4"/>
            </a:solidFill>
            <a:prstDash val="solid"/>
            <a:headEnd type="none"/>
            <a:tailEnd type="triangle"/>
          </a:ln>
        </p:spPr>
      </p:sp>
      <p:sp>
        <p:nvSpPr>
          <p:cNvPr id="19" name="Text 17"/>
          <p:cNvSpPr/>
          <p:nvPr/>
        </p:nvSpPr>
        <p:spPr>
          <a:xfrm>
            <a:off x="1234440" y="4892040"/>
            <a:ext cx="9738360" cy="548640"/>
          </a:xfrm>
          <a:prstGeom prst="rect">
            <a:avLst/>
          </a:prstGeom>
          <a:noFill/>
          <a:ln/>
        </p:spPr>
        <p:txBody>
          <a:bodyPr wrap="square" lIns="0" tIns="0" rIns="0" bIns="0" rtlCol="0" anchor="ctr">
            <a:normAutofit/>
          </a:bodyPr>
          <a:lstStyle/>
          <a:p>
            <a:pPr algn="ctr" indent="0" marL="0">
              <a:buNone/>
            </a:pPr>
            <a:r>
              <a:rPr lang="en-US" sz="2200" b="1" dirty="0">
                <a:solidFill>
                  <a:srgbClr val="D97706"/>
                </a:solidFill>
              </a:rPr>
              <a:t>IDOR xảy ra khi hệ thống đã xác thực nhưng kiểm tra phân quyền không đủ.</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3. IDOR là gì?</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4</a:t>
            </a:r>
            <a:endParaRPr lang="en-US" sz="800" dirty="0"/>
          </a:p>
        </p:txBody>
      </p:sp>
      <p:sp>
        <p:nvSpPr>
          <p:cNvPr id="8" name="Text 6"/>
          <p:cNvSpPr/>
          <p:nvPr/>
        </p:nvSpPr>
        <p:spPr>
          <a:xfrm>
            <a:off x="731520" y="1024128"/>
            <a:ext cx="7955280" cy="438912"/>
          </a:xfrm>
          <a:prstGeom prst="rect">
            <a:avLst/>
          </a:prstGeom>
          <a:noFill/>
          <a:ln/>
        </p:spPr>
        <p:txBody>
          <a:bodyPr wrap="square" lIns="0" tIns="0" rIns="0" bIns="0" rtlCol="0" anchor="ctr">
            <a:normAutofit/>
          </a:bodyPr>
          <a:lstStyle/>
          <a:p>
            <a:pPr indent="0" marL="0">
              <a:buNone/>
            </a:pPr>
            <a:r>
              <a:rPr lang="en-US" sz="2400" b="1" dirty="0">
                <a:solidFill>
                  <a:srgbClr val="0F172A"/>
                </a:solidFill>
              </a:rPr>
              <a:t>IDOR = Insecure Direct Object Reference</a:t>
            </a:r>
            <a:endParaRPr lang="en-US" sz="2400" dirty="0"/>
          </a:p>
        </p:txBody>
      </p:sp>
      <p:sp>
        <p:nvSpPr>
          <p:cNvPr id="9" name="Text 7"/>
          <p:cNvSpPr/>
          <p:nvPr/>
        </p:nvSpPr>
        <p:spPr>
          <a:xfrm>
            <a:off x="749808" y="1664208"/>
            <a:ext cx="8046720" cy="320040"/>
          </a:xfrm>
          <a:prstGeom prst="rect">
            <a:avLst/>
          </a:prstGeom>
          <a:noFill/>
          <a:ln/>
        </p:spPr>
        <p:txBody>
          <a:bodyPr wrap="square" lIns="0" tIns="0" rIns="0" bIns="0" rtlCol="0" anchor="ctr">
            <a:normAutofit/>
          </a:bodyPr>
          <a:lstStyle/>
          <a:p>
            <a:pPr indent="0" marL="0">
              <a:buNone/>
            </a:pPr>
            <a:r>
              <a:rPr lang="en-US" sz="1650" dirty="0">
                <a:solidFill>
                  <a:srgbClr val="475569"/>
                </a:solidFill>
              </a:rPr>
              <a:t>Client gửi ID trực tiếp → backend lấy tài nguyên theo ID → nhưng quên kiểm tra quyền.</a:t>
            </a:r>
            <a:endParaRPr lang="en-US" sz="1650" dirty="0"/>
          </a:p>
        </p:txBody>
      </p:sp>
      <p:sp>
        <p:nvSpPr>
          <p:cNvPr id="10" name="Text 8"/>
          <p:cNvSpPr/>
          <p:nvPr/>
        </p:nvSpPr>
        <p:spPr>
          <a:xfrm>
            <a:off x="868680" y="2331720"/>
            <a:ext cx="4754880" cy="1325880"/>
          </a:xfrm>
          <a:prstGeom prst="rect">
            <a:avLst/>
          </a:prstGeom>
          <a:solidFill>
            <a:srgbClr val="F1F5F9"/>
          </a:solidFill>
          <a:ln w="12700">
            <a:solidFill>
              <a:srgbClr val="CBD5E1"/>
            </a:solidFill>
          </a:ln>
        </p:spPr>
        <p:txBody>
          <a:bodyPr wrap="square" lIns="2032" tIns="2032" rIns="2032" bIns="2032" rtlCol="0" anchor="ctr">
            <a:normAutofit/>
          </a:bodyPr>
          <a:lstStyle/>
          <a:p>
            <a:pPr indent="0" marL="0">
              <a:buNone/>
            </a:pPr>
            <a:r>
              <a:rPr lang="en-US" sz="1800" dirty="0">
                <a:solidFill>
                  <a:srgbClr val="0F172A"/>
                </a:solidFill>
                <a:latin typeface="Consolas" pitchFamily="34" charset="0"/>
                <a:ea typeface="Consolas" pitchFamily="34" charset="-122"/>
                <a:cs typeface="Consolas" pitchFamily="34" charset="-120"/>
              </a:rPr>
              <a:t>GET /profile?id=1   → hồ sơ Alice</a:t>
            </a:r>
            <a:endParaRPr lang="en-US" sz="1800" dirty="0"/>
          </a:p>
          <a:p>
            <a:pPr indent="0" marL="0">
              <a:buNone/>
            </a:pPr>
            <a:r>
              <a:rPr lang="en-US" sz="1800" dirty="0">
                <a:solidFill>
                  <a:srgbClr val="0F172A"/>
                </a:solidFill>
                <a:latin typeface="Consolas" pitchFamily="34" charset="0"/>
                <a:ea typeface="Consolas" pitchFamily="34" charset="-122"/>
                <a:cs typeface="Consolas" pitchFamily="34" charset="-120"/>
              </a:rPr>
              <a:t>GET /profile?id=2   → hồ sơ Bob</a:t>
            </a:r>
            <a:endParaRPr lang="en-US" sz="1800" dirty="0"/>
          </a:p>
        </p:txBody>
      </p:sp>
      <p:sp>
        <p:nvSpPr>
          <p:cNvPr id="11" name="Shape 9"/>
          <p:cNvSpPr/>
          <p:nvPr/>
        </p:nvSpPr>
        <p:spPr>
          <a:xfrm>
            <a:off x="5943600" y="2990088"/>
            <a:ext cx="1005840" cy="0"/>
          </a:xfrm>
          <a:prstGeom prst="line">
            <a:avLst/>
          </a:prstGeom>
          <a:noFill/>
          <a:ln w="38100">
            <a:solidFill>
              <a:srgbClr val="DC2626"/>
            </a:solidFill>
            <a:prstDash val="solid"/>
            <a:headEnd type="none"/>
            <a:tailEnd type="triangle"/>
          </a:ln>
        </p:spPr>
      </p:sp>
      <p:sp>
        <p:nvSpPr>
          <p:cNvPr id="12" name="Shape 10"/>
          <p:cNvSpPr/>
          <p:nvPr/>
        </p:nvSpPr>
        <p:spPr>
          <a:xfrm>
            <a:off x="7178040" y="2240280"/>
            <a:ext cx="3794760" cy="1508760"/>
          </a:xfrm>
          <a:prstGeom prst="roundRect">
            <a:avLst>
              <a:gd name="adj" fmla="val 4848"/>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3" name="Text 11"/>
          <p:cNvSpPr/>
          <p:nvPr/>
        </p:nvSpPr>
        <p:spPr>
          <a:xfrm>
            <a:off x="7287768" y="236829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4" name="Text 12"/>
          <p:cNvSpPr/>
          <p:nvPr/>
        </p:nvSpPr>
        <p:spPr>
          <a:xfrm>
            <a:off x="7744968" y="2377440"/>
            <a:ext cx="311810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Lỗi</a:t>
            </a:r>
            <a:endParaRPr lang="en-US" sz="1550" dirty="0"/>
          </a:p>
        </p:txBody>
      </p:sp>
      <p:sp>
        <p:nvSpPr>
          <p:cNvPr id="15" name="Text 13"/>
          <p:cNvSpPr/>
          <p:nvPr/>
        </p:nvSpPr>
        <p:spPr>
          <a:xfrm>
            <a:off x="7744968" y="2697480"/>
            <a:ext cx="3118104" cy="996696"/>
          </a:xfrm>
          <a:prstGeom prst="rect">
            <a:avLst/>
          </a:prstGeom>
          <a:noFill/>
          <a:ln/>
        </p:spPr>
        <p:txBody>
          <a:bodyPr wrap="square" lIns="0" tIns="0" rIns="0" bIns="0" rtlCol="0" anchor="ctr">
            <a:normAutofit/>
          </a:bodyPr>
          <a:lstStyle/>
          <a:p>
            <a:pPr indent="0" marL="0">
              <a:buNone/>
            </a:pPr>
            <a:r>
              <a:rPr lang="en-US" sz="1050" dirty="0">
                <a:solidFill>
                  <a:srgbClr val="64748B"/>
                </a:solidFill>
              </a:rPr>
              <a:t>Alice sửa id=1 thành id=2</a:t>
            </a:r>
            <a:endParaRPr lang="en-US" sz="1050" dirty="0"/>
          </a:p>
          <a:p>
            <a:pPr indent="0" marL="0">
              <a:buNone/>
            </a:pPr>
            <a:r>
              <a:rPr lang="en-US" sz="1050" dirty="0">
                <a:solidFill>
                  <a:srgbClr val="64748B"/>
                </a:solidFill>
              </a:rPr>
              <a:t>và xem được dữ liệu Bob</a:t>
            </a:r>
            <a:endParaRPr lang="en-US" sz="1050" dirty="0"/>
          </a:p>
        </p:txBody>
      </p:sp>
      <p:sp>
        <p:nvSpPr>
          <p:cNvPr id="16" name="Text 14"/>
          <p:cNvSpPr/>
          <p:nvPr/>
        </p:nvSpPr>
        <p:spPr>
          <a:xfrm>
            <a:off x="1005840" y="4919472"/>
            <a:ext cx="10241280" cy="548640"/>
          </a:xfrm>
          <a:prstGeom prst="rect">
            <a:avLst/>
          </a:prstGeom>
          <a:noFill/>
          <a:ln/>
        </p:spPr>
        <p:txBody>
          <a:bodyPr wrap="square" lIns="0" tIns="0" rIns="0" bIns="0" rtlCol="0" anchor="ctr">
            <a:normAutofit/>
          </a:bodyPr>
          <a:lstStyle/>
          <a:p>
            <a:pPr algn="ctr" indent="0" marL="0">
              <a:buNone/>
            </a:pPr>
            <a:r>
              <a:rPr lang="en-US" sz="2300" b="1" dirty="0">
                <a:solidFill>
                  <a:srgbClr val="06B6D4"/>
                </a:solidFill>
              </a:rPr>
              <a:t>Không được tin tưởng ID từ URL, form, body request hoặc header.</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4. Dữ liệu và đường dẫn demo</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5</a:t>
            </a:r>
            <a:endParaRPr lang="en-US" sz="800" dirty="0"/>
          </a:p>
        </p:txBody>
      </p:sp>
      <p:sp>
        <p:nvSpPr>
          <p:cNvPr id="8" name="Text 6"/>
          <p:cNvSpPr/>
          <p:nvPr/>
        </p:nvSpPr>
        <p:spPr>
          <a:xfrm>
            <a:off x="777240" y="960120"/>
            <a:ext cx="7132320" cy="411480"/>
          </a:xfrm>
          <a:prstGeom prst="rect">
            <a:avLst/>
          </a:prstGeom>
          <a:noFill/>
          <a:ln/>
        </p:spPr>
        <p:txBody>
          <a:bodyPr wrap="square" lIns="0" tIns="0" rIns="0" bIns="0" rtlCol="0" anchor="ctr"/>
          <a:lstStyle/>
          <a:p>
            <a:pPr indent="0" marL="0">
              <a:buNone/>
            </a:pPr>
            <a:r>
              <a:rPr lang="en-US" sz="2500" b="1" dirty="0">
                <a:solidFill>
                  <a:srgbClr val="0F172A"/>
                </a:solidFill>
              </a:rPr>
              <a:t>Demo dùng dữ liệu giả, chạy local trên máy cá nhân.</a:t>
            </a:r>
            <a:endParaRPr lang="en-US" sz="2500" dirty="0"/>
          </a:p>
        </p:txBody>
      </p:sp>
      <p:sp>
        <p:nvSpPr>
          <p:cNvPr id="9" name="Shape 7"/>
          <p:cNvSpPr/>
          <p:nvPr/>
        </p:nvSpPr>
        <p:spPr>
          <a:xfrm>
            <a:off x="868680" y="1828800"/>
            <a:ext cx="2971800" cy="1463040"/>
          </a:xfrm>
          <a:prstGeom prst="roundRect">
            <a:avLst>
              <a:gd name="adj" fmla="val 5000"/>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0" name="Text 8"/>
          <p:cNvSpPr/>
          <p:nvPr/>
        </p:nvSpPr>
        <p:spPr>
          <a:xfrm>
            <a:off x="97840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1" name="Text 9"/>
          <p:cNvSpPr/>
          <p:nvPr/>
        </p:nvSpPr>
        <p:spPr>
          <a:xfrm>
            <a:off x="1435608" y="1965960"/>
            <a:ext cx="22951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Alice</a:t>
            </a:r>
            <a:endParaRPr lang="en-US" sz="1550" dirty="0"/>
          </a:p>
        </p:txBody>
      </p:sp>
      <p:sp>
        <p:nvSpPr>
          <p:cNvPr id="12" name="Text 10"/>
          <p:cNvSpPr/>
          <p:nvPr/>
        </p:nvSpPr>
        <p:spPr>
          <a:xfrm>
            <a:off x="1435608" y="2286000"/>
            <a:ext cx="22951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username: alice</a:t>
            </a:r>
            <a:endParaRPr lang="en-US" sz="1050" dirty="0"/>
          </a:p>
          <a:p>
            <a:pPr indent="0" marL="0">
              <a:buNone/>
            </a:pPr>
            <a:r>
              <a:rPr lang="en-US" sz="1050" dirty="0">
                <a:solidFill>
                  <a:srgbClr val="64748B"/>
                </a:solidFill>
              </a:rPr>
              <a:t>password: 123456</a:t>
            </a:r>
            <a:endParaRPr lang="en-US" sz="1050" dirty="0"/>
          </a:p>
          <a:p>
            <a:pPr indent="0" marL="0">
              <a:buNone/>
            </a:pPr>
            <a:r>
              <a:rPr lang="en-US" sz="1050" dirty="0">
                <a:solidFill>
                  <a:srgbClr val="64748B"/>
                </a:solidFill>
              </a:rPr>
              <a:t>role: user • id=1</a:t>
            </a:r>
            <a:endParaRPr lang="en-US" sz="1050" dirty="0"/>
          </a:p>
        </p:txBody>
      </p:sp>
      <p:sp>
        <p:nvSpPr>
          <p:cNvPr id="13" name="Shape 11"/>
          <p:cNvSpPr/>
          <p:nvPr/>
        </p:nvSpPr>
        <p:spPr>
          <a:xfrm>
            <a:off x="4617720" y="1828800"/>
            <a:ext cx="2971800" cy="1463040"/>
          </a:xfrm>
          <a:prstGeom prst="roundRect">
            <a:avLst>
              <a:gd name="adj" fmla="val 5000"/>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4" name="Text 12"/>
          <p:cNvSpPr/>
          <p:nvPr/>
        </p:nvSpPr>
        <p:spPr>
          <a:xfrm>
            <a:off x="472744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5" name="Text 13"/>
          <p:cNvSpPr/>
          <p:nvPr/>
        </p:nvSpPr>
        <p:spPr>
          <a:xfrm>
            <a:off x="5184648" y="1965960"/>
            <a:ext cx="22951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Bob</a:t>
            </a:r>
            <a:endParaRPr lang="en-US" sz="1550" dirty="0"/>
          </a:p>
        </p:txBody>
      </p:sp>
      <p:sp>
        <p:nvSpPr>
          <p:cNvPr id="16" name="Text 14"/>
          <p:cNvSpPr/>
          <p:nvPr/>
        </p:nvSpPr>
        <p:spPr>
          <a:xfrm>
            <a:off x="5184648" y="2286000"/>
            <a:ext cx="22951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username: bob</a:t>
            </a:r>
            <a:endParaRPr lang="en-US" sz="1050" dirty="0"/>
          </a:p>
          <a:p>
            <a:pPr indent="0" marL="0">
              <a:buNone/>
            </a:pPr>
            <a:r>
              <a:rPr lang="en-US" sz="1050" dirty="0">
                <a:solidFill>
                  <a:srgbClr val="64748B"/>
                </a:solidFill>
              </a:rPr>
              <a:t>password: 123456</a:t>
            </a:r>
            <a:endParaRPr lang="en-US" sz="1050" dirty="0"/>
          </a:p>
          <a:p>
            <a:pPr indent="0" marL="0">
              <a:buNone/>
            </a:pPr>
            <a:r>
              <a:rPr lang="en-US" sz="1050" dirty="0">
                <a:solidFill>
                  <a:srgbClr val="64748B"/>
                </a:solidFill>
              </a:rPr>
              <a:t>role: user • id=2</a:t>
            </a:r>
            <a:endParaRPr lang="en-US" sz="1050" dirty="0"/>
          </a:p>
        </p:txBody>
      </p:sp>
      <p:sp>
        <p:nvSpPr>
          <p:cNvPr id="17" name="Shape 15"/>
          <p:cNvSpPr/>
          <p:nvPr/>
        </p:nvSpPr>
        <p:spPr>
          <a:xfrm>
            <a:off x="8366760" y="1828800"/>
            <a:ext cx="2971800" cy="1463040"/>
          </a:xfrm>
          <a:prstGeom prst="roundRect">
            <a:avLst>
              <a:gd name="adj" fmla="val 5000"/>
            </a:avLst>
          </a:prstGeom>
          <a:solidFill>
            <a:srgbClr val="EDE9FE"/>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8" name="Text 16"/>
          <p:cNvSpPr/>
          <p:nvPr/>
        </p:nvSpPr>
        <p:spPr>
          <a:xfrm>
            <a:off x="847648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9" name="Text 17"/>
          <p:cNvSpPr/>
          <p:nvPr/>
        </p:nvSpPr>
        <p:spPr>
          <a:xfrm>
            <a:off x="8933688" y="1965960"/>
            <a:ext cx="22951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Admin</a:t>
            </a:r>
            <a:endParaRPr lang="en-US" sz="1550" dirty="0"/>
          </a:p>
        </p:txBody>
      </p:sp>
      <p:sp>
        <p:nvSpPr>
          <p:cNvPr id="20" name="Text 18"/>
          <p:cNvSpPr/>
          <p:nvPr/>
        </p:nvSpPr>
        <p:spPr>
          <a:xfrm>
            <a:off x="8933688" y="2286000"/>
            <a:ext cx="22951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username: admin</a:t>
            </a:r>
            <a:endParaRPr lang="en-US" sz="1050" dirty="0"/>
          </a:p>
          <a:p>
            <a:pPr indent="0" marL="0">
              <a:buNone/>
            </a:pPr>
            <a:r>
              <a:rPr lang="en-US" sz="1050" dirty="0">
                <a:solidFill>
                  <a:srgbClr val="64748B"/>
                </a:solidFill>
              </a:rPr>
              <a:t>password: admin123</a:t>
            </a:r>
            <a:endParaRPr lang="en-US" sz="1050" dirty="0"/>
          </a:p>
          <a:p>
            <a:pPr indent="0" marL="0">
              <a:buNone/>
            </a:pPr>
            <a:r>
              <a:rPr lang="en-US" sz="1050" dirty="0">
                <a:solidFill>
                  <a:srgbClr val="64748B"/>
                </a:solidFill>
              </a:rPr>
              <a:t>role: admin • id=3</a:t>
            </a:r>
            <a:endParaRPr lang="en-US" sz="1050" dirty="0"/>
          </a:p>
        </p:txBody>
      </p:sp>
      <p:sp>
        <p:nvSpPr>
          <p:cNvPr id="21" name="Text 19"/>
          <p:cNvSpPr/>
          <p:nvPr/>
        </p:nvSpPr>
        <p:spPr>
          <a:xfrm>
            <a:off x="868680" y="4160520"/>
            <a:ext cx="2743200" cy="320040"/>
          </a:xfrm>
          <a:prstGeom prst="rect">
            <a:avLst/>
          </a:prstGeom>
          <a:noFill/>
          <a:ln/>
        </p:spPr>
        <p:txBody>
          <a:bodyPr wrap="square" lIns="0" tIns="0" rIns="0" bIns="0" rtlCol="0" anchor="ctr"/>
          <a:lstStyle/>
          <a:p>
            <a:pPr indent="0" marL="0">
              <a:buNone/>
            </a:pPr>
            <a:r>
              <a:rPr lang="en-US" sz="2000" b="1" dirty="0">
                <a:solidFill>
                  <a:srgbClr val="06B6D4"/>
                </a:solidFill>
              </a:rPr>
              <a:t>2 đường dẫn chính</a:t>
            </a:r>
            <a:endParaRPr lang="en-US" sz="2000" dirty="0"/>
          </a:p>
        </p:txBody>
      </p:sp>
      <p:sp>
        <p:nvSpPr>
          <p:cNvPr id="22" name="Text 20"/>
          <p:cNvSpPr/>
          <p:nvPr/>
        </p:nvSpPr>
        <p:spPr>
          <a:xfrm>
            <a:off x="868680" y="4617720"/>
            <a:ext cx="4983480" cy="960120"/>
          </a:xfrm>
          <a:prstGeom prst="rect">
            <a:avLst/>
          </a:prstGeom>
          <a:solidFill>
            <a:srgbClr val="F1F5F9"/>
          </a:solidFill>
          <a:ln w="12700">
            <a:solidFill>
              <a:srgbClr val="CBD5E1"/>
            </a:solidFill>
          </a:ln>
        </p:spPr>
        <p:txBody>
          <a:bodyPr wrap="square" lIns="2032" tIns="2032" rIns="2032" bIns="2032" rtlCol="0" anchor="ctr">
            <a:normAutofit/>
          </a:bodyPr>
          <a:lstStyle/>
          <a:p>
            <a:pPr indent="0" marL="0">
              <a:buNone/>
            </a:pPr>
            <a:r>
              <a:rPr lang="en-US" sz="1600" dirty="0">
                <a:solidFill>
                  <a:srgbClr val="0F172A"/>
                </a:solidFill>
                <a:latin typeface="Consolas" pitchFamily="34" charset="0"/>
                <a:ea typeface="Consolas" pitchFamily="34" charset="-122"/>
                <a:cs typeface="Consolas" pitchFamily="34" charset="-120"/>
              </a:rPr>
              <a:t>/profile_vuln?id=1     # bản lỗi IDOR</a:t>
            </a:r>
            <a:endParaRPr lang="en-US" sz="1600" dirty="0"/>
          </a:p>
          <a:p>
            <a:pPr indent="0" marL="0">
              <a:buNone/>
            </a:pPr>
            <a:r>
              <a:rPr lang="en-US" sz="1600" dirty="0">
                <a:solidFill>
                  <a:srgbClr val="0F172A"/>
                </a:solidFill>
                <a:latin typeface="Consolas" pitchFamily="34" charset="0"/>
                <a:ea typeface="Consolas" pitchFamily="34" charset="-122"/>
                <a:cs typeface="Consolas" pitchFamily="34" charset="-120"/>
              </a:rPr>
              <a:t>/profile_fixed?id=1    # bản đã vá</a:t>
            </a:r>
            <a:endParaRPr lang="en-US" sz="1600" dirty="0"/>
          </a:p>
        </p:txBody>
      </p:sp>
      <p:sp>
        <p:nvSpPr>
          <p:cNvPr id="23" name="Text 21"/>
          <p:cNvSpPr/>
          <p:nvPr/>
        </p:nvSpPr>
        <p:spPr>
          <a:xfrm>
            <a:off x="6355080" y="4462272"/>
            <a:ext cx="4754880" cy="868680"/>
          </a:xfrm>
          <a:prstGeom prst="rect">
            <a:avLst/>
          </a:prstGeom>
          <a:noFill/>
          <a:ln/>
        </p:spPr>
        <p:txBody>
          <a:bodyPr wrap="square" lIns="635" tIns="635" rIns="635" bIns="635" rtlCol="0" anchor="ctr">
            <a:normAutofit/>
          </a:bodyPr>
          <a:lstStyle/>
          <a:p>
            <a:pPr indent="0" marL="0">
              <a:buNone/>
            </a:pPr>
            <a:r>
              <a:rPr lang="en-US" sz="2200" b="1" dirty="0">
                <a:solidFill>
                  <a:srgbClr val="0F172A"/>
                </a:solidFill>
              </a:rPr>
              <a:t>Mục tiêu demo: đăng nhập Alice → đổi id=1 thành id=2.</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5. Kịch bản demo bản lỗi</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6</a:t>
            </a:r>
            <a:endParaRPr lang="en-US" sz="800" dirty="0"/>
          </a:p>
        </p:txBody>
      </p:sp>
      <p:sp>
        <p:nvSpPr>
          <p:cNvPr id="8" name="Text 6"/>
          <p:cNvSpPr/>
          <p:nvPr/>
        </p:nvSpPr>
        <p:spPr>
          <a:xfrm>
            <a:off x="777240" y="1005840"/>
            <a:ext cx="8686800" cy="411480"/>
          </a:xfrm>
          <a:prstGeom prst="rect">
            <a:avLst/>
          </a:prstGeom>
          <a:noFill/>
          <a:ln/>
        </p:spPr>
        <p:txBody>
          <a:bodyPr wrap="square" lIns="0" tIns="0" rIns="0" bIns="0" rtlCol="0" anchor="ctr"/>
          <a:lstStyle/>
          <a:p>
            <a:pPr indent="0" marL="0">
              <a:buNone/>
            </a:pPr>
            <a:r>
              <a:rPr lang="en-US" sz="2500" b="1" dirty="0">
                <a:solidFill>
                  <a:srgbClr val="0F172A"/>
                </a:solidFill>
              </a:rPr>
              <a:t>Alice đổi ID trên URL và xem được dữ liệu của Bob.</a:t>
            </a:r>
            <a:endParaRPr lang="en-US" sz="2500" dirty="0"/>
          </a:p>
        </p:txBody>
      </p:sp>
      <p:sp>
        <p:nvSpPr>
          <p:cNvPr id="9" name="Shape 7"/>
          <p:cNvSpPr/>
          <p:nvPr/>
        </p:nvSpPr>
        <p:spPr>
          <a:xfrm>
            <a:off x="2011680" y="2788920"/>
            <a:ext cx="1783080" cy="0"/>
          </a:xfrm>
          <a:prstGeom prst="line">
            <a:avLst/>
          </a:prstGeom>
          <a:noFill/>
          <a:ln w="27940">
            <a:solidFill>
              <a:srgbClr val="06B6D4"/>
            </a:solidFill>
            <a:prstDash val="solid"/>
            <a:headEnd type="none"/>
            <a:tailEnd type="triangle"/>
          </a:ln>
        </p:spPr>
      </p:sp>
      <p:sp>
        <p:nvSpPr>
          <p:cNvPr id="10" name="Shape 8"/>
          <p:cNvSpPr/>
          <p:nvPr/>
        </p:nvSpPr>
        <p:spPr>
          <a:xfrm>
            <a:off x="5440680" y="2788920"/>
            <a:ext cx="1783080" cy="0"/>
          </a:xfrm>
          <a:prstGeom prst="line">
            <a:avLst/>
          </a:prstGeom>
          <a:noFill/>
          <a:ln w="27940">
            <a:solidFill>
              <a:srgbClr val="D97706"/>
            </a:solidFill>
            <a:prstDash val="solid"/>
            <a:headEnd type="none"/>
            <a:tailEnd type="triangle"/>
          </a:ln>
        </p:spPr>
      </p:sp>
      <p:sp>
        <p:nvSpPr>
          <p:cNvPr id="11" name="Shape 9"/>
          <p:cNvSpPr/>
          <p:nvPr/>
        </p:nvSpPr>
        <p:spPr>
          <a:xfrm>
            <a:off x="8869680" y="2788920"/>
            <a:ext cx="1280160" cy="0"/>
          </a:xfrm>
          <a:prstGeom prst="line">
            <a:avLst/>
          </a:prstGeom>
          <a:noFill/>
          <a:ln w="27940">
            <a:solidFill>
              <a:srgbClr val="DC2626"/>
            </a:solidFill>
            <a:prstDash val="solid"/>
            <a:headEnd type="none"/>
            <a:tailEnd type="triangle"/>
          </a:ln>
        </p:spPr>
      </p:sp>
      <p:sp>
        <p:nvSpPr>
          <p:cNvPr id="12" name="Shape 10"/>
          <p:cNvSpPr/>
          <p:nvPr/>
        </p:nvSpPr>
        <p:spPr>
          <a:xfrm>
            <a:off x="685800" y="2057400"/>
            <a:ext cx="1600200" cy="1463040"/>
          </a:xfrm>
          <a:prstGeom prst="roundRect">
            <a:avLst>
              <a:gd name="adj" fmla="val 5000"/>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3" name="Text 11"/>
          <p:cNvSpPr/>
          <p:nvPr/>
        </p:nvSpPr>
        <p:spPr>
          <a:xfrm>
            <a:off x="795528" y="21854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1️⃣</a:t>
            </a:r>
            <a:endParaRPr lang="en-US" sz="1900" dirty="0"/>
          </a:p>
        </p:txBody>
      </p:sp>
      <p:sp>
        <p:nvSpPr>
          <p:cNvPr id="14" name="Text 12"/>
          <p:cNvSpPr/>
          <p:nvPr/>
        </p:nvSpPr>
        <p:spPr>
          <a:xfrm>
            <a:off x="1252728" y="2194560"/>
            <a:ext cx="9235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B1</a:t>
            </a:r>
            <a:endParaRPr lang="en-US" sz="1550" dirty="0"/>
          </a:p>
        </p:txBody>
      </p:sp>
      <p:sp>
        <p:nvSpPr>
          <p:cNvPr id="15" name="Text 13"/>
          <p:cNvSpPr/>
          <p:nvPr/>
        </p:nvSpPr>
        <p:spPr>
          <a:xfrm>
            <a:off x="1252728" y="2514600"/>
            <a:ext cx="9235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Đăng nhập</a:t>
            </a:r>
            <a:endParaRPr lang="en-US" sz="1050" dirty="0"/>
          </a:p>
          <a:p>
            <a:pPr indent="0" marL="0">
              <a:buNone/>
            </a:pPr>
            <a:r>
              <a:rPr lang="en-US" sz="1050" dirty="0">
                <a:solidFill>
                  <a:srgbClr val="64748B"/>
                </a:solidFill>
              </a:rPr>
              <a:t>alice / 123456</a:t>
            </a:r>
            <a:endParaRPr lang="en-US" sz="1050" dirty="0"/>
          </a:p>
        </p:txBody>
      </p:sp>
      <p:sp>
        <p:nvSpPr>
          <p:cNvPr id="16" name="Shape 14"/>
          <p:cNvSpPr/>
          <p:nvPr/>
        </p:nvSpPr>
        <p:spPr>
          <a:xfrm>
            <a:off x="3886200" y="2057400"/>
            <a:ext cx="1920240" cy="1463040"/>
          </a:xfrm>
          <a:prstGeom prst="roundRect">
            <a:avLst>
              <a:gd name="adj" fmla="val 5000"/>
            </a:avLst>
          </a:prstGeom>
          <a:solidFill>
            <a:srgbClr val="E2E8F0"/>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7" name="Text 15"/>
          <p:cNvSpPr/>
          <p:nvPr/>
        </p:nvSpPr>
        <p:spPr>
          <a:xfrm>
            <a:off x="3995928" y="21854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2️⃣</a:t>
            </a:r>
            <a:endParaRPr lang="en-US" sz="1900" dirty="0"/>
          </a:p>
        </p:txBody>
      </p:sp>
      <p:sp>
        <p:nvSpPr>
          <p:cNvPr id="18" name="Text 16"/>
          <p:cNvSpPr/>
          <p:nvPr/>
        </p:nvSpPr>
        <p:spPr>
          <a:xfrm>
            <a:off x="4453128" y="2194560"/>
            <a:ext cx="124358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B2</a:t>
            </a:r>
            <a:endParaRPr lang="en-US" sz="1550" dirty="0"/>
          </a:p>
        </p:txBody>
      </p:sp>
      <p:sp>
        <p:nvSpPr>
          <p:cNvPr id="19" name="Text 17"/>
          <p:cNvSpPr/>
          <p:nvPr/>
        </p:nvSpPr>
        <p:spPr>
          <a:xfrm>
            <a:off x="4453128" y="2514600"/>
            <a:ext cx="124358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Mở profile Alice</a:t>
            </a:r>
            <a:endParaRPr lang="en-US" sz="1050" dirty="0"/>
          </a:p>
          <a:p>
            <a:pPr indent="0" marL="0">
              <a:buNone/>
            </a:pPr>
            <a:r>
              <a:rPr lang="en-US" sz="1050" dirty="0">
                <a:solidFill>
                  <a:srgbClr val="64748B"/>
                </a:solidFill>
              </a:rPr>
              <a:t>/profile_vuln?id=1</a:t>
            </a:r>
            <a:endParaRPr lang="en-US" sz="1050" dirty="0"/>
          </a:p>
        </p:txBody>
      </p:sp>
      <p:sp>
        <p:nvSpPr>
          <p:cNvPr id="20" name="Shape 18"/>
          <p:cNvSpPr/>
          <p:nvPr/>
        </p:nvSpPr>
        <p:spPr>
          <a:xfrm>
            <a:off x="7315200" y="2057400"/>
            <a:ext cx="1828800" cy="1463040"/>
          </a:xfrm>
          <a:prstGeom prst="roundRect">
            <a:avLst>
              <a:gd name="adj" fmla="val 5000"/>
            </a:avLst>
          </a:prstGeom>
          <a:solidFill>
            <a:srgbClr val="FEF3C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1" name="Text 19"/>
          <p:cNvSpPr/>
          <p:nvPr/>
        </p:nvSpPr>
        <p:spPr>
          <a:xfrm>
            <a:off x="7424928" y="21854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3️⃣</a:t>
            </a:r>
            <a:endParaRPr lang="en-US" sz="1900" dirty="0"/>
          </a:p>
        </p:txBody>
      </p:sp>
      <p:sp>
        <p:nvSpPr>
          <p:cNvPr id="22" name="Text 20"/>
          <p:cNvSpPr/>
          <p:nvPr/>
        </p:nvSpPr>
        <p:spPr>
          <a:xfrm>
            <a:off x="7882128" y="2194560"/>
            <a:ext cx="11521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B3</a:t>
            </a:r>
            <a:endParaRPr lang="en-US" sz="1550" dirty="0"/>
          </a:p>
        </p:txBody>
      </p:sp>
      <p:sp>
        <p:nvSpPr>
          <p:cNvPr id="23" name="Text 21"/>
          <p:cNvSpPr/>
          <p:nvPr/>
        </p:nvSpPr>
        <p:spPr>
          <a:xfrm>
            <a:off x="7882128" y="2514600"/>
            <a:ext cx="11521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Đổi URL</a:t>
            </a:r>
            <a:endParaRPr lang="en-US" sz="1050" dirty="0"/>
          </a:p>
          <a:p>
            <a:pPr indent="0" marL="0">
              <a:buNone/>
            </a:pPr>
            <a:r>
              <a:rPr lang="en-US" sz="1050" dirty="0">
                <a:solidFill>
                  <a:srgbClr val="64748B"/>
                </a:solidFill>
              </a:rPr>
              <a:t>id=1 → id=2</a:t>
            </a:r>
            <a:endParaRPr lang="en-US" sz="1050" dirty="0"/>
          </a:p>
        </p:txBody>
      </p:sp>
      <p:sp>
        <p:nvSpPr>
          <p:cNvPr id="24" name="Shape 22"/>
          <p:cNvSpPr/>
          <p:nvPr/>
        </p:nvSpPr>
        <p:spPr>
          <a:xfrm>
            <a:off x="10058400" y="2057400"/>
            <a:ext cx="1600200" cy="1463040"/>
          </a:xfrm>
          <a:prstGeom prst="roundRect">
            <a:avLst>
              <a:gd name="adj" fmla="val 5000"/>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5" name="Text 23"/>
          <p:cNvSpPr/>
          <p:nvPr/>
        </p:nvSpPr>
        <p:spPr>
          <a:xfrm>
            <a:off x="10168128" y="21854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26" name="Text 24"/>
          <p:cNvSpPr/>
          <p:nvPr/>
        </p:nvSpPr>
        <p:spPr>
          <a:xfrm>
            <a:off x="10625328" y="2194560"/>
            <a:ext cx="9235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KQ</a:t>
            </a:r>
            <a:endParaRPr lang="en-US" sz="1550" dirty="0"/>
          </a:p>
        </p:txBody>
      </p:sp>
      <p:sp>
        <p:nvSpPr>
          <p:cNvPr id="27" name="Text 25"/>
          <p:cNvSpPr/>
          <p:nvPr/>
        </p:nvSpPr>
        <p:spPr>
          <a:xfrm>
            <a:off x="10625328" y="2514600"/>
            <a:ext cx="923544" cy="950976"/>
          </a:xfrm>
          <a:prstGeom prst="rect">
            <a:avLst/>
          </a:prstGeom>
          <a:noFill/>
          <a:ln/>
        </p:spPr>
        <p:txBody>
          <a:bodyPr wrap="square" lIns="0" tIns="0" rIns="0" bIns="0" rtlCol="0" anchor="ctr">
            <a:normAutofit/>
          </a:bodyPr>
          <a:lstStyle/>
          <a:p>
            <a:pPr indent="0" marL="0">
              <a:buNone/>
            </a:pPr>
            <a:r>
              <a:rPr lang="en-US" sz="1050" dirty="0">
                <a:solidFill>
                  <a:srgbClr val="64748B"/>
                </a:solidFill>
              </a:rPr>
              <a:t>Hiển thị Bob</a:t>
            </a:r>
            <a:endParaRPr lang="en-US" sz="1050" dirty="0"/>
          </a:p>
          <a:p>
            <a:pPr indent="0" marL="0">
              <a:buNone/>
            </a:pPr>
            <a:r>
              <a:rPr lang="en-US" sz="1050" dirty="0">
                <a:solidFill>
                  <a:srgbClr val="64748B"/>
                </a:solidFill>
              </a:rPr>
              <a:t>→ lỗi IDOR</a:t>
            </a:r>
            <a:endParaRPr lang="en-US" sz="1050" dirty="0"/>
          </a:p>
        </p:txBody>
      </p:sp>
      <p:sp>
        <p:nvSpPr>
          <p:cNvPr id="28" name="Text 26"/>
          <p:cNvSpPr/>
          <p:nvPr/>
        </p:nvSpPr>
        <p:spPr>
          <a:xfrm>
            <a:off x="868680" y="4526280"/>
            <a:ext cx="2286000" cy="228600"/>
          </a:xfrm>
          <a:prstGeom prst="rect">
            <a:avLst/>
          </a:prstGeom>
          <a:noFill/>
          <a:ln/>
        </p:spPr>
        <p:txBody>
          <a:bodyPr wrap="square" lIns="0" tIns="0" rIns="0" bIns="0" rtlCol="0" anchor="ctr"/>
          <a:lstStyle/>
          <a:p>
            <a:pPr indent="0" marL="0">
              <a:buNone/>
            </a:pPr>
            <a:r>
              <a:rPr lang="en-US" sz="1800" b="1" dirty="0">
                <a:solidFill>
                  <a:srgbClr val="06B6D4"/>
                </a:solidFill>
              </a:rPr>
              <a:t>Câu nói khi demo:</a:t>
            </a:r>
            <a:endParaRPr lang="en-US" sz="1800" dirty="0"/>
          </a:p>
        </p:txBody>
      </p:sp>
      <p:sp>
        <p:nvSpPr>
          <p:cNvPr id="29" name="Text 27"/>
          <p:cNvSpPr/>
          <p:nvPr/>
        </p:nvSpPr>
        <p:spPr>
          <a:xfrm>
            <a:off x="868680" y="4901184"/>
            <a:ext cx="10424160" cy="685800"/>
          </a:xfrm>
          <a:prstGeom prst="rect">
            <a:avLst/>
          </a:prstGeom>
          <a:solidFill>
            <a:srgbClr val="E2E8F0"/>
          </a:solidFill>
          <a:ln>
            <a:solidFill>
              <a:srgbClr val="CBD5E1"/>
            </a:solidFill>
          </a:ln>
        </p:spPr>
        <p:txBody>
          <a:bodyPr wrap="square" lIns="1270" tIns="1270" rIns="1270" bIns="1270" rtlCol="0" anchor="ctr">
            <a:normAutofit/>
          </a:bodyPr>
          <a:lstStyle/>
          <a:p>
            <a:pPr algn="ctr" indent="0" marL="0">
              <a:buNone/>
            </a:pPr>
            <a:r>
              <a:rPr lang="en-US" sz="2200" b="1" dirty="0">
                <a:solidFill>
                  <a:srgbClr val="0F172A"/>
                </a:solidFill>
              </a:rPr>
              <a:t>“Hệ thống chỉ kiểm tra Alice đã đăng nhập, nhưng không kiểm tra Alice có quyền xem id=2 hay không.”</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6. Nguyên nhân trong backend</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7</a:t>
            </a:r>
            <a:endParaRPr lang="en-US" sz="800" dirty="0"/>
          </a:p>
        </p:txBody>
      </p:sp>
      <p:sp>
        <p:nvSpPr>
          <p:cNvPr id="8" name="Text 6"/>
          <p:cNvSpPr/>
          <p:nvPr/>
        </p:nvSpPr>
        <p:spPr>
          <a:xfrm>
            <a:off x="777240" y="960120"/>
            <a:ext cx="9326880" cy="411480"/>
          </a:xfrm>
          <a:prstGeom prst="rect">
            <a:avLst/>
          </a:prstGeom>
          <a:noFill/>
          <a:ln/>
        </p:spPr>
        <p:txBody>
          <a:bodyPr wrap="square" lIns="0" tIns="0" rIns="0" bIns="0" rtlCol="0" anchor="ctr"/>
          <a:lstStyle/>
          <a:p>
            <a:pPr indent="0" marL="0">
              <a:buNone/>
            </a:pPr>
            <a:r>
              <a:rPr lang="en-US" sz="2500" b="1" dirty="0">
                <a:solidFill>
                  <a:srgbClr val="0F172A"/>
                </a:solidFill>
              </a:rPr>
              <a:t>Bản lỗi chỉ kiểm tra “đã đăng nhập”, không kiểm tra “có quyền”.</a:t>
            </a:r>
            <a:endParaRPr lang="en-US" sz="2500" dirty="0"/>
          </a:p>
        </p:txBody>
      </p:sp>
      <p:sp>
        <p:nvSpPr>
          <p:cNvPr id="9" name="Text 7"/>
          <p:cNvSpPr/>
          <p:nvPr/>
        </p:nvSpPr>
        <p:spPr>
          <a:xfrm>
            <a:off x="822960" y="1783080"/>
            <a:ext cx="4709160" cy="2103120"/>
          </a:xfrm>
          <a:prstGeom prst="rect">
            <a:avLst/>
          </a:prstGeom>
          <a:solidFill>
            <a:srgbClr val="F1F5F9"/>
          </a:solidFill>
          <a:ln w="12700">
            <a:solidFill>
              <a:srgbClr val="EF4444"/>
            </a:solidFill>
          </a:ln>
        </p:spPr>
        <p:txBody>
          <a:bodyPr wrap="square" lIns="2032" tIns="2032" rIns="2032" bIns="2032" rtlCol="0" anchor="ctr">
            <a:normAutofit/>
          </a:bodyPr>
          <a:lstStyle/>
          <a:p>
            <a:pPr indent="0" marL="0">
              <a:buNone/>
            </a:pPr>
            <a:r>
              <a:rPr lang="en-US" sz="1520" dirty="0">
                <a:solidFill>
                  <a:srgbClr val="0F172A"/>
                </a:solidFill>
                <a:latin typeface="Consolas" pitchFamily="34" charset="0"/>
                <a:ea typeface="Consolas" pitchFamily="34" charset="-122"/>
                <a:cs typeface="Consolas" pitchFamily="34" charset="-120"/>
              </a:rPr>
              <a:t># BẢN LỖI</a:t>
            </a:r>
            <a:endParaRPr lang="en-US" sz="1520" dirty="0"/>
          </a:p>
          <a:p>
            <a:pPr indent="0" marL="0">
              <a:buNone/>
            </a:pPr>
            <a:r>
              <a:rPr lang="en-US" sz="1520" dirty="0">
                <a:solidFill>
                  <a:srgbClr val="0F172A"/>
                </a:solidFill>
                <a:latin typeface="Consolas" pitchFamily="34" charset="0"/>
                <a:ea typeface="Consolas" pitchFamily="34" charset="-122"/>
                <a:cs typeface="Consolas" pitchFamily="34" charset="-120"/>
              </a:rPr>
              <a:t>login_required()</a:t>
            </a:r>
            <a:endParaRPr lang="en-US" sz="1520" dirty="0"/>
          </a:p>
          <a:p>
            <a:pPr indent="0" marL="0">
              <a:buNone/>
            </a:pPr>
            <a:r>
              <a:rPr lang="en-US" sz="1520" dirty="0">
                <a:solidFill>
                  <a:srgbClr val="0F172A"/>
                </a:solidFill>
                <a:latin typeface="Consolas" pitchFamily="34" charset="0"/>
                <a:ea typeface="Consolas" pitchFamily="34" charset="-122"/>
                <a:cs typeface="Consolas" pitchFamily="34" charset="-120"/>
              </a:rPr>
              <a:t>target_id = request.args.get("id")</a:t>
            </a:r>
            <a:endParaRPr lang="en-US" sz="1520" dirty="0"/>
          </a:p>
          <a:p>
            <a:pPr indent="0" marL="0">
              <a:buNone/>
            </a:pPr>
            <a:r>
              <a:rPr lang="en-US" sz="1520" dirty="0">
                <a:solidFill>
                  <a:srgbClr val="0F172A"/>
                </a:solidFill>
                <a:latin typeface="Consolas" pitchFamily="34" charset="0"/>
                <a:ea typeface="Consolas" pitchFamily="34" charset="-122"/>
                <a:cs typeface="Consolas" pitchFamily="34" charset="-120"/>
              </a:rPr>
              <a:t>target_user = USERS.get(target_id)</a:t>
            </a:r>
            <a:endParaRPr lang="en-US" sz="1520" dirty="0"/>
          </a:p>
          <a:p>
            <a:pPr indent="0" marL="0">
              <a:buNone/>
            </a:pPr>
            <a:r>
              <a:rPr lang="en-US" sz="1520" dirty="0">
                <a:solidFill>
                  <a:srgbClr val="0F172A"/>
                </a:solidFill>
                <a:latin typeface="Consolas" pitchFamily="34" charset="0"/>
                <a:ea typeface="Consolas" pitchFamily="34" charset="-122"/>
                <a:cs typeface="Consolas" pitchFamily="34" charset="-120"/>
              </a:rPr>
              <a:t>return profile(target_user)</a:t>
            </a:r>
            <a:endParaRPr lang="en-US" sz="1520" dirty="0"/>
          </a:p>
        </p:txBody>
      </p:sp>
      <p:sp>
        <p:nvSpPr>
          <p:cNvPr id="10" name="Shape 8"/>
          <p:cNvSpPr/>
          <p:nvPr/>
        </p:nvSpPr>
        <p:spPr>
          <a:xfrm>
            <a:off x="5897880" y="2834640"/>
            <a:ext cx="1097280" cy="0"/>
          </a:xfrm>
          <a:prstGeom prst="line">
            <a:avLst/>
          </a:prstGeom>
          <a:noFill/>
          <a:ln w="34290">
            <a:solidFill>
              <a:srgbClr val="DC2626"/>
            </a:solidFill>
            <a:prstDash val="solid"/>
            <a:headEnd type="none"/>
            <a:tailEnd type="triangle"/>
          </a:ln>
        </p:spPr>
      </p:sp>
      <p:sp>
        <p:nvSpPr>
          <p:cNvPr id="11" name="Shape 9"/>
          <p:cNvSpPr/>
          <p:nvPr/>
        </p:nvSpPr>
        <p:spPr>
          <a:xfrm>
            <a:off x="7223760" y="2057400"/>
            <a:ext cx="3840480" cy="1554480"/>
          </a:xfrm>
          <a:prstGeom prst="roundRect">
            <a:avLst>
              <a:gd name="adj" fmla="val 4706"/>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2" name="Text 10"/>
          <p:cNvSpPr/>
          <p:nvPr/>
        </p:nvSpPr>
        <p:spPr>
          <a:xfrm>
            <a:off x="7333488" y="21854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3" name="Text 11"/>
          <p:cNvSpPr/>
          <p:nvPr/>
        </p:nvSpPr>
        <p:spPr>
          <a:xfrm>
            <a:off x="7790688" y="2194560"/>
            <a:ext cx="316382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Thiếu bước kiểm tra</a:t>
            </a:r>
            <a:endParaRPr lang="en-US" sz="1550" dirty="0"/>
          </a:p>
        </p:txBody>
      </p:sp>
      <p:sp>
        <p:nvSpPr>
          <p:cNvPr id="14" name="Text 12"/>
          <p:cNvSpPr/>
          <p:nvPr/>
        </p:nvSpPr>
        <p:spPr>
          <a:xfrm>
            <a:off x="7790688" y="2514600"/>
            <a:ext cx="3163824" cy="1042416"/>
          </a:xfrm>
          <a:prstGeom prst="rect">
            <a:avLst/>
          </a:prstGeom>
          <a:noFill/>
          <a:ln/>
        </p:spPr>
        <p:txBody>
          <a:bodyPr wrap="square" lIns="0" tIns="0" rIns="0" bIns="0" rtlCol="0" anchor="ctr">
            <a:normAutofit/>
          </a:bodyPr>
          <a:lstStyle/>
          <a:p>
            <a:pPr indent="0" marL="0">
              <a:buNone/>
            </a:pPr>
            <a:r>
              <a:rPr lang="en-US" sz="1050" dirty="0">
                <a:solidFill>
                  <a:srgbClr val="64748B"/>
                </a:solidFill>
              </a:rPr>
              <a:t>current_user.id == target_id ?</a:t>
            </a:r>
            <a:endParaRPr lang="en-US" sz="1050" dirty="0"/>
          </a:p>
          <a:p>
            <a:pPr indent="0" marL="0">
              <a:buNone/>
            </a:pPr>
            <a:r>
              <a:rPr lang="en-US" sz="1050" dirty="0">
                <a:solidFill>
                  <a:srgbClr val="64748B"/>
                </a:solidFill>
              </a:rPr>
              <a:t>current_user.role == admin ?</a:t>
            </a:r>
            <a:endParaRPr lang="en-US" sz="1050" dirty="0"/>
          </a:p>
        </p:txBody>
      </p:sp>
      <p:sp>
        <p:nvSpPr>
          <p:cNvPr id="15" name="Text 13"/>
          <p:cNvSpPr/>
          <p:nvPr/>
        </p:nvSpPr>
        <p:spPr>
          <a:xfrm>
            <a:off x="868680" y="4736592"/>
            <a:ext cx="1920240" cy="256032"/>
          </a:xfrm>
          <a:prstGeom prst="rect">
            <a:avLst/>
          </a:prstGeom>
          <a:noFill/>
          <a:ln/>
        </p:spPr>
        <p:txBody>
          <a:bodyPr wrap="square" lIns="0" tIns="0" rIns="0" bIns="0" rtlCol="0" anchor="ctr"/>
          <a:lstStyle/>
          <a:p>
            <a:pPr indent="0" marL="0">
              <a:buNone/>
            </a:pPr>
            <a:r>
              <a:rPr lang="en-US" sz="1700" b="1" dirty="0">
                <a:solidFill>
                  <a:srgbClr val="D97706"/>
                </a:solidFill>
              </a:rPr>
              <a:t>Root cause</a:t>
            </a:r>
            <a:endParaRPr lang="en-US" sz="1700" dirty="0"/>
          </a:p>
        </p:txBody>
      </p:sp>
      <p:sp>
        <p:nvSpPr>
          <p:cNvPr id="16" name="Text 14"/>
          <p:cNvSpPr/>
          <p:nvPr/>
        </p:nvSpPr>
        <p:spPr>
          <a:xfrm>
            <a:off x="868680" y="5102352"/>
            <a:ext cx="10241280" cy="457200"/>
          </a:xfrm>
          <a:prstGeom prst="rect">
            <a:avLst/>
          </a:prstGeom>
          <a:solidFill>
            <a:srgbClr val="E2E8F0"/>
          </a:solidFill>
          <a:ln/>
        </p:spPr>
        <p:txBody>
          <a:bodyPr wrap="square" lIns="1016" tIns="1016" rIns="1016" bIns="1016" rtlCol="0" anchor="ctr">
            <a:normAutofit/>
          </a:bodyPr>
          <a:lstStyle/>
          <a:p>
            <a:pPr algn="ctr" indent="0" marL="0">
              <a:buNone/>
            </a:pPr>
            <a:r>
              <a:rPr lang="en-US" sz="2200" b="1" dirty="0">
                <a:solidFill>
                  <a:srgbClr val="0F172A"/>
                </a:solidFill>
              </a:rPr>
              <a:t>Tin tưởng ID do client gửi lên + thiếu kiểm tra owner/role/permission ở backend.</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7. Bản vá: kiểm tra owner/role</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8</a:t>
            </a:r>
            <a:endParaRPr lang="en-US" sz="800" dirty="0"/>
          </a:p>
        </p:txBody>
      </p:sp>
      <p:sp>
        <p:nvSpPr>
          <p:cNvPr id="8" name="Text 6"/>
          <p:cNvSpPr/>
          <p:nvPr/>
        </p:nvSpPr>
        <p:spPr>
          <a:xfrm>
            <a:off x="777240" y="960120"/>
            <a:ext cx="7772400" cy="411480"/>
          </a:xfrm>
          <a:prstGeom prst="rect">
            <a:avLst/>
          </a:prstGeom>
          <a:noFill/>
          <a:ln/>
        </p:spPr>
        <p:txBody>
          <a:bodyPr wrap="square" lIns="0" tIns="0" rIns="0" bIns="0" rtlCol="0" anchor="ctr"/>
          <a:lstStyle/>
          <a:p>
            <a:pPr indent="0" marL="0">
              <a:buNone/>
            </a:pPr>
            <a:r>
              <a:rPr lang="en-US" sz="2500" b="1" dirty="0">
                <a:solidFill>
                  <a:srgbClr val="0F172A"/>
                </a:solidFill>
              </a:rPr>
              <a:t>Mỗi request phải được kiểm tra quyền ở backend.</a:t>
            </a:r>
            <a:endParaRPr lang="en-US" sz="2500" dirty="0"/>
          </a:p>
        </p:txBody>
      </p:sp>
      <p:sp>
        <p:nvSpPr>
          <p:cNvPr id="9" name="Text 7"/>
          <p:cNvSpPr/>
          <p:nvPr/>
        </p:nvSpPr>
        <p:spPr>
          <a:xfrm>
            <a:off x="822960" y="1691640"/>
            <a:ext cx="5486400" cy="2423160"/>
          </a:xfrm>
          <a:prstGeom prst="rect">
            <a:avLst/>
          </a:prstGeom>
          <a:solidFill>
            <a:srgbClr val="DCFCE7"/>
          </a:solidFill>
          <a:ln w="12700">
            <a:solidFill>
              <a:srgbClr val="22C55E"/>
            </a:solidFill>
          </a:ln>
        </p:spPr>
        <p:txBody>
          <a:bodyPr wrap="square" lIns="2032" tIns="2032" rIns="2032" bIns="2032" rtlCol="0" anchor="ctr">
            <a:normAutofit/>
          </a:bodyPr>
          <a:lstStyle/>
          <a:p>
            <a:pPr indent="0" marL="0">
              <a:buNone/>
            </a:pPr>
            <a:r>
              <a:rPr lang="en-US" sz="1540" dirty="0">
                <a:solidFill>
                  <a:srgbClr val="0F172A"/>
                </a:solidFill>
                <a:latin typeface="Consolas" pitchFamily="34" charset="0"/>
                <a:ea typeface="Consolas" pitchFamily="34" charset="-122"/>
                <a:cs typeface="Consolas" pitchFamily="34" charset="-120"/>
              </a:rPr>
              <a:t>user = current_user()</a:t>
            </a:r>
            <a:endParaRPr lang="en-US" sz="1540" dirty="0"/>
          </a:p>
          <a:p>
            <a:pPr indent="0" marL="0">
              <a:buNone/>
            </a:pPr>
            <a:r>
              <a:rPr lang="en-US" sz="1540" dirty="0">
                <a:solidFill>
                  <a:srgbClr val="0F172A"/>
                </a:solidFill>
                <a:latin typeface="Consolas" pitchFamily="34" charset="0"/>
                <a:ea typeface="Consolas" pitchFamily="34" charset="-122"/>
                <a:cs typeface="Consolas" pitchFamily="34" charset="-120"/>
              </a:rPr>
              <a:t>is_owner = user["id"] == target_id</a:t>
            </a:r>
            <a:endParaRPr lang="en-US" sz="1540" dirty="0"/>
          </a:p>
          <a:p>
            <a:pPr indent="0" marL="0">
              <a:buNone/>
            </a:pPr>
            <a:r>
              <a:rPr lang="en-US" sz="1540" dirty="0">
                <a:solidFill>
                  <a:srgbClr val="0F172A"/>
                </a:solidFill>
                <a:latin typeface="Consolas" pitchFamily="34" charset="0"/>
                <a:ea typeface="Consolas" pitchFamily="34" charset="-122"/>
                <a:cs typeface="Consolas" pitchFamily="34" charset="-120"/>
              </a:rPr>
              <a:t>is_admin = user["role"] == "admin"</a:t>
            </a:r>
            <a:endParaRPr lang="en-US" sz="1540" dirty="0"/>
          </a:p>
          <a:p>
            <a:pPr indent="0" marL="0">
              <a:buNone/>
            </a:pPr>
            <a:endParaRPr lang="en-US" sz="1540" dirty="0"/>
          </a:p>
          <a:p>
            <a:pPr indent="0" marL="0">
              <a:buNone/>
            </a:pPr>
            <a:r>
              <a:rPr lang="en-US" sz="1540" dirty="0">
                <a:solidFill>
                  <a:srgbClr val="0F172A"/>
                </a:solidFill>
                <a:latin typeface="Consolas" pitchFamily="34" charset="0"/>
                <a:ea typeface="Consolas" pitchFamily="34" charset="-122"/>
                <a:cs typeface="Consolas" pitchFamily="34" charset="-120"/>
              </a:rPr>
              <a:t>if not (is_owner or is_admin):</a:t>
            </a:r>
            <a:endParaRPr lang="en-US" sz="1540" dirty="0"/>
          </a:p>
          <a:p>
            <a:pPr indent="0" marL="0">
              <a:buNone/>
            </a:pPr>
            <a:r>
              <a:rPr lang="en-US" sz="1540" dirty="0">
                <a:solidFill>
                  <a:srgbClr val="0F172A"/>
                </a:solidFill>
                <a:latin typeface="Consolas" pitchFamily="34" charset="0"/>
                <a:ea typeface="Consolas" pitchFamily="34" charset="-122"/>
                <a:cs typeface="Consolas" pitchFamily="34" charset="-120"/>
              </a:rPr>
              <a:t>    return "403 Forbidden", 403</a:t>
            </a:r>
            <a:endParaRPr lang="en-US" sz="1540" dirty="0"/>
          </a:p>
        </p:txBody>
      </p:sp>
      <p:sp>
        <p:nvSpPr>
          <p:cNvPr id="10" name="Shape 8"/>
          <p:cNvSpPr/>
          <p:nvPr/>
        </p:nvSpPr>
        <p:spPr>
          <a:xfrm>
            <a:off x="7360920" y="1965960"/>
            <a:ext cx="1280160" cy="0"/>
          </a:xfrm>
          <a:prstGeom prst="line">
            <a:avLst/>
          </a:prstGeom>
          <a:noFill/>
          <a:ln w="27940">
            <a:solidFill>
              <a:srgbClr val="16A34A"/>
            </a:solidFill>
            <a:prstDash val="solid"/>
            <a:headEnd type="none"/>
            <a:tailEnd type="triangle"/>
          </a:ln>
        </p:spPr>
      </p:sp>
      <p:sp>
        <p:nvSpPr>
          <p:cNvPr id="11" name="Shape 9"/>
          <p:cNvSpPr/>
          <p:nvPr/>
        </p:nvSpPr>
        <p:spPr>
          <a:xfrm>
            <a:off x="7360920" y="2971800"/>
            <a:ext cx="1280160" cy="0"/>
          </a:xfrm>
          <a:prstGeom prst="line">
            <a:avLst/>
          </a:prstGeom>
          <a:noFill/>
          <a:ln w="27940">
            <a:solidFill>
              <a:srgbClr val="DC2626"/>
            </a:solidFill>
            <a:prstDash val="solid"/>
            <a:headEnd type="none"/>
            <a:tailEnd type="triangle"/>
          </a:ln>
        </p:spPr>
      </p:sp>
      <p:sp>
        <p:nvSpPr>
          <p:cNvPr id="12" name="Shape 10"/>
          <p:cNvSpPr/>
          <p:nvPr/>
        </p:nvSpPr>
        <p:spPr>
          <a:xfrm>
            <a:off x="8796528" y="1417320"/>
            <a:ext cx="2560320" cy="1051560"/>
          </a:xfrm>
          <a:prstGeom prst="roundRect">
            <a:avLst>
              <a:gd name="adj" fmla="val 6957"/>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3" name="Text 11"/>
          <p:cNvSpPr/>
          <p:nvPr/>
        </p:nvSpPr>
        <p:spPr>
          <a:xfrm>
            <a:off x="8906256" y="154533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4" name="Text 12"/>
          <p:cNvSpPr/>
          <p:nvPr/>
        </p:nvSpPr>
        <p:spPr>
          <a:xfrm>
            <a:off x="9363456" y="1554480"/>
            <a:ext cx="188366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Cho phép</a:t>
            </a:r>
            <a:endParaRPr lang="en-US" sz="1550" dirty="0"/>
          </a:p>
        </p:txBody>
      </p:sp>
      <p:sp>
        <p:nvSpPr>
          <p:cNvPr id="15" name="Text 13"/>
          <p:cNvSpPr/>
          <p:nvPr/>
        </p:nvSpPr>
        <p:spPr>
          <a:xfrm>
            <a:off x="9363456" y="1874520"/>
            <a:ext cx="1883664" cy="539496"/>
          </a:xfrm>
          <a:prstGeom prst="rect">
            <a:avLst/>
          </a:prstGeom>
          <a:noFill/>
          <a:ln/>
        </p:spPr>
        <p:txBody>
          <a:bodyPr wrap="square" lIns="0" tIns="0" rIns="0" bIns="0" rtlCol="0" anchor="ctr">
            <a:normAutofit/>
          </a:bodyPr>
          <a:lstStyle/>
          <a:p>
            <a:pPr indent="0" marL="0">
              <a:buNone/>
            </a:pPr>
            <a:r>
              <a:rPr lang="en-US" sz="1050" dirty="0">
                <a:solidFill>
                  <a:srgbClr val="64748B"/>
                </a:solidFill>
              </a:rPr>
              <a:t>Là chủ sở hữu</a:t>
            </a:r>
            <a:endParaRPr lang="en-US" sz="1050" dirty="0"/>
          </a:p>
          <a:p>
            <a:pPr indent="0" marL="0">
              <a:buNone/>
            </a:pPr>
            <a:r>
              <a:rPr lang="en-US" sz="1050" dirty="0">
                <a:solidFill>
                  <a:srgbClr val="64748B"/>
                </a:solidFill>
              </a:rPr>
              <a:t>hoặc admin</a:t>
            </a:r>
            <a:endParaRPr lang="en-US" sz="1050" dirty="0"/>
          </a:p>
        </p:txBody>
      </p:sp>
      <p:sp>
        <p:nvSpPr>
          <p:cNvPr id="16" name="Shape 14"/>
          <p:cNvSpPr/>
          <p:nvPr/>
        </p:nvSpPr>
        <p:spPr>
          <a:xfrm>
            <a:off x="8796528" y="2697480"/>
            <a:ext cx="2560320" cy="1051560"/>
          </a:xfrm>
          <a:prstGeom prst="roundRect">
            <a:avLst>
              <a:gd name="adj" fmla="val 6957"/>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7" name="Text 15"/>
          <p:cNvSpPr/>
          <p:nvPr/>
        </p:nvSpPr>
        <p:spPr>
          <a:xfrm>
            <a:off x="8906256" y="282549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8" name="Text 16"/>
          <p:cNvSpPr/>
          <p:nvPr/>
        </p:nvSpPr>
        <p:spPr>
          <a:xfrm>
            <a:off x="9363456" y="2834640"/>
            <a:ext cx="188366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Từ chối</a:t>
            </a:r>
            <a:endParaRPr lang="en-US" sz="1550" dirty="0"/>
          </a:p>
        </p:txBody>
      </p:sp>
      <p:sp>
        <p:nvSpPr>
          <p:cNvPr id="19" name="Text 17"/>
          <p:cNvSpPr/>
          <p:nvPr/>
        </p:nvSpPr>
        <p:spPr>
          <a:xfrm>
            <a:off x="9363456" y="3154680"/>
            <a:ext cx="1883664" cy="539496"/>
          </a:xfrm>
          <a:prstGeom prst="rect">
            <a:avLst/>
          </a:prstGeom>
          <a:noFill/>
          <a:ln/>
        </p:spPr>
        <p:txBody>
          <a:bodyPr wrap="square" lIns="0" tIns="0" rIns="0" bIns="0" rtlCol="0" anchor="ctr">
            <a:normAutofit/>
          </a:bodyPr>
          <a:lstStyle/>
          <a:p>
            <a:pPr indent="0" marL="0">
              <a:buNone/>
            </a:pPr>
            <a:r>
              <a:rPr lang="en-US" sz="1050" dirty="0">
                <a:solidFill>
                  <a:srgbClr val="64748B"/>
                </a:solidFill>
              </a:rPr>
              <a:t>Không đúng quyền</a:t>
            </a:r>
            <a:endParaRPr lang="en-US" sz="1050" dirty="0"/>
          </a:p>
          <a:p>
            <a:pPr indent="0" marL="0">
              <a:buNone/>
            </a:pPr>
            <a:r>
              <a:rPr lang="en-US" sz="1050" dirty="0">
                <a:solidFill>
                  <a:srgbClr val="64748B"/>
                </a:solidFill>
              </a:rPr>
              <a:t>trả 403</a:t>
            </a:r>
            <a:endParaRPr lang="en-US" sz="1050" dirty="0"/>
          </a:p>
        </p:txBody>
      </p:sp>
      <p:sp>
        <p:nvSpPr>
          <p:cNvPr id="20" name="Shape 18"/>
          <p:cNvSpPr/>
          <p:nvPr/>
        </p:nvSpPr>
        <p:spPr>
          <a:xfrm>
            <a:off x="6400800" y="2057400"/>
            <a:ext cx="1554480" cy="914400"/>
          </a:xfrm>
          <a:prstGeom prst="roundRect">
            <a:avLst>
              <a:gd name="adj" fmla="val 8000"/>
            </a:avLst>
          </a:prstGeom>
          <a:solidFill>
            <a:srgbClr val="E2E8F0"/>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1" name="Text 19"/>
          <p:cNvSpPr/>
          <p:nvPr/>
        </p:nvSpPr>
        <p:spPr>
          <a:xfrm>
            <a:off x="6510528" y="21854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22" name="Text 20"/>
          <p:cNvSpPr/>
          <p:nvPr/>
        </p:nvSpPr>
        <p:spPr>
          <a:xfrm>
            <a:off x="6967728" y="2194560"/>
            <a:ext cx="87782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Backend hỏi</a:t>
            </a:r>
            <a:endParaRPr lang="en-US" sz="1550" dirty="0"/>
          </a:p>
        </p:txBody>
      </p:sp>
      <p:sp>
        <p:nvSpPr>
          <p:cNvPr id="23" name="Text 21"/>
          <p:cNvSpPr/>
          <p:nvPr/>
        </p:nvSpPr>
        <p:spPr>
          <a:xfrm>
            <a:off x="6967728" y="2514600"/>
            <a:ext cx="877824" cy="402336"/>
          </a:xfrm>
          <a:prstGeom prst="rect">
            <a:avLst/>
          </a:prstGeom>
          <a:noFill/>
          <a:ln/>
        </p:spPr>
        <p:txBody>
          <a:bodyPr wrap="square" lIns="0" tIns="0" rIns="0" bIns="0" rtlCol="0" anchor="ctr">
            <a:normAutofit/>
          </a:bodyPr>
          <a:lstStyle/>
          <a:p>
            <a:pPr indent="0" marL="0">
              <a:buNone/>
            </a:pPr>
            <a:r>
              <a:rPr lang="en-US" sz="1050" dirty="0">
                <a:solidFill>
                  <a:srgbClr val="64748B"/>
                </a:solidFill>
              </a:rPr>
              <a:t>Ai đang đăng nhập?</a:t>
            </a:r>
            <a:endParaRPr lang="en-US" sz="1050" dirty="0"/>
          </a:p>
          <a:p>
            <a:pPr indent="0" marL="0">
              <a:buNone/>
            </a:pPr>
            <a:r>
              <a:rPr lang="en-US" sz="1050" dirty="0">
                <a:solidFill>
                  <a:srgbClr val="64748B"/>
                </a:solidFill>
              </a:rPr>
              <a:t>Tài nguyên thuộc ai?</a:t>
            </a:r>
            <a:endParaRPr lang="en-US" sz="1050" dirty="0"/>
          </a:p>
        </p:txBody>
      </p:sp>
      <p:sp>
        <p:nvSpPr>
          <p:cNvPr id="24" name="Text 22"/>
          <p:cNvSpPr/>
          <p:nvPr/>
        </p:nvSpPr>
        <p:spPr>
          <a:xfrm>
            <a:off x="1051560" y="5047488"/>
            <a:ext cx="9875520" cy="438912"/>
          </a:xfrm>
          <a:prstGeom prst="rect">
            <a:avLst/>
          </a:prstGeom>
          <a:noFill/>
          <a:ln/>
        </p:spPr>
        <p:txBody>
          <a:bodyPr wrap="square" lIns="0" tIns="0" rIns="0" bIns="0" rtlCol="0" anchor="ctr"/>
          <a:lstStyle/>
          <a:p>
            <a:pPr algn="ctr" indent="0" marL="0">
              <a:buNone/>
            </a:pPr>
            <a:r>
              <a:rPr lang="en-US" sz="2200" b="1" dirty="0">
                <a:solidFill>
                  <a:srgbClr val="06B6D4"/>
                </a:solidFill>
              </a:rPr>
              <a:t>Nguyên tắc least privilege: user chỉ có quyền tối thiểu cần thiết.</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8. Kịch bản demo bản đã vá</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9</a:t>
            </a:r>
            <a:endParaRPr lang="en-US" sz="800" dirty="0"/>
          </a:p>
        </p:txBody>
      </p:sp>
      <p:sp>
        <p:nvSpPr>
          <p:cNvPr id="8" name="Text 6"/>
          <p:cNvSpPr/>
          <p:nvPr/>
        </p:nvSpPr>
        <p:spPr>
          <a:xfrm>
            <a:off x="777240" y="1005840"/>
            <a:ext cx="8412480" cy="411480"/>
          </a:xfrm>
          <a:prstGeom prst="rect">
            <a:avLst/>
          </a:prstGeom>
          <a:noFill/>
          <a:ln/>
        </p:spPr>
        <p:txBody>
          <a:bodyPr wrap="square" lIns="0" tIns="0" rIns="0" bIns="0" rtlCol="0" anchor="ctr"/>
          <a:lstStyle/>
          <a:p>
            <a:pPr indent="0" marL="0">
              <a:buNone/>
            </a:pPr>
            <a:r>
              <a:rPr lang="en-US" sz="2500" b="1" dirty="0">
                <a:solidFill>
                  <a:srgbClr val="0F172A"/>
                </a:solidFill>
              </a:rPr>
              <a:t>Cùng thao tác đổi ID, nhưng backend đã chặn đúng quyền.</a:t>
            </a:r>
            <a:endParaRPr lang="en-US" sz="2500" dirty="0"/>
          </a:p>
        </p:txBody>
      </p:sp>
      <p:sp>
        <p:nvSpPr>
          <p:cNvPr id="9" name="Shape 7"/>
          <p:cNvSpPr/>
          <p:nvPr/>
        </p:nvSpPr>
        <p:spPr>
          <a:xfrm>
            <a:off x="2971800" y="3063240"/>
            <a:ext cx="1280160" cy="0"/>
          </a:xfrm>
          <a:prstGeom prst="line">
            <a:avLst/>
          </a:prstGeom>
          <a:noFill/>
          <a:ln w="27940">
            <a:solidFill>
              <a:srgbClr val="06B6D4"/>
            </a:solidFill>
            <a:prstDash val="solid"/>
            <a:headEnd type="none"/>
            <a:tailEnd type="triangle"/>
          </a:ln>
        </p:spPr>
      </p:sp>
      <p:sp>
        <p:nvSpPr>
          <p:cNvPr id="10" name="Shape 8"/>
          <p:cNvSpPr/>
          <p:nvPr/>
        </p:nvSpPr>
        <p:spPr>
          <a:xfrm>
            <a:off x="6995160" y="3063240"/>
            <a:ext cx="1325880" cy="0"/>
          </a:xfrm>
          <a:prstGeom prst="line">
            <a:avLst/>
          </a:prstGeom>
          <a:noFill/>
          <a:ln w="27940">
            <a:solidFill>
              <a:srgbClr val="DC2626"/>
            </a:solidFill>
            <a:prstDash val="solid"/>
            <a:headEnd type="none"/>
            <a:tailEnd type="triangle"/>
          </a:ln>
        </p:spPr>
      </p:sp>
      <p:sp>
        <p:nvSpPr>
          <p:cNvPr id="11" name="Shape 9"/>
          <p:cNvSpPr/>
          <p:nvPr/>
        </p:nvSpPr>
        <p:spPr>
          <a:xfrm>
            <a:off x="777240" y="2331720"/>
            <a:ext cx="2468880" cy="1417320"/>
          </a:xfrm>
          <a:prstGeom prst="roundRect">
            <a:avLst>
              <a:gd name="adj" fmla="val 5161"/>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2" name="Text 10"/>
          <p:cNvSpPr/>
          <p:nvPr/>
        </p:nvSpPr>
        <p:spPr>
          <a:xfrm>
            <a:off x="886968" y="245973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3" name="Text 11"/>
          <p:cNvSpPr/>
          <p:nvPr/>
        </p:nvSpPr>
        <p:spPr>
          <a:xfrm>
            <a:off x="1344168" y="2468880"/>
            <a:ext cx="179222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Alice</a:t>
            </a:r>
            <a:endParaRPr lang="en-US" sz="1550" dirty="0"/>
          </a:p>
        </p:txBody>
      </p:sp>
      <p:sp>
        <p:nvSpPr>
          <p:cNvPr id="14" name="Text 12"/>
          <p:cNvSpPr/>
          <p:nvPr/>
        </p:nvSpPr>
        <p:spPr>
          <a:xfrm>
            <a:off x="1344168" y="2788920"/>
            <a:ext cx="1792224" cy="905256"/>
          </a:xfrm>
          <a:prstGeom prst="rect">
            <a:avLst/>
          </a:prstGeom>
          <a:noFill/>
          <a:ln/>
        </p:spPr>
        <p:txBody>
          <a:bodyPr wrap="square" lIns="0" tIns="0" rIns="0" bIns="0" rtlCol="0" anchor="ctr">
            <a:normAutofit/>
          </a:bodyPr>
          <a:lstStyle/>
          <a:p>
            <a:pPr indent="0" marL="0">
              <a:buNone/>
            </a:pPr>
            <a:r>
              <a:rPr lang="en-US" sz="1050" dirty="0">
                <a:solidFill>
                  <a:srgbClr val="64748B"/>
                </a:solidFill>
              </a:rPr>
              <a:t>Mở /profile_fixed?id=1</a:t>
            </a:r>
            <a:endParaRPr lang="en-US" sz="1050" dirty="0"/>
          </a:p>
          <a:p>
            <a:pPr indent="0" marL="0">
              <a:buNone/>
            </a:pPr>
            <a:r>
              <a:rPr lang="en-US" sz="1050" dirty="0">
                <a:solidFill>
                  <a:srgbClr val="64748B"/>
                </a:solidFill>
              </a:rPr>
              <a:t>→ được phép</a:t>
            </a:r>
            <a:endParaRPr lang="en-US" sz="1050" dirty="0"/>
          </a:p>
        </p:txBody>
      </p:sp>
      <p:sp>
        <p:nvSpPr>
          <p:cNvPr id="15" name="Shape 13"/>
          <p:cNvSpPr/>
          <p:nvPr/>
        </p:nvSpPr>
        <p:spPr>
          <a:xfrm>
            <a:off x="4389120" y="2331720"/>
            <a:ext cx="2743200" cy="1417320"/>
          </a:xfrm>
          <a:prstGeom prst="roundRect">
            <a:avLst>
              <a:gd name="adj" fmla="val 5161"/>
            </a:avLst>
          </a:prstGeom>
          <a:solidFill>
            <a:srgbClr val="FEF3C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6" name="Text 14"/>
          <p:cNvSpPr/>
          <p:nvPr/>
        </p:nvSpPr>
        <p:spPr>
          <a:xfrm>
            <a:off x="4498848" y="245973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7" name="Text 15"/>
          <p:cNvSpPr/>
          <p:nvPr/>
        </p:nvSpPr>
        <p:spPr>
          <a:xfrm>
            <a:off x="4956048" y="2468880"/>
            <a:ext cx="20665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Đổi id=2</a:t>
            </a:r>
            <a:endParaRPr lang="en-US" sz="1550" dirty="0"/>
          </a:p>
        </p:txBody>
      </p:sp>
      <p:sp>
        <p:nvSpPr>
          <p:cNvPr id="18" name="Text 16"/>
          <p:cNvSpPr/>
          <p:nvPr/>
        </p:nvSpPr>
        <p:spPr>
          <a:xfrm>
            <a:off x="4956048" y="2788920"/>
            <a:ext cx="2066544" cy="905256"/>
          </a:xfrm>
          <a:prstGeom prst="rect">
            <a:avLst/>
          </a:prstGeom>
          <a:noFill/>
          <a:ln/>
        </p:spPr>
        <p:txBody>
          <a:bodyPr wrap="square" lIns="0" tIns="0" rIns="0" bIns="0" rtlCol="0" anchor="ctr">
            <a:normAutofit/>
          </a:bodyPr>
          <a:lstStyle/>
          <a:p>
            <a:pPr indent="0" marL="0">
              <a:buNone/>
            </a:pPr>
            <a:r>
              <a:rPr lang="en-US" sz="1050" dirty="0">
                <a:solidFill>
                  <a:srgbClr val="64748B"/>
                </a:solidFill>
              </a:rPr>
              <a:t>Muốn xem dữ liệu Bob</a:t>
            </a:r>
            <a:endParaRPr lang="en-US" sz="1050" dirty="0"/>
          </a:p>
          <a:p>
            <a:pPr indent="0" marL="0">
              <a:buNone/>
            </a:pPr>
            <a:r>
              <a:rPr lang="en-US" sz="1050" dirty="0">
                <a:solidFill>
                  <a:srgbClr val="64748B"/>
                </a:solidFill>
              </a:rPr>
              <a:t>trên bản đã vá</a:t>
            </a:r>
            <a:endParaRPr lang="en-US" sz="1050" dirty="0"/>
          </a:p>
        </p:txBody>
      </p:sp>
      <p:sp>
        <p:nvSpPr>
          <p:cNvPr id="19" name="Shape 17"/>
          <p:cNvSpPr/>
          <p:nvPr/>
        </p:nvSpPr>
        <p:spPr>
          <a:xfrm>
            <a:off x="8458200" y="2331720"/>
            <a:ext cx="2788920" cy="1417320"/>
          </a:xfrm>
          <a:prstGeom prst="roundRect">
            <a:avLst>
              <a:gd name="adj" fmla="val 5161"/>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0" name="Text 18"/>
          <p:cNvSpPr/>
          <p:nvPr/>
        </p:nvSpPr>
        <p:spPr>
          <a:xfrm>
            <a:off x="8567928" y="245973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21" name="Text 19"/>
          <p:cNvSpPr/>
          <p:nvPr/>
        </p:nvSpPr>
        <p:spPr>
          <a:xfrm>
            <a:off x="9025128" y="2468880"/>
            <a:ext cx="211226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403 Forbidden</a:t>
            </a:r>
            <a:endParaRPr lang="en-US" sz="1550" dirty="0"/>
          </a:p>
        </p:txBody>
      </p:sp>
      <p:sp>
        <p:nvSpPr>
          <p:cNvPr id="22" name="Text 20"/>
          <p:cNvSpPr/>
          <p:nvPr/>
        </p:nvSpPr>
        <p:spPr>
          <a:xfrm>
            <a:off x="9025128" y="2788920"/>
            <a:ext cx="2112264" cy="905256"/>
          </a:xfrm>
          <a:prstGeom prst="rect">
            <a:avLst/>
          </a:prstGeom>
          <a:noFill/>
          <a:ln/>
        </p:spPr>
        <p:txBody>
          <a:bodyPr wrap="square" lIns="0" tIns="0" rIns="0" bIns="0" rtlCol="0" anchor="ctr">
            <a:normAutofit/>
          </a:bodyPr>
          <a:lstStyle/>
          <a:p>
            <a:pPr indent="0" marL="0">
              <a:buNone/>
            </a:pPr>
            <a:r>
              <a:rPr lang="en-US" sz="1050" dirty="0">
                <a:solidFill>
                  <a:srgbClr val="64748B"/>
                </a:solidFill>
              </a:rPr>
              <a:t>Backend từ chối</a:t>
            </a:r>
            <a:endParaRPr lang="en-US" sz="1050" dirty="0"/>
          </a:p>
          <a:p>
            <a:pPr indent="0" marL="0">
              <a:buNone/>
            </a:pPr>
            <a:r>
              <a:rPr lang="en-US" sz="1050" dirty="0">
                <a:solidFill>
                  <a:srgbClr val="64748B"/>
                </a:solidFill>
              </a:rPr>
              <a:t>vì Alice không phải Bob</a:t>
            </a:r>
            <a:endParaRPr lang="en-US" sz="1050" dirty="0"/>
          </a:p>
        </p:txBody>
      </p:sp>
      <p:sp>
        <p:nvSpPr>
          <p:cNvPr id="23" name="Text 21"/>
          <p:cNvSpPr/>
          <p:nvPr/>
        </p:nvSpPr>
        <p:spPr>
          <a:xfrm>
            <a:off x="1097280" y="4709160"/>
            <a:ext cx="9921240" cy="548640"/>
          </a:xfrm>
          <a:prstGeom prst="rect">
            <a:avLst/>
          </a:prstGeom>
          <a:solidFill>
            <a:srgbClr val="E2E8F0"/>
          </a:solidFill>
          <a:ln>
            <a:solidFill>
              <a:srgbClr val="CBD5E1"/>
            </a:solidFill>
          </a:ln>
        </p:spPr>
        <p:txBody>
          <a:bodyPr wrap="square" lIns="1270" tIns="1270" rIns="1270" bIns="1270" rtlCol="0" anchor="ctr">
            <a:normAutofit/>
          </a:bodyPr>
          <a:lstStyle/>
          <a:p>
            <a:pPr algn="ctr" indent="0" marL="0">
              <a:buNone/>
            </a:pPr>
            <a:r>
              <a:rPr lang="en-US" sz="2100" b="1" dirty="0">
                <a:solidFill>
                  <a:srgbClr val="0F172A"/>
                </a:solidFill>
              </a:rPr>
              <a:t>Nếu đăng nhập Admin thì được xem id=1, id=2 vì admin có quyền quản trị.</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9. Threat model tóm tắt</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10</a:t>
            </a:r>
            <a:endParaRPr lang="en-US" sz="800" dirty="0"/>
          </a:p>
        </p:txBody>
      </p:sp>
      <p:sp>
        <p:nvSpPr>
          <p:cNvPr id="8" name="Text 6"/>
          <p:cNvSpPr/>
          <p:nvPr/>
        </p:nvSpPr>
        <p:spPr>
          <a:xfrm>
            <a:off x="777240" y="960120"/>
            <a:ext cx="6858000" cy="411480"/>
          </a:xfrm>
          <a:prstGeom prst="rect">
            <a:avLst/>
          </a:prstGeom>
          <a:noFill/>
          <a:ln/>
        </p:spPr>
        <p:txBody>
          <a:bodyPr wrap="square" lIns="0" tIns="0" rIns="0" bIns="0" rtlCol="0" anchor="ctr"/>
          <a:lstStyle/>
          <a:p>
            <a:pPr indent="0" marL="0">
              <a:buNone/>
            </a:pPr>
            <a:r>
              <a:rPr lang="en-US" sz="2500" b="1" dirty="0">
                <a:solidFill>
                  <a:srgbClr val="0F172A"/>
                </a:solidFill>
              </a:rPr>
              <a:t>Tài sản, lỗ hổng, tác động và kiểm soát</a:t>
            </a:r>
            <a:endParaRPr lang="en-US" sz="2500" dirty="0"/>
          </a:p>
        </p:txBody>
      </p:sp>
      <p:sp>
        <p:nvSpPr>
          <p:cNvPr id="9" name="Shape 7"/>
          <p:cNvSpPr/>
          <p:nvPr/>
        </p:nvSpPr>
        <p:spPr>
          <a:xfrm>
            <a:off x="822960" y="1828800"/>
            <a:ext cx="2514600" cy="1508760"/>
          </a:xfrm>
          <a:prstGeom prst="roundRect">
            <a:avLst>
              <a:gd name="adj" fmla="val 4848"/>
            </a:avLst>
          </a:prstGeom>
          <a:solidFill>
            <a:srgbClr val="E2E8F0"/>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0" name="Text 8"/>
          <p:cNvSpPr/>
          <p:nvPr/>
        </p:nvSpPr>
        <p:spPr>
          <a:xfrm>
            <a:off x="93268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1" name="Text 9"/>
          <p:cNvSpPr/>
          <p:nvPr/>
        </p:nvSpPr>
        <p:spPr>
          <a:xfrm>
            <a:off x="1389888" y="1965960"/>
            <a:ext cx="18379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Tài sản</a:t>
            </a:r>
            <a:endParaRPr lang="en-US" sz="1550" dirty="0"/>
          </a:p>
        </p:txBody>
      </p:sp>
      <p:sp>
        <p:nvSpPr>
          <p:cNvPr id="12" name="Text 10"/>
          <p:cNvSpPr/>
          <p:nvPr/>
        </p:nvSpPr>
        <p:spPr>
          <a:xfrm>
            <a:off x="1389888" y="2286000"/>
            <a:ext cx="1837944" cy="996696"/>
          </a:xfrm>
          <a:prstGeom prst="rect">
            <a:avLst/>
          </a:prstGeom>
          <a:noFill/>
          <a:ln/>
        </p:spPr>
        <p:txBody>
          <a:bodyPr wrap="square" lIns="0" tIns="0" rIns="0" bIns="0" rtlCol="0" anchor="ctr">
            <a:normAutofit/>
          </a:bodyPr>
          <a:lstStyle/>
          <a:p>
            <a:pPr indent="0" marL="0">
              <a:buNone/>
            </a:pPr>
            <a:r>
              <a:rPr lang="en-US" sz="1050" dirty="0">
                <a:solidFill>
                  <a:srgbClr val="64748B"/>
                </a:solidFill>
              </a:rPr>
              <a:t>Thông tin cá nhân</a:t>
            </a:r>
            <a:endParaRPr lang="en-US" sz="1050" dirty="0"/>
          </a:p>
          <a:p>
            <a:pPr indent="0" marL="0">
              <a:buNone/>
            </a:pPr>
            <a:r>
              <a:rPr lang="en-US" sz="1050" dirty="0">
                <a:solidFill>
                  <a:srgbClr val="64748B"/>
                </a:solidFill>
              </a:rPr>
              <a:t>email, SĐT, CCCD giả, địa chỉ</a:t>
            </a:r>
            <a:endParaRPr lang="en-US" sz="1050" dirty="0"/>
          </a:p>
        </p:txBody>
      </p:sp>
      <p:sp>
        <p:nvSpPr>
          <p:cNvPr id="13" name="Shape 11"/>
          <p:cNvSpPr/>
          <p:nvPr/>
        </p:nvSpPr>
        <p:spPr>
          <a:xfrm>
            <a:off x="3611880" y="1828800"/>
            <a:ext cx="2514600" cy="1508760"/>
          </a:xfrm>
          <a:prstGeom prst="roundRect">
            <a:avLst>
              <a:gd name="adj" fmla="val 4848"/>
            </a:avLst>
          </a:prstGeom>
          <a:solidFill>
            <a:srgbClr val="FEE2E2"/>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4" name="Text 12"/>
          <p:cNvSpPr/>
          <p:nvPr/>
        </p:nvSpPr>
        <p:spPr>
          <a:xfrm>
            <a:off x="372160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5" name="Text 13"/>
          <p:cNvSpPr/>
          <p:nvPr/>
        </p:nvSpPr>
        <p:spPr>
          <a:xfrm>
            <a:off x="4178808" y="1965960"/>
            <a:ext cx="18379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Lỗ hổng</a:t>
            </a:r>
            <a:endParaRPr lang="en-US" sz="1550" dirty="0"/>
          </a:p>
        </p:txBody>
      </p:sp>
      <p:sp>
        <p:nvSpPr>
          <p:cNvPr id="16" name="Text 14"/>
          <p:cNvSpPr/>
          <p:nvPr/>
        </p:nvSpPr>
        <p:spPr>
          <a:xfrm>
            <a:off x="4178808" y="2286000"/>
            <a:ext cx="1837944" cy="996696"/>
          </a:xfrm>
          <a:prstGeom prst="rect">
            <a:avLst/>
          </a:prstGeom>
          <a:noFill/>
          <a:ln/>
        </p:spPr>
        <p:txBody>
          <a:bodyPr wrap="square" lIns="0" tIns="0" rIns="0" bIns="0" rtlCol="0" anchor="ctr">
            <a:normAutofit/>
          </a:bodyPr>
          <a:lstStyle/>
          <a:p>
            <a:pPr indent="0" marL="0">
              <a:buNone/>
            </a:pPr>
            <a:r>
              <a:rPr lang="en-US" sz="1050" dirty="0">
                <a:solidFill>
                  <a:srgbClr val="64748B"/>
                </a:solidFill>
              </a:rPr>
              <a:t>Thiếu authorization</a:t>
            </a:r>
            <a:endParaRPr lang="en-US" sz="1050" dirty="0"/>
          </a:p>
          <a:p>
            <a:pPr indent="0" marL="0">
              <a:buNone/>
            </a:pPr>
            <a:r>
              <a:rPr lang="en-US" sz="1050" dirty="0">
                <a:solidFill>
                  <a:srgbClr val="64748B"/>
                </a:solidFill>
              </a:rPr>
              <a:t>không kiểm tra owner/role</a:t>
            </a:r>
            <a:endParaRPr lang="en-US" sz="1050" dirty="0"/>
          </a:p>
        </p:txBody>
      </p:sp>
      <p:sp>
        <p:nvSpPr>
          <p:cNvPr id="17" name="Shape 15"/>
          <p:cNvSpPr/>
          <p:nvPr/>
        </p:nvSpPr>
        <p:spPr>
          <a:xfrm>
            <a:off x="6400800" y="1828800"/>
            <a:ext cx="2514600" cy="1508760"/>
          </a:xfrm>
          <a:prstGeom prst="roundRect">
            <a:avLst>
              <a:gd name="adj" fmla="val 4848"/>
            </a:avLst>
          </a:prstGeom>
          <a:solidFill>
            <a:srgbClr val="FEF3C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8" name="Text 16"/>
          <p:cNvSpPr/>
          <p:nvPr/>
        </p:nvSpPr>
        <p:spPr>
          <a:xfrm>
            <a:off x="651052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9" name="Text 17"/>
          <p:cNvSpPr/>
          <p:nvPr/>
        </p:nvSpPr>
        <p:spPr>
          <a:xfrm>
            <a:off x="6967728" y="1965960"/>
            <a:ext cx="18379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Tác động</a:t>
            </a:r>
            <a:endParaRPr lang="en-US" sz="1550" dirty="0"/>
          </a:p>
        </p:txBody>
      </p:sp>
      <p:sp>
        <p:nvSpPr>
          <p:cNvPr id="20" name="Text 18"/>
          <p:cNvSpPr/>
          <p:nvPr/>
        </p:nvSpPr>
        <p:spPr>
          <a:xfrm>
            <a:off x="6967728" y="2286000"/>
            <a:ext cx="1837944" cy="996696"/>
          </a:xfrm>
          <a:prstGeom prst="rect">
            <a:avLst/>
          </a:prstGeom>
          <a:noFill/>
          <a:ln/>
        </p:spPr>
        <p:txBody>
          <a:bodyPr wrap="square" lIns="0" tIns="0" rIns="0" bIns="0" rtlCol="0" anchor="ctr">
            <a:normAutofit/>
          </a:bodyPr>
          <a:lstStyle/>
          <a:p>
            <a:pPr indent="0" marL="0">
              <a:buNone/>
            </a:pPr>
            <a:r>
              <a:rPr lang="en-US" sz="1050" dirty="0">
                <a:solidFill>
                  <a:srgbClr val="64748B"/>
                </a:solidFill>
              </a:rPr>
              <a:t>Lộ dữ liệu, mất riêng tư</a:t>
            </a:r>
            <a:endParaRPr lang="en-US" sz="1050" dirty="0"/>
          </a:p>
          <a:p>
            <a:pPr indent="0" marL="0">
              <a:buNone/>
            </a:pPr>
            <a:r>
              <a:rPr lang="en-US" sz="1050" dirty="0">
                <a:solidFill>
                  <a:srgbClr val="64748B"/>
                </a:solidFill>
              </a:rPr>
              <a:t>mất uy tín hệ thống</a:t>
            </a:r>
            <a:endParaRPr lang="en-US" sz="1050" dirty="0"/>
          </a:p>
        </p:txBody>
      </p:sp>
      <p:sp>
        <p:nvSpPr>
          <p:cNvPr id="21" name="Shape 19"/>
          <p:cNvSpPr/>
          <p:nvPr/>
        </p:nvSpPr>
        <p:spPr>
          <a:xfrm>
            <a:off x="9189720" y="1828800"/>
            <a:ext cx="2514600" cy="1508760"/>
          </a:xfrm>
          <a:prstGeom prst="roundRect">
            <a:avLst>
              <a:gd name="adj" fmla="val 4848"/>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2" name="Text 20"/>
          <p:cNvSpPr/>
          <p:nvPr/>
        </p:nvSpPr>
        <p:spPr>
          <a:xfrm>
            <a:off x="9299448" y="19568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23" name="Text 21"/>
          <p:cNvSpPr/>
          <p:nvPr/>
        </p:nvSpPr>
        <p:spPr>
          <a:xfrm>
            <a:off x="9756648" y="1965960"/>
            <a:ext cx="18379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Kiểm soát</a:t>
            </a:r>
            <a:endParaRPr lang="en-US" sz="1550" dirty="0"/>
          </a:p>
        </p:txBody>
      </p:sp>
      <p:sp>
        <p:nvSpPr>
          <p:cNvPr id="24" name="Text 22"/>
          <p:cNvSpPr/>
          <p:nvPr/>
        </p:nvSpPr>
        <p:spPr>
          <a:xfrm>
            <a:off x="9756648" y="2286000"/>
            <a:ext cx="1837944" cy="996696"/>
          </a:xfrm>
          <a:prstGeom prst="rect">
            <a:avLst/>
          </a:prstGeom>
          <a:noFill/>
          <a:ln/>
        </p:spPr>
        <p:txBody>
          <a:bodyPr wrap="square" lIns="0" tIns="0" rIns="0" bIns="0" rtlCol="0" anchor="ctr">
            <a:normAutofit/>
          </a:bodyPr>
          <a:lstStyle/>
          <a:p>
            <a:pPr indent="0" marL="0">
              <a:buNone/>
            </a:pPr>
            <a:r>
              <a:rPr lang="en-US" sz="1050" dirty="0">
                <a:solidFill>
                  <a:srgbClr val="64748B"/>
                </a:solidFill>
              </a:rPr>
              <a:t>Owner check, role check</a:t>
            </a:r>
            <a:endParaRPr lang="en-US" sz="1050" dirty="0"/>
          </a:p>
          <a:p>
            <a:pPr indent="0" marL="0">
              <a:buNone/>
            </a:pPr>
            <a:r>
              <a:rPr lang="en-US" sz="1050" dirty="0">
                <a:solidFill>
                  <a:srgbClr val="64748B"/>
                </a:solidFill>
              </a:rPr>
              <a:t>least privilege, logging</a:t>
            </a:r>
            <a:endParaRPr lang="en-US" sz="1050" dirty="0"/>
          </a:p>
        </p:txBody>
      </p:sp>
      <p:sp>
        <p:nvSpPr>
          <p:cNvPr id="25" name="Text 23"/>
          <p:cNvSpPr/>
          <p:nvPr/>
        </p:nvSpPr>
        <p:spPr>
          <a:xfrm>
            <a:off x="868680" y="4526280"/>
            <a:ext cx="2011680" cy="256032"/>
          </a:xfrm>
          <a:prstGeom prst="rect">
            <a:avLst/>
          </a:prstGeom>
          <a:noFill/>
          <a:ln/>
        </p:spPr>
        <p:txBody>
          <a:bodyPr wrap="square" lIns="0" tIns="0" rIns="0" bIns="0" rtlCol="0" anchor="ctr"/>
          <a:lstStyle/>
          <a:p>
            <a:pPr indent="0" marL="0">
              <a:buNone/>
            </a:pPr>
            <a:r>
              <a:rPr lang="en-US" sz="1700" b="1" dirty="0">
                <a:solidFill>
                  <a:srgbClr val="DC2626"/>
                </a:solidFill>
              </a:rPr>
              <a:t>Lưu ý an toàn</a:t>
            </a:r>
            <a:endParaRPr lang="en-US" sz="1700" dirty="0"/>
          </a:p>
        </p:txBody>
      </p:sp>
      <p:sp>
        <p:nvSpPr>
          <p:cNvPr id="26" name="Text 24"/>
          <p:cNvSpPr/>
          <p:nvPr/>
        </p:nvSpPr>
        <p:spPr>
          <a:xfrm>
            <a:off x="868680" y="4892040"/>
            <a:ext cx="10469880" cy="594360"/>
          </a:xfrm>
          <a:prstGeom prst="rect">
            <a:avLst/>
          </a:prstGeom>
          <a:solidFill>
            <a:srgbClr val="FEE2E2"/>
          </a:solidFill>
          <a:ln>
            <a:solidFill>
              <a:srgbClr val="DC2626">
                <a:alpha val="80000"/>
              </a:srgbClr>
            </a:solidFill>
          </a:ln>
        </p:spPr>
        <p:txBody>
          <a:bodyPr wrap="square" lIns="1016" tIns="1016" rIns="1016" bIns="1016" rtlCol="0" anchor="ctr">
            <a:normAutofit/>
          </a:bodyPr>
          <a:lstStyle/>
          <a:p>
            <a:pPr algn="ctr" indent="0" marL="0">
              <a:buNone/>
            </a:pPr>
            <a:r>
              <a:rPr lang="en-US" sz="2100" b="1" dirty="0">
                <a:solidFill>
                  <a:srgbClr val="0F172A"/>
                </a:solidFill>
              </a:rPr>
              <a:t>Chỉ dùng dữ liệu giả và demo local. Không thử thay ID trên hệ thống thật, mạng xã hội hoặc app của người khác.</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18872" cy="6858000"/>
          </a:xfrm>
          <a:prstGeom prst="rect">
            <a:avLst/>
          </a:prstGeom>
          <a:solidFill>
            <a:srgbClr val="06B6D4"/>
          </a:solidFill>
          <a:ln w="12700">
            <a:solidFill>
              <a:srgbClr val="06B6D4">
                <a:alpha val="0"/>
              </a:srgbClr>
            </a:solidFill>
            <a:prstDash val="solid"/>
          </a:ln>
        </p:spPr>
      </p:sp>
      <p:sp>
        <p:nvSpPr>
          <p:cNvPr id="4" name="Shape 2"/>
          <p:cNvSpPr/>
          <p:nvPr/>
        </p:nvSpPr>
        <p:spPr>
          <a:xfrm>
            <a:off x="10104120" y="109728"/>
            <a:ext cx="1691640" cy="1691640"/>
          </a:xfrm>
          <a:prstGeom prst="arc">
            <a:avLst/>
          </a:prstGeom>
          <a:solidFill>
            <a:srgbClr val="F8FAFC">
              <a:alpha val="0"/>
            </a:srgbClr>
          </a:solidFill>
          <a:ln w="38100">
            <a:solidFill>
              <a:srgbClr val="06B6D4">
                <a:alpha val="30000"/>
              </a:srgbClr>
            </a:solidFill>
            <a:prstDash val="solid"/>
          </a:ln>
        </p:spPr>
      </p:sp>
      <p:sp>
        <p:nvSpPr>
          <p:cNvPr id="5" name="Text 3"/>
          <p:cNvSpPr/>
          <p:nvPr/>
        </p:nvSpPr>
        <p:spPr>
          <a:xfrm>
            <a:off x="594360" y="301752"/>
            <a:ext cx="8046720" cy="502920"/>
          </a:xfrm>
          <a:prstGeom prst="rect">
            <a:avLst/>
          </a:prstGeom>
          <a:noFill/>
          <a:ln/>
        </p:spPr>
        <p:txBody>
          <a:bodyPr wrap="square" lIns="0" tIns="0" rIns="0" bIns="0" rtlCol="0" anchor="ctr"/>
          <a:lstStyle/>
          <a:p>
            <a:pPr indent="0" marL="0">
              <a:buNone/>
            </a:pPr>
            <a:r>
              <a:rPr lang="en-US" sz="2500" b="1" dirty="0">
                <a:solidFill>
                  <a:srgbClr val="0F172A"/>
                </a:solidFill>
                <a:latin typeface="Arial" pitchFamily="34" charset="0"/>
                <a:ea typeface="Arial" pitchFamily="34" charset="-122"/>
                <a:cs typeface="Arial" pitchFamily="34" charset="-120"/>
              </a:rPr>
              <a:t>10. Kết luận</a:t>
            </a:r>
            <a:endParaRPr lang="en-US" sz="2500" dirty="0"/>
          </a:p>
        </p:txBody>
      </p:sp>
      <p:sp>
        <p:nvSpPr>
          <p:cNvPr id="6" name="Text 4"/>
          <p:cNvSpPr/>
          <p:nvPr/>
        </p:nvSpPr>
        <p:spPr>
          <a:xfrm>
            <a:off x="9326880" y="384048"/>
            <a:ext cx="2286000" cy="274320"/>
          </a:xfrm>
          <a:prstGeom prst="rect">
            <a:avLst/>
          </a:prstGeom>
          <a:noFill/>
          <a:ln/>
        </p:spPr>
        <p:txBody>
          <a:bodyPr wrap="square" lIns="0" tIns="0" rIns="0" bIns="0" rtlCol="0" anchor="ctr"/>
          <a:lstStyle/>
          <a:p>
            <a:pPr algn="r" indent="0" marL="0">
              <a:buNone/>
            </a:pPr>
            <a:r>
              <a:rPr lang="en-US" sz="950" dirty="0">
                <a:solidFill>
                  <a:srgbClr val="475569"/>
                </a:solidFill>
              </a:rPr>
              <a:t>FIT4012 Cyber Fortress</a:t>
            </a:r>
            <a:endParaRPr lang="en-US" sz="950" dirty="0"/>
          </a:p>
        </p:txBody>
      </p:sp>
      <p:sp>
        <p:nvSpPr>
          <p:cNvPr id="7" name="Text 5"/>
          <p:cNvSpPr/>
          <p:nvPr/>
        </p:nvSpPr>
        <p:spPr>
          <a:xfrm>
            <a:off x="594360" y="6519672"/>
            <a:ext cx="5120640" cy="164592"/>
          </a:xfrm>
          <a:prstGeom prst="rect">
            <a:avLst/>
          </a:prstGeom>
          <a:noFill/>
          <a:ln/>
        </p:spPr>
        <p:txBody>
          <a:bodyPr wrap="square" lIns="0" tIns="0" rIns="0" bIns="0" rtlCol="0" anchor="ctr"/>
          <a:lstStyle/>
          <a:p>
            <a:pPr indent="0" marL="0">
              <a:buNone/>
            </a:pPr>
            <a:r>
              <a:rPr lang="en-US" sz="800" dirty="0">
                <a:solidFill>
                  <a:srgbClr val="64748B"/>
                </a:solidFill>
              </a:rPr>
              <a:t>CF08 Broken Access Control / IDOR  •  11</a:t>
            </a:r>
            <a:endParaRPr lang="en-US" sz="800" dirty="0"/>
          </a:p>
        </p:txBody>
      </p:sp>
      <p:sp>
        <p:nvSpPr>
          <p:cNvPr id="8" name="Text 6"/>
          <p:cNvSpPr/>
          <p:nvPr/>
        </p:nvSpPr>
        <p:spPr>
          <a:xfrm>
            <a:off x="777240" y="1005840"/>
            <a:ext cx="4114800" cy="457200"/>
          </a:xfrm>
          <a:prstGeom prst="rect">
            <a:avLst/>
          </a:prstGeom>
          <a:noFill/>
          <a:ln/>
        </p:spPr>
        <p:txBody>
          <a:bodyPr wrap="square" lIns="0" tIns="0" rIns="0" bIns="0" rtlCol="0" anchor="ctr"/>
          <a:lstStyle/>
          <a:p>
            <a:pPr indent="0" marL="0">
              <a:buNone/>
            </a:pPr>
            <a:r>
              <a:rPr lang="en-US" sz="3000" b="1" dirty="0">
                <a:solidFill>
                  <a:srgbClr val="0F172A"/>
                </a:solidFill>
              </a:rPr>
              <a:t>Thông điệp chính</a:t>
            </a:r>
            <a:endParaRPr lang="en-US" sz="3000" dirty="0"/>
          </a:p>
        </p:txBody>
      </p:sp>
      <p:sp>
        <p:nvSpPr>
          <p:cNvPr id="9" name="Text 7"/>
          <p:cNvSpPr/>
          <p:nvPr/>
        </p:nvSpPr>
        <p:spPr>
          <a:xfrm>
            <a:off x="822960" y="1645920"/>
            <a:ext cx="8869680" cy="502920"/>
          </a:xfrm>
          <a:prstGeom prst="rect">
            <a:avLst/>
          </a:prstGeom>
          <a:noFill/>
          <a:ln/>
        </p:spPr>
        <p:txBody>
          <a:bodyPr wrap="square" lIns="0" tIns="0" rIns="0" bIns="0" rtlCol="0" anchor="ctr">
            <a:normAutofit/>
          </a:bodyPr>
          <a:lstStyle/>
          <a:p>
            <a:pPr indent="0" marL="0">
              <a:buNone/>
            </a:pPr>
            <a:r>
              <a:rPr lang="en-US" sz="2600" b="1" dirty="0">
                <a:solidFill>
                  <a:srgbClr val="06B6D4"/>
                </a:solidFill>
              </a:rPr>
              <a:t>Đăng nhập thành công không có nghĩa là được truy cập mọi dữ liệu.</a:t>
            </a:r>
            <a:endParaRPr lang="en-US" sz="2600" dirty="0"/>
          </a:p>
        </p:txBody>
      </p:sp>
      <p:sp>
        <p:nvSpPr>
          <p:cNvPr id="10" name="Shape 8"/>
          <p:cNvSpPr/>
          <p:nvPr/>
        </p:nvSpPr>
        <p:spPr>
          <a:xfrm>
            <a:off x="3063240" y="3337560"/>
            <a:ext cx="1097280" cy="0"/>
          </a:xfrm>
          <a:prstGeom prst="line">
            <a:avLst/>
          </a:prstGeom>
          <a:noFill/>
          <a:ln w="27940">
            <a:solidFill>
              <a:srgbClr val="06B6D4"/>
            </a:solidFill>
            <a:prstDash val="solid"/>
            <a:headEnd type="none"/>
            <a:tailEnd type="triangle"/>
          </a:ln>
        </p:spPr>
      </p:sp>
      <p:sp>
        <p:nvSpPr>
          <p:cNvPr id="11" name="Shape 9"/>
          <p:cNvSpPr/>
          <p:nvPr/>
        </p:nvSpPr>
        <p:spPr>
          <a:xfrm>
            <a:off x="6903720" y="3337560"/>
            <a:ext cx="1097280" cy="0"/>
          </a:xfrm>
          <a:prstGeom prst="line">
            <a:avLst/>
          </a:prstGeom>
          <a:noFill/>
          <a:ln w="27940">
            <a:solidFill>
              <a:srgbClr val="16A34A"/>
            </a:solidFill>
            <a:prstDash val="solid"/>
            <a:headEnd type="none"/>
            <a:tailEnd type="triangle"/>
          </a:ln>
        </p:spPr>
      </p:sp>
      <p:sp>
        <p:nvSpPr>
          <p:cNvPr id="12" name="Shape 10"/>
          <p:cNvSpPr/>
          <p:nvPr/>
        </p:nvSpPr>
        <p:spPr>
          <a:xfrm>
            <a:off x="822960" y="2743200"/>
            <a:ext cx="2331720" cy="1188720"/>
          </a:xfrm>
          <a:prstGeom prst="roundRect">
            <a:avLst>
              <a:gd name="adj" fmla="val 6154"/>
            </a:avLst>
          </a:prstGeom>
          <a:solidFill>
            <a:srgbClr val="E2E8F0"/>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3" name="Text 11"/>
          <p:cNvSpPr/>
          <p:nvPr/>
        </p:nvSpPr>
        <p:spPr>
          <a:xfrm>
            <a:off x="932688" y="28712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4" name="Text 12"/>
          <p:cNvSpPr/>
          <p:nvPr/>
        </p:nvSpPr>
        <p:spPr>
          <a:xfrm>
            <a:off x="1389888" y="2880360"/>
            <a:ext cx="165506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1</a:t>
            </a:r>
            <a:endParaRPr lang="en-US" sz="1550" dirty="0"/>
          </a:p>
        </p:txBody>
      </p:sp>
      <p:sp>
        <p:nvSpPr>
          <p:cNvPr id="15" name="Text 13"/>
          <p:cNvSpPr/>
          <p:nvPr/>
        </p:nvSpPr>
        <p:spPr>
          <a:xfrm>
            <a:off x="1389888" y="3200400"/>
            <a:ext cx="1655064" cy="676656"/>
          </a:xfrm>
          <a:prstGeom prst="rect">
            <a:avLst/>
          </a:prstGeom>
          <a:noFill/>
          <a:ln/>
        </p:spPr>
        <p:txBody>
          <a:bodyPr wrap="square" lIns="0" tIns="0" rIns="0" bIns="0" rtlCol="0" anchor="ctr">
            <a:normAutofit/>
          </a:bodyPr>
          <a:lstStyle/>
          <a:p>
            <a:pPr indent="0" marL="0">
              <a:buNone/>
            </a:pPr>
            <a:r>
              <a:rPr lang="en-US" sz="1050" dirty="0">
                <a:solidFill>
                  <a:srgbClr val="64748B"/>
                </a:solidFill>
              </a:rPr>
              <a:t>Không tin ID</a:t>
            </a:r>
            <a:endParaRPr lang="en-US" sz="1050" dirty="0"/>
          </a:p>
          <a:p>
            <a:pPr indent="0" marL="0">
              <a:buNone/>
            </a:pPr>
            <a:r>
              <a:rPr lang="en-US" sz="1050" dirty="0">
                <a:solidFill>
                  <a:srgbClr val="64748B"/>
                </a:solidFill>
              </a:rPr>
              <a:t>do client gửi lên</a:t>
            </a:r>
            <a:endParaRPr lang="en-US" sz="1050" dirty="0"/>
          </a:p>
        </p:txBody>
      </p:sp>
      <p:sp>
        <p:nvSpPr>
          <p:cNvPr id="16" name="Shape 14"/>
          <p:cNvSpPr/>
          <p:nvPr/>
        </p:nvSpPr>
        <p:spPr>
          <a:xfrm>
            <a:off x="4251960" y="2743200"/>
            <a:ext cx="2743200" cy="1188720"/>
          </a:xfrm>
          <a:prstGeom prst="roundRect">
            <a:avLst>
              <a:gd name="adj" fmla="val 6154"/>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17" name="Text 15"/>
          <p:cNvSpPr/>
          <p:nvPr/>
        </p:nvSpPr>
        <p:spPr>
          <a:xfrm>
            <a:off x="4361688" y="28712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18" name="Text 16"/>
          <p:cNvSpPr/>
          <p:nvPr/>
        </p:nvSpPr>
        <p:spPr>
          <a:xfrm>
            <a:off x="4818888" y="2880360"/>
            <a:ext cx="206654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2</a:t>
            </a:r>
            <a:endParaRPr lang="en-US" sz="1550" dirty="0"/>
          </a:p>
        </p:txBody>
      </p:sp>
      <p:sp>
        <p:nvSpPr>
          <p:cNvPr id="19" name="Text 17"/>
          <p:cNvSpPr/>
          <p:nvPr/>
        </p:nvSpPr>
        <p:spPr>
          <a:xfrm>
            <a:off x="4818888" y="3200400"/>
            <a:ext cx="2066544" cy="676656"/>
          </a:xfrm>
          <a:prstGeom prst="rect">
            <a:avLst/>
          </a:prstGeom>
          <a:noFill/>
          <a:ln/>
        </p:spPr>
        <p:txBody>
          <a:bodyPr wrap="square" lIns="0" tIns="0" rIns="0" bIns="0" rtlCol="0" anchor="ctr">
            <a:normAutofit/>
          </a:bodyPr>
          <a:lstStyle/>
          <a:p>
            <a:pPr indent="0" marL="0">
              <a:buNone/>
            </a:pPr>
            <a:r>
              <a:rPr lang="en-US" sz="1050" dirty="0">
                <a:solidFill>
                  <a:srgbClr val="64748B"/>
                </a:solidFill>
              </a:rPr>
              <a:t>Kiểm tra quyền</a:t>
            </a:r>
            <a:endParaRPr lang="en-US" sz="1050" dirty="0"/>
          </a:p>
          <a:p>
            <a:pPr indent="0" marL="0">
              <a:buNone/>
            </a:pPr>
            <a:r>
              <a:rPr lang="en-US" sz="1050" dirty="0">
                <a:solidFill>
                  <a:srgbClr val="64748B"/>
                </a:solidFill>
              </a:rPr>
              <a:t>ở backend</a:t>
            </a:r>
            <a:endParaRPr lang="en-US" sz="1050" dirty="0"/>
          </a:p>
        </p:txBody>
      </p:sp>
      <p:sp>
        <p:nvSpPr>
          <p:cNvPr id="20" name="Shape 18"/>
          <p:cNvSpPr/>
          <p:nvPr/>
        </p:nvSpPr>
        <p:spPr>
          <a:xfrm>
            <a:off x="8092440" y="2743200"/>
            <a:ext cx="2788920" cy="1188720"/>
          </a:xfrm>
          <a:prstGeom prst="roundRect">
            <a:avLst>
              <a:gd name="adj" fmla="val 6154"/>
            </a:avLst>
          </a:prstGeom>
          <a:solidFill>
            <a:srgbClr val="DCFCE7"/>
          </a:solidFill>
          <a:ln w="10160">
            <a:solidFill>
              <a:srgbClr val="CBD5E1"/>
            </a:solidFill>
            <a:prstDash val="solid"/>
          </a:ln>
          <a:effectLst>
            <a:outerShdw sx="100000" sy="100000" kx="0" ky="0" algn="bl" rotWithShape="0" blurRad="12700" dist="12700" dir="2700000">
              <a:srgbClr val="64748B">
                <a:alpha val="12000"/>
              </a:srgbClr>
            </a:outerShdw>
          </a:effectLst>
        </p:spPr>
      </p:sp>
      <p:sp>
        <p:nvSpPr>
          <p:cNvPr id="21" name="Text 19"/>
          <p:cNvSpPr/>
          <p:nvPr/>
        </p:nvSpPr>
        <p:spPr>
          <a:xfrm>
            <a:off x="8202168" y="2871216"/>
            <a:ext cx="411480" cy="320040"/>
          </a:xfrm>
          <a:prstGeom prst="rect">
            <a:avLst/>
          </a:prstGeom>
          <a:noFill/>
          <a:ln/>
        </p:spPr>
        <p:txBody>
          <a:bodyPr wrap="square" lIns="0" tIns="0" rIns="0" bIns="0" rtlCol="0" anchor="ctr"/>
          <a:lstStyle/>
          <a:p>
            <a:pPr algn="ctr" indent="0" marL="0">
              <a:buNone/>
            </a:pPr>
            <a:r>
              <a:rPr lang="en-US" sz="1900" dirty="0">
                <a:solidFill>
                  <a:srgbClr val="0F172A"/>
                </a:solidFill>
              </a:rPr>
              <a:t>✅</a:t>
            </a:r>
            <a:endParaRPr lang="en-US" sz="1900" dirty="0"/>
          </a:p>
        </p:txBody>
      </p:sp>
      <p:sp>
        <p:nvSpPr>
          <p:cNvPr id="22" name="Text 20"/>
          <p:cNvSpPr/>
          <p:nvPr/>
        </p:nvSpPr>
        <p:spPr>
          <a:xfrm>
            <a:off x="8659368" y="2880360"/>
            <a:ext cx="2112264"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3</a:t>
            </a:r>
            <a:endParaRPr lang="en-US" sz="1550" dirty="0"/>
          </a:p>
        </p:txBody>
      </p:sp>
      <p:sp>
        <p:nvSpPr>
          <p:cNvPr id="23" name="Text 21"/>
          <p:cNvSpPr/>
          <p:nvPr/>
        </p:nvSpPr>
        <p:spPr>
          <a:xfrm>
            <a:off x="8659368" y="3200400"/>
            <a:ext cx="2112264" cy="676656"/>
          </a:xfrm>
          <a:prstGeom prst="rect">
            <a:avLst/>
          </a:prstGeom>
          <a:noFill/>
          <a:ln/>
        </p:spPr>
        <p:txBody>
          <a:bodyPr wrap="square" lIns="0" tIns="0" rIns="0" bIns="0" rtlCol="0" anchor="ctr">
            <a:normAutofit/>
          </a:bodyPr>
          <a:lstStyle/>
          <a:p>
            <a:pPr indent="0" marL="0">
              <a:buNone/>
            </a:pPr>
            <a:r>
              <a:rPr lang="en-US" sz="1050" dirty="0">
                <a:solidFill>
                  <a:srgbClr val="64748B"/>
                </a:solidFill>
              </a:rPr>
              <a:t>Áp dụng</a:t>
            </a:r>
            <a:endParaRPr lang="en-US" sz="1050" dirty="0"/>
          </a:p>
          <a:p>
            <a:pPr indent="0" marL="0">
              <a:buNone/>
            </a:pPr>
            <a:r>
              <a:rPr lang="en-US" sz="1050" dirty="0">
                <a:solidFill>
                  <a:srgbClr val="64748B"/>
                </a:solidFill>
              </a:rPr>
              <a:t>least privilege</a:t>
            </a:r>
            <a:endParaRPr lang="en-US" sz="1050" dirty="0"/>
          </a:p>
        </p:txBody>
      </p:sp>
      <p:sp>
        <p:nvSpPr>
          <p:cNvPr id="24" name="Text 22"/>
          <p:cNvSpPr/>
          <p:nvPr/>
        </p:nvSpPr>
        <p:spPr>
          <a:xfrm>
            <a:off x="960120" y="5138928"/>
            <a:ext cx="10241280" cy="548640"/>
          </a:xfrm>
          <a:prstGeom prst="rect">
            <a:avLst/>
          </a:prstGeom>
          <a:noFill/>
          <a:ln/>
        </p:spPr>
        <p:txBody>
          <a:bodyPr wrap="square" lIns="0" tIns="0" rIns="0" bIns="0" rtlCol="0" anchor="ctr"/>
          <a:lstStyle/>
          <a:p>
            <a:pPr algn="ctr" indent="0" marL="0">
              <a:buNone/>
            </a:pPr>
            <a:r>
              <a:rPr lang="en-US" sz="2900" b="1" dirty="0">
                <a:solidFill>
                  <a:srgbClr val="0F172A"/>
                </a:solidFill>
              </a:rPr>
              <a:t>Cảm ơn cô và các bạn đã lắng nghe!</a:t>
            </a:r>
            <a:endParaRPr lang="en-US" sz="2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FIT4012 Cyber Fortress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CF08 Broken Access Control / IDOR</dc:title>
  <dc:subject>CF08 Broken Access Control / IDOR</dc:subject>
  <dc:creator>OpenAI</dc:creator>
  <cp:lastModifiedBy>OpenAI</cp:lastModifiedBy>
  <cp:revision>1</cp:revision>
  <dcterms:created xsi:type="dcterms:W3CDTF">2026-06-05T01:28:17Z</dcterms:created>
  <dcterms:modified xsi:type="dcterms:W3CDTF">2026-06-05T01:28:17Z</dcterms:modified>
</cp:coreProperties>
</file>